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4" r:id="rId11"/>
    <p:sldId id="265" r:id="rId12"/>
    <p:sldId id="269" r:id="rId13"/>
    <p:sldId id="266" r:id="rId14"/>
    <p:sldId id="271" r:id="rId15"/>
    <p:sldId id="297" r:id="rId16"/>
    <p:sldId id="298" r:id="rId17"/>
    <p:sldId id="267" r:id="rId18"/>
    <p:sldId id="270" r:id="rId19"/>
    <p:sldId id="281" r:id="rId20"/>
    <p:sldId id="282" r:id="rId21"/>
    <p:sldId id="283" r:id="rId22"/>
    <p:sldId id="284" r:id="rId23"/>
    <p:sldId id="299" r:id="rId24"/>
    <p:sldId id="300" r:id="rId25"/>
    <p:sldId id="301" r:id="rId26"/>
    <p:sldId id="302" r:id="rId27"/>
    <p:sldId id="303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72" r:id="rId37"/>
  </p:sldIdLst>
  <p:sldSz cx="9144000" cy="6858000" type="screen4x3"/>
  <p:notesSz cx="9144000" cy="6858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4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C1F0"/>
    <a:srgbClr val="08F7FF"/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280" y="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0" d="100"/>
          <a:sy n="80" d="100"/>
        </p:scale>
        <p:origin x="-1072" y="-104"/>
      </p:cViewPr>
      <p:guideLst>
        <p:guide orient="horz" pos="2160"/>
        <p:guide pos="288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4BEB541A-2FCC-70B1-6DCE-6B4B6B2FDEB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r>
              <a:rPr lang="en-US"/>
              <a:t>Electronics Overview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98F75629-3CF2-F08A-B7B3-189BA5C2D16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18160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r>
              <a:rPr lang="en-US"/>
              <a:t>02/12/2008</a:t>
            </a:r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728C6F14-BCF4-4F51-E070-1A1D60B0EC4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51510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r>
              <a:rPr lang="en-US"/>
              <a:t>Lecture 8</a:t>
            </a:r>
          </a:p>
        </p:txBody>
      </p:sp>
      <p:sp>
        <p:nvSpPr>
          <p:cNvPr id="35845" name="Rectangle 5">
            <a:extLst>
              <a:ext uri="{FF2B5EF4-FFF2-40B4-BE49-F238E27FC236}">
                <a16:creationId xmlns:a16="http://schemas.microsoft.com/office/drawing/2014/main" id="{D653DE50-D44E-8917-4D79-F1764D9E18B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181600" y="651510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B340DBA-80F5-456F-8600-4E5A05A9592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E592C33-4B4E-1230-B725-BCF94B8E380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r>
              <a:rPr lang="en-US"/>
              <a:t>Electronics Overview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9C5740E8-F5C9-540A-C1BD-C21BCDA28E6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18160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r>
              <a:rPr lang="en-US"/>
              <a:t>02/12/2008</a:t>
            </a:r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68AAB084-33C3-0FA2-A9CF-A21152BC0576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2857500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58D65CCC-B957-9A5E-8279-4AF79F1AA91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19200" y="3257550"/>
            <a:ext cx="67056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711D0430-26F9-F801-F9E5-56DA559D7EA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510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r>
              <a:rPr lang="en-US"/>
              <a:t>Lecture 8</a:t>
            </a:r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58D71EDB-FB11-9F43-3E15-618DC5D8EE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1600" y="651510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FE1F092-42F1-4356-9CA2-55AF5CF64F3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E89AD336-C839-C7A0-EF07-12E9495CC7E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Electronics Overview</a:t>
            </a:r>
          </a:p>
        </p:txBody>
      </p:sp>
      <p:sp>
        <p:nvSpPr>
          <p:cNvPr id="18435" name="Rectangle 6">
            <a:extLst>
              <a:ext uri="{FF2B5EF4-FFF2-40B4-BE49-F238E27FC236}">
                <a16:creationId xmlns:a16="http://schemas.microsoft.com/office/drawing/2014/main" id="{4AEAF79E-6900-33E5-4982-5C9E7939D6E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Lecture 8</a:t>
            </a:r>
          </a:p>
        </p:txBody>
      </p:sp>
      <p:sp>
        <p:nvSpPr>
          <p:cNvPr id="18436" name="Rectangle 7">
            <a:extLst>
              <a:ext uri="{FF2B5EF4-FFF2-40B4-BE49-F238E27FC236}">
                <a16:creationId xmlns:a16="http://schemas.microsoft.com/office/drawing/2014/main" id="{FAA0B5F3-38E8-1EDF-49E2-12C79D78AC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25F13D0-1710-418D-AB71-FF7A9AD72943}" type="slidenum">
              <a:rPr lang="en-US" altLang="en-US" sz="1200"/>
              <a:pPr/>
              <a:t>1</a:t>
            </a:fld>
            <a:endParaRPr lang="en-US" altLang="en-US" sz="1200"/>
          </a:p>
        </p:txBody>
      </p:sp>
      <p:sp>
        <p:nvSpPr>
          <p:cNvPr id="18437" name="Rectangle 2">
            <a:extLst>
              <a:ext uri="{FF2B5EF4-FFF2-40B4-BE49-F238E27FC236}">
                <a16:creationId xmlns:a16="http://schemas.microsoft.com/office/drawing/2014/main" id="{13E6BDD8-B7BE-F6F1-3DBF-E2D243A8F1A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8" name="Rectangle 3">
            <a:extLst>
              <a:ext uri="{FF2B5EF4-FFF2-40B4-BE49-F238E27FC236}">
                <a16:creationId xmlns:a16="http://schemas.microsoft.com/office/drawing/2014/main" id="{3313EA28-4E3F-BF56-F537-189721D075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8BB99EC0-3CF6-1837-D86C-8A32EBFD3C2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Electronics Overview</a:t>
            </a:r>
          </a:p>
        </p:txBody>
      </p:sp>
      <p:sp>
        <p:nvSpPr>
          <p:cNvPr id="20483" name="Rectangle 6">
            <a:extLst>
              <a:ext uri="{FF2B5EF4-FFF2-40B4-BE49-F238E27FC236}">
                <a16:creationId xmlns:a16="http://schemas.microsoft.com/office/drawing/2014/main" id="{761C4223-C213-505D-8CF8-65832A49733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Lecture 8</a:t>
            </a:r>
          </a:p>
        </p:txBody>
      </p:sp>
      <p:sp>
        <p:nvSpPr>
          <p:cNvPr id="20484" name="Rectangle 7">
            <a:extLst>
              <a:ext uri="{FF2B5EF4-FFF2-40B4-BE49-F238E27FC236}">
                <a16:creationId xmlns:a16="http://schemas.microsoft.com/office/drawing/2014/main" id="{C75AC87D-7B82-7C61-649E-A87B2A314C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28DE4BE-8E49-4137-A313-337010831FC1}" type="slidenum">
              <a:rPr lang="en-US" altLang="en-US" sz="1200"/>
              <a:pPr/>
              <a:t>2</a:t>
            </a:fld>
            <a:endParaRPr lang="en-US" altLang="en-US" sz="1200"/>
          </a:p>
        </p:txBody>
      </p:sp>
      <p:sp>
        <p:nvSpPr>
          <p:cNvPr id="20485" name="Rectangle 2">
            <a:extLst>
              <a:ext uri="{FF2B5EF4-FFF2-40B4-BE49-F238E27FC236}">
                <a16:creationId xmlns:a16="http://schemas.microsoft.com/office/drawing/2014/main" id="{1366C45C-862F-D094-46AD-5B58FB48E18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6" name="Rectangle 3">
            <a:extLst>
              <a:ext uri="{FF2B5EF4-FFF2-40B4-BE49-F238E27FC236}">
                <a16:creationId xmlns:a16="http://schemas.microsoft.com/office/drawing/2014/main" id="{B654D1B0-DD45-3526-63C5-CA5A8F06AA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108E51FD-C0CD-39D8-061C-8A80495FED4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Electronics Overview</a:t>
            </a:r>
          </a:p>
        </p:txBody>
      </p:sp>
      <p:sp>
        <p:nvSpPr>
          <p:cNvPr id="22531" name="Rectangle 6">
            <a:extLst>
              <a:ext uri="{FF2B5EF4-FFF2-40B4-BE49-F238E27FC236}">
                <a16:creationId xmlns:a16="http://schemas.microsoft.com/office/drawing/2014/main" id="{7A3040CE-F9E9-D7CC-FB6F-75FF84C178C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Lecture 8</a:t>
            </a:r>
          </a:p>
        </p:txBody>
      </p:sp>
      <p:sp>
        <p:nvSpPr>
          <p:cNvPr id="22532" name="Rectangle 7">
            <a:extLst>
              <a:ext uri="{FF2B5EF4-FFF2-40B4-BE49-F238E27FC236}">
                <a16:creationId xmlns:a16="http://schemas.microsoft.com/office/drawing/2014/main" id="{063AF023-61DD-59C1-3CD6-1609968651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F9756B3-AD37-4138-B41D-04576469F64B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22533" name="Rectangle 2">
            <a:extLst>
              <a:ext uri="{FF2B5EF4-FFF2-40B4-BE49-F238E27FC236}">
                <a16:creationId xmlns:a16="http://schemas.microsoft.com/office/drawing/2014/main" id="{6D3DE3AE-69FD-1C19-C3AC-F82A00F3EBC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4" name="Rectangle 3">
            <a:extLst>
              <a:ext uri="{FF2B5EF4-FFF2-40B4-BE49-F238E27FC236}">
                <a16:creationId xmlns:a16="http://schemas.microsoft.com/office/drawing/2014/main" id="{A8E09CFB-71F2-68FF-51D7-7AB8C686B3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A762BE99-248B-D41F-149D-CCC1909234F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Electronics Overview</a:t>
            </a:r>
          </a:p>
        </p:txBody>
      </p:sp>
      <p:sp>
        <p:nvSpPr>
          <p:cNvPr id="24579" name="Rectangle 6">
            <a:extLst>
              <a:ext uri="{FF2B5EF4-FFF2-40B4-BE49-F238E27FC236}">
                <a16:creationId xmlns:a16="http://schemas.microsoft.com/office/drawing/2014/main" id="{221EE804-E4C4-C028-4C4E-7B64FB84371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Lecture 8</a:t>
            </a:r>
          </a:p>
        </p:txBody>
      </p:sp>
      <p:sp>
        <p:nvSpPr>
          <p:cNvPr id="24580" name="Rectangle 7">
            <a:extLst>
              <a:ext uri="{FF2B5EF4-FFF2-40B4-BE49-F238E27FC236}">
                <a16:creationId xmlns:a16="http://schemas.microsoft.com/office/drawing/2014/main" id="{2AC62577-8CFB-87D1-5009-D217AB43DE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5CB3E74-D333-4FAE-9424-FD0AC7645CC0}" type="slidenum">
              <a:rPr lang="en-US" altLang="en-US" sz="1200"/>
              <a:pPr/>
              <a:t>4</a:t>
            </a:fld>
            <a:endParaRPr lang="en-US" altLang="en-US" sz="1200"/>
          </a:p>
        </p:txBody>
      </p:sp>
      <p:sp>
        <p:nvSpPr>
          <p:cNvPr id="24581" name="Rectangle 2">
            <a:extLst>
              <a:ext uri="{FF2B5EF4-FFF2-40B4-BE49-F238E27FC236}">
                <a16:creationId xmlns:a16="http://schemas.microsoft.com/office/drawing/2014/main" id="{234CB49E-BC59-A047-85BB-8947EEA408F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2" name="Rectangle 3">
            <a:extLst>
              <a:ext uri="{FF2B5EF4-FFF2-40B4-BE49-F238E27FC236}">
                <a16:creationId xmlns:a16="http://schemas.microsoft.com/office/drawing/2014/main" id="{4CDE1D04-93FB-07C8-7BE3-180EFB3C93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FDB5A7AB-528C-94C1-3080-5A6B0637173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Electronics Overview</a:t>
            </a:r>
          </a:p>
        </p:txBody>
      </p:sp>
      <p:sp>
        <p:nvSpPr>
          <p:cNvPr id="26627" name="Rectangle 6">
            <a:extLst>
              <a:ext uri="{FF2B5EF4-FFF2-40B4-BE49-F238E27FC236}">
                <a16:creationId xmlns:a16="http://schemas.microsoft.com/office/drawing/2014/main" id="{58FD42E1-A3A8-0B1B-3B1F-782F0D992C9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Lecture 8</a:t>
            </a:r>
          </a:p>
        </p:txBody>
      </p:sp>
      <p:sp>
        <p:nvSpPr>
          <p:cNvPr id="26628" name="Rectangle 7">
            <a:extLst>
              <a:ext uri="{FF2B5EF4-FFF2-40B4-BE49-F238E27FC236}">
                <a16:creationId xmlns:a16="http://schemas.microsoft.com/office/drawing/2014/main" id="{877F89EA-D1BF-E0D3-5867-F2354CB84C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2E647DB-F6CC-4F26-A0BE-C77FEA89835C}" type="slidenum">
              <a:rPr lang="en-US" altLang="en-US" sz="1200"/>
              <a:pPr/>
              <a:t>5</a:t>
            </a:fld>
            <a:endParaRPr lang="en-US" altLang="en-US" sz="1200"/>
          </a:p>
        </p:txBody>
      </p:sp>
      <p:sp>
        <p:nvSpPr>
          <p:cNvPr id="26629" name="Rectangle 2">
            <a:extLst>
              <a:ext uri="{FF2B5EF4-FFF2-40B4-BE49-F238E27FC236}">
                <a16:creationId xmlns:a16="http://schemas.microsoft.com/office/drawing/2014/main" id="{C0F70458-3F6C-422F-0057-FB81F7F9AF1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30" name="Rectangle 3">
            <a:extLst>
              <a:ext uri="{FF2B5EF4-FFF2-40B4-BE49-F238E27FC236}">
                <a16:creationId xmlns:a16="http://schemas.microsoft.com/office/drawing/2014/main" id="{60D0B43C-BD09-6913-2E0C-86E3995362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D8AC9439-B03D-2263-9225-3F09D62DCB3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Electronics Overview</a:t>
            </a:r>
          </a:p>
        </p:txBody>
      </p:sp>
      <p:sp>
        <p:nvSpPr>
          <p:cNvPr id="28675" name="Rectangle 6">
            <a:extLst>
              <a:ext uri="{FF2B5EF4-FFF2-40B4-BE49-F238E27FC236}">
                <a16:creationId xmlns:a16="http://schemas.microsoft.com/office/drawing/2014/main" id="{8E47397D-9B16-C1A5-8B37-CCAAD775BC9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Lecture 8</a:t>
            </a:r>
          </a:p>
        </p:txBody>
      </p:sp>
      <p:sp>
        <p:nvSpPr>
          <p:cNvPr id="28676" name="Rectangle 7">
            <a:extLst>
              <a:ext uri="{FF2B5EF4-FFF2-40B4-BE49-F238E27FC236}">
                <a16:creationId xmlns:a16="http://schemas.microsoft.com/office/drawing/2014/main" id="{B696D9B3-2900-A2B2-CAB3-A2FC0D7B21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012E04A-5C8D-46B8-B540-A03E68A3E72E}" type="slidenum">
              <a:rPr lang="en-US" altLang="en-US" sz="1200"/>
              <a:pPr/>
              <a:t>6</a:t>
            </a:fld>
            <a:endParaRPr lang="en-US" altLang="en-US" sz="1200"/>
          </a:p>
        </p:txBody>
      </p:sp>
      <p:sp>
        <p:nvSpPr>
          <p:cNvPr id="28677" name="Rectangle 2">
            <a:extLst>
              <a:ext uri="{FF2B5EF4-FFF2-40B4-BE49-F238E27FC236}">
                <a16:creationId xmlns:a16="http://schemas.microsoft.com/office/drawing/2014/main" id="{528A9C1B-9A75-199F-CF96-CDDF98AA571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8" name="Rectangle 3">
            <a:extLst>
              <a:ext uri="{FF2B5EF4-FFF2-40B4-BE49-F238E27FC236}">
                <a16:creationId xmlns:a16="http://schemas.microsoft.com/office/drawing/2014/main" id="{27352859-58E0-237C-5725-12140571AF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694E1250-4E6C-9F20-65B1-E44FA6BA38B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Electronics Overview</a:t>
            </a:r>
          </a:p>
        </p:txBody>
      </p:sp>
      <p:sp>
        <p:nvSpPr>
          <p:cNvPr id="30723" name="Rectangle 6">
            <a:extLst>
              <a:ext uri="{FF2B5EF4-FFF2-40B4-BE49-F238E27FC236}">
                <a16:creationId xmlns:a16="http://schemas.microsoft.com/office/drawing/2014/main" id="{8CAE5D2B-E651-449D-5C95-47E4CCDDE9E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Lecture 8</a:t>
            </a:r>
          </a:p>
        </p:txBody>
      </p:sp>
      <p:sp>
        <p:nvSpPr>
          <p:cNvPr id="30724" name="Rectangle 7">
            <a:extLst>
              <a:ext uri="{FF2B5EF4-FFF2-40B4-BE49-F238E27FC236}">
                <a16:creationId xmlns:a16="http://schemas.microsoft.com/office/drawing/2014/main" id="{88343F02-E798-4D1D-F34B-3358A7A5F0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D0DF38A-2175-404A-8A7E-84F44C9B7B49}" type="slidenum">
              <a:rPr lang="en-US" altLang="en-US" sz="1200"/>
              <a:pPr/>
              <a:t>7</a:t>
            </a:fld>
            <a:endParaRPr lang="en-US" altLang="en-US" sz="1200"/>
          </a:p>
        </p:txBody>
      </p:sp>
      <p:sp>
        <p:nvSpPr>
          <p:cNvPr id="30725" name="Rectangle 2">
            <a:extLst>
              <a:ext uri="{FF2B5EF4-FFF2-40B4-BE49-F238E27FC236}">
                <a16:creationId xmlns:a16="http://schemas.microsoft.com/office/drawing/2014/main" id="{FD241390-E85E-999E-EC5E-96C9F152F4B2}"/>
              </a:ext>
            </a:extLst>
          </p:cNvPr>
          <p:cNvSpPr>
            <a:spLocks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726" name="Rectangle 3">
            <a:extLst>
              <a:ext uri="{FF2B5EF4-FFF2-40B4-BE49-F238E27FC236}">
                <a16:creationId xmlns:a16="http://schemas.microsoft.com/office/drawing/2014/main" id="{70EE7C96-9ABC-2DF1-97EE-5244F4A29753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F57D83DB-FB99-7EB8-D467-BA133C1DC34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Electronics Overview</a:t>
            </a:r>
          </a:p>
        </p:txBody>
      </p:sp>
      <p:sp>
        <p:nvSpPr>
          <p:cNvPr id="32771" name="Rectangle 6">
            <a:extLst>
              <a:ext uri="{FF2B5EF4-FFF2-40B4-BE49-F238E27FC236}">
                <a16:creationId xmlns:a16="http://schemas.microsoft.com/office/drawing/2014/main" id="{F0E3A40A-BF84-DA29-79A5-3F2DBE71B92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Lecture 8</a:t>
            </a:r>
          </a:p>
        </p:txBody>
      </p:sp>
      <p:sp>
        <p:nvSpPr>
          <p:cNvPr id="32772" name="Rectangle 7">
            <a:extLst>
              <a:ext uri="{FF2B5EF4-FFF2-40B4-BE49-F238E27FC236}">
                <a16:creationId xmlns:a16="http://schemas.microsoft.com/office/drawing/2014/main" id="{F649F73F-98DB-6653-6CED-555204E837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20ED840-9539-4CAF-B57F-C881DF53E004}" type="slidenum">
              <a:rPr lang="en-US" altLang="en-US" sz="1200"/>
              <a:pPr/>
              <a:t>8</a:t>
            </a:fld>
            <a:endParaRPr lang="en-US" altLang="en-US" sz="1200"/>
          </a:p>
        </p:txBody>
      </p:sp>
      <p:sp>
        <p:nvSpPr>
          <p:cNvPr id="32773" name="Rectangle 2">
            <a:extLst>
              <a:ext uri="{FF2B5EF4-FFF2-40B4-BE49-F238E27FC236}">
                <a16:creationId xmlns:a16="http://schemas.microsoft.com/office/drawing/2014/main" id="{D81CBA40-F9CE-25E7-4972-685D81DB597F}"/>
              </a:ext>
            </a:extLst>
          </p:cNvPr>
          <p:cNvSpPr>
            <a:spLocks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2774" name="Rectangle 3">
            <a:extLst>
              <a:ext uri="{FF2B5EF4-FFF2-40B4-BE49-F238E27FC236}">
                <a16:creationId xmlns:a16="http://schemas.microsoft.com/office/drawing/2014/main" id="{758F93B8-C8D1-D348-BB99-E018BAED57A0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687C0E38-D69B-1E46-3B77-2857FF3A0AE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Electronics Overview</a:t>
            </a:r>
          </a:p>
        </p:txBody>
      </p:sp>
      <p:sp>
        <p:nvSpPr>
          <p:cNvPr id="34819" name="Rectangle 6">
            <a:extLst>
              <a:ext uri="{FF2B5EF4-FFF2-40B4-BE49-F238E27FC236}">
                <a16:creationId xmlns:a16="http://schemas.microsoft.com/office/drawing/2014/main" id="{7EE65430-692D-F251-F5B9-0F5BBAF2BDB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Lecture 8</a:t>
            </a:r>
          </a:p>
        </p:txBody>
      </p:sp>
      <p:sp>
        <p:nvSpPr>
          <p:cNvPr id="34820" name="Rectangle 7">
            <a:extLst>
              <a:ext uri="{FF2B5EF4-FFF2-40B4-BE49-F238E27FC236}">
                <a16:creationId xmlns:a16="http://schemas.microsoft.com/office/drawing/2014/main" id="{583412CB-D5EC-02D9-741C-2AED5C30A4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DFD24E9-31E0-45E2-98E1-10FD48C2258F}" type="slidenum">
              <a:rPr lang="en-US" altLang="en-US" sz="1200"/>
              <a:pPr/>
              <a:t>9</a:t>
            </a:fld>
            <a:endParaRPr lang="en-US" altLang="en-US" sz="1200"/>
          </a:p>
        </p:txBody>
      </p:sp>
      <p:sp>
        <p:nvSpPr>
          <p:cNvPr id="34821" name="Rectangle 2">
            <a:extLst>
              <a:ext uri="{FF2B5EF4-FFF2-40B4-BE49-F238E27FC236}">
                <a16:creationId xmlns:a16="http://schemas.microsoft.com/office/drawing/2014/main" id="{2F8F014B-8069-A2B7-07AB-324F6AD02464}"/>
              </a:ext>
            </a:extLst>
          </p:cNvPr>
          <p:cNvSpPr>
            <a:spLocks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4822" name="Rectangle 3">
            <a:extLst>
              <a:ext uri="{FF2B5EF4-FFF2-40B4-BE49-F238E27FC236}">
                <a16:creationId xmlns:a16="http://schemas.microsoft.com/office/drawing/2014/main" id="{634EB0D0-E606-3AB0-F4E0-494D97875611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C947855A-9AF9-1553-0153-1A1AE498596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Electronics Overview</a:t>
            </a:r>
          </a:p>
        </p:txBody>
      </p:sp>
      <p:sp>
        <p:nvSpPr>
          <p:cNvPr id="36867" name="Rectangle 6">
            <a:extLst>
              <a:ext uri="{FF2B5EF4-FFF2-40B4-BE49-F238E27FC236}">
                <a16:creationId xmlns:a16="http://schemas.microsoft.com/office/drawing/2014/main" id="{1A7E6EA7-C1DE-7259-C70A-DDE66DD62EB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Lecture 8</a:t>
            </a:r>
          </a:p>
        </p:txBody>
      </p:sp>
      <p:sp>
        <p:nvSpPr>
          <p:cNvPr id="36868" name="Rectangle 7">
            <a:extLst>
              <a:ext uri="{FF2B5EF4-FFF2-40B4-BE49-F238E27FC236}">
                <a16:creationId xmlns:a16="http://schemas.microsoft.com/office/drawing/2014/main" id="{BB6DFA58-3760-3A24-5201-B2AB52ED1F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255757D-B99A-49D1-BBD5-430C793ADB63}" type="slidenum">
              <a:rPr lang="en-US" altLang="en-US" sz="1200"/>
              <a:pPr/>
              <a:t>10</a:t>
            </a:fld>
            <a:endParaRPr lang="en-US" altLang="en-US" sz="1200"/>
          </a:p>
        </p:txBody>
      </p:sp>
      <p:sp>
        <p:nvSpPr>
          <p:cNvPr id="36869" name="Rectangle 2">
            <a:extLst>
              <a:ext uri="{FF2B5EF4-FFF2-40B4-BE49-F238E27FC236}">
                <a16:creationId xmlns:a16="http://schemas.microsoft.com/office/drawing/2014/main" id="{F583738C-C880-0311-E991-4AEB8C675DB1}"/>
              </a:ext>
            </a:extLst>
          </p:cNvPr>
          <p:cNvSpPr>
            <a:spLocks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6870" name="Rectangle 3">
            <a:extLst>
              <a:ext uri="{FF2B5EF4-FFF2-40B4-BE49-F238E27FC236}">
                <a16:creationId xmlns:a16="http://schemas.microsoft.com/office/drawing/2014/main" id="{BF1BB313-A52C-C2E9-136A-F7FBC515CBDB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C9FBBF5C-3623-BE87-7E74-A93EECB5204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Electronics Overview</a:t>
            </a:r>
          </a:p>
        </p:txBody>
      </p:sp>
      <p:sp>
        <p:nvSpPr>
          <p:cNvPr id="38915" name="Rectangle 6">
            <a:extLst>
              <a:ext uri="{FF2B5EF4-FFF2-40B4-BE49-F238E27FC236}">
                <a16:creationId xmlns:a16="http://schemas.microsoft.com/office/drawing/2014/main" id="{73589D14-CA5F-D123-048F-D2A0FAEE508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Lecture 8</a:t>
            </a:r>
          </a:p>
        </p:txBody>
      </p:sp>
      <p:sp>
        <p:nvSpPr>
          <p:cNvPr id="38916" name="Rectangle 7">
            <a:extLst>
              <a:ext uri="{FF2B5EF4-FFF2-40B4-BE49-F238E27FC236}">
                <a16:creationId xmlns:a16="http://schemas.microsoft.com/office/drawing/2014/main" id="{88A42B09-53E1-A1FD-FF41-E8480AD10F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F397391-F937-4C5C-A814-87BEED9AC2CA}" type="slidenum">
              <a:rPr lang="en-US" altLang="en-US" sz="1200"/>
              <a:pPr/>
              <a:t>11</a:t>
            </a:fld>
            <a:endParaRPr lang="en-US" altLang="en-US" sz="1200"/>
          </a:p>
        </p:txBody>
      </p:sp>
      <p:sp>
        <p:nvSpPr>
          <p:cNvPr id="38917" name="Rectangle 2">
            <a:extLst>
              <a:ext uri="{FF2B5EF4-FFF2-40B4-BE49-F238E27FC236}">
                <a16:creationId xmlns:a16="http://schemas.microsoft.com/office/drawing/2014/main" id="{4528D86A-E835-DCEE-6CF7-3B275D7F9685}"/>
              </a:ext>
            </a:extLst>
          </p:cNvPr>
          <p:cNvSpPr>
            <a:spLocks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8918" name="Rectangle 3">
            <a:extLst>
              <a:ext uri="{FF2B5EF4-FFF2-40B4-BE49-F238E27FC236}">
                <a16:creationId xmlns:a16="http://schemas.microsoft.com/office/drawing/2014/main" id="{836A7F42-517D-27BD-25C9-07027729C0AF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1FE66EAB-1A93-6184-B4C1-98F574C7E7C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Electronics Overview</a:t>
            </a:r>
          </a:p>
        </p:txBody>
      </p:sp>
      <p:sp>
        <p:nvSpPr>
          <p:cNvPr id="40963" name="Rectangle 6">
            <a:extLst>
              <a:ext uri="{FF2B5EF4-FFF2-40B4-BE49-F238E27FC236}">
                <a16:creationId xmlns:a16="http://schemas.microsoft.com/office/drawing/2014/main" id="{E3FB6B49-5FB9-DCCD-DB0F-510DA60AA7A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Lecture 8</a:t>
            </a:r>
          </a:p>
        </p:txBody>
      </p:sp>
      <p:sp>
        <p:nvSpPr>
          <p:cNvPr id="40964" name="Rectangle 7">
            <a:extLst>
              <a:ext uri="{FF2B5EF4-FFF2-40B4-BE49-F238E27FC236}">
                <a16:creationId xmlns:a16="http://schemas.microsoft.com/office/drawing/2014/main" id="{A23DFA14-38E6-F062-3FB5-AF0F146845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EB1737A-D33E-449A-BBB5-45CC244C0E92}" type="slidenum">
              <a:rPr lang="en-US" altLang="en-US" sz="1200"/>
              <a:pPr/>
              <a:t>12</a:t>
            </a:fld>
            <a:endParaRPr lang="en-US" altLang="en-US" sz="1200"/>
          </a:p>
        </p:txBody>
      </p:sp>
      <p:sp>
        <p:nvSpPr>
          <p:cNvPr id="40965" name="Rectangle 2">
            <a:extLst>
              <a:ext uri="{FF2B5EF4-FFF2-40B4-BE49-F238E27FC236}">
                <a16:creationId xmlns:a16="http://schemas.microsoft.com/office/drawing/2014/main" id="{B885CF22-9415-C8CA-2272-F3A96DF3172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6" name="Rectangle 3">
            <a:extLst>
              <a:ext uri="{FF2B5EF4-FFF2-40B4-BE49-F238E27FC236}">
                <a16:creationId xmlns:a16="http://schemas.microsoft.com/office/drawing/2014/main" id="{4F4707F6-645A-04B5-3469-A6178E1E01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DCB20B2C-97CA-7FDC-7899-488BADF6000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Electronics Overview</a:t>
            </a:r>
          </a:p>
        </p:txBody>
      </p:sp>
      <p:sp>
        <p:nvSpPr>
          <p:cNvPr id="43011" name="Rectangle 6">
            <a:extLst>
              <a:ext uri="{FF2B5EF4-FFF2-40B4-BE49-F238E27FC236}">
                <a16:creationId xmlns:a16="http://schemas.microsoft.com/office/drawing/2014/main" id="{D0155D47-B8BC-D539-F2C4-32249CC0529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Lecture 8</a:t>
            </a:r>
          </a:p>
        </p:txBody>
      </p:sp>
      <p:sp>
        <p:nvSpPr>
          <p:cNvPr id="43012" name="Rectangle 7">
            <a:extLst>
              <a:ext uri="{FF2B5EF4-FFF2-40B4-BE49-F238E27FC236}">
                <a16:creationId xmlns:a16="http://schemas.microsoft.com/office/drawing/2014/main" id="{376917BF-2873-ED0C-B81E-D9A43E9448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AC005C4-74EC-4332-A2A2-1D2356A5ED22}" type="slidenum">
              <a:rPr lang="en-US" altLang="en-US" sz="1200"/>
              <a:pPr/>
              <a:t>13</a:t>
            </a:fld>
            <a:endParaRPr lang="en-US" altLang="en-US" sz="1200"/>
          </a:p>
        </p:txBody>
      </p:sp>
      <p:sp>
        <p:nvSpPr>
          <p:cNvPr id="43013" name="Rectangle 2">
            <a:extLst>
              <a:ext uri="{FF2B5EF4-FFF2-40B4-BE49-F238E27FC236}">
                <a16:creationId xmlns:a16="http://schemas.microsoft.com/office/drawing/2014/main" id="{334C190C-A1BF-98AD-45DF-582C4E94972E}"/>
              </a:ext>
            </a:extLst>
          </p:cNvPr>
          <p:cNvSpPr>
            <a:spLocks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3014" name="Rectangle 3">
            <a:extLst>
              <a:ext uri="{FF2B5EF4-FFF2-40B4-BE49-F238E27FC236}">
                <a16:creationId xmlns:a16="http://schemas.microsoft.com/office/drawing/2014/main" id="{F515C4ED-42B6-DB3E-B960-72044344B71D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9AA39D49-AFC2-6E03-8E64-641A7425036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Electronics Overview</a:t>
            </a:r>
          </a:p>
        </p:txBody>
      </p:sp>
      <p:sp>
        <p:nvSpPr>
          <p:cNvPr id="45059" name="Rectangle 6">
            <a:extLst>
              <a:ext uri="{FF2B5EF4-FFF2-40B4-BE49-F238E27FC236}">
                <a16:creationId xmlns:a16="http://schemas.microsoft.com/office/drawing/2014/main" id="{737EBF04-20BE-7812-DA76-19405E6FF93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Lecture 8</a:t>
            </a:r>
          </a:p>
        </p:txBody>
      </p:sp>
      <p:sp>
        <p:nvSpPr>
          <p:cNvPr id="45060" name="Rectangle 7">
            <a:extLst>
              <a:ext uri="{FF2B5EF4-FFF2-40B4-BE49-F238E27FC236}">
                <a16:creationId xmlns:a16="http://schemas.microsoft.com/office/drawing/2014/main" id="{CEBBC493-DC7C-F2CE-A9CA-007F54CCB0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192A486-F98A-4A93-9352-68B338D9CD7B}" type="slidenum">
              <a:rPr lang="en-US" altLang="en-US" sz="1200"/>
              <a:pPr/>
              <a:t>14</a:t>
            </a:fld>
            <a:endParaRPr lang="en-US" altLang="en-US" sz="1200"/>
          </a:p>
        </p:txBody>
      </p:sp>
      <p:sp>
        <p:nvSpPr>
          <p:cNvPr id="45061" name="Rectangle 2">
            <a:extLst>
              <a:ext uri="{FF2B5EF4-FFF2-40B4-BE49-F238E27FC236}">
                <a16:creationId xmlns:a16="http://schemas.microsoft.com/office/drawing/2014/main" id="{1596D1D6-2630-67C3-A4DE-50864A57F0A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2" name="Rectangle 3">
            <a:extLst>
              <a:ext uri="{FF2B5EF4-FFF2-40B4-BE49-F238E27FC236}">
                <a16:creationId xmlns:a16="http://schemas.microsoft.com/office/drawing/2014/main" id="{8BE4C610-8033-1F8F-990C-1E365F3CBA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CC4C5B00-CD7E-4491-005E-E22B29D07D5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Electronics Overview</a:t>
            </a:r>
          </a:p>
        </p:txBody>
      </p:sp>
      <p:sp>
        <p:nvSpPr>
          <p:cNvPr id="47107" name="Rectangle 6">
            <a:extLst>
              <a:ext uri="{FF2B5EF4-FFF2-40B4-BE49-F238E27FC236}">
                <a16:creationId xmlns:a16="http://schemas.microsoft.com/office/drawing/2014/main" id="{A86829AE-91A9-E9CF-17A1-D6BEB6BCF67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Lecture 8</a:t>
            </a:r>
          </a:p>
        </p:txBody>
      </p:sp>
      <p:sp>
        <p:nvSpPr>
          <p:cNvPr id="47108" name="Rectangle 7">
            <a:extLst>
              <a:ext uri="{FF2B5EF4-FFF2-40B4-BE49-F238E27FC236}">
                <a16:creationId xmlns:a16="http://schemas.microsoft.com/office/drawing/2014/main" id="{C56AFF83-BD62-7170-CED6-3759E32442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667178E-76D0-4E51-9AF6-CEB1FE66D1D3}" type="slidenum">
              <a:rPr lang="en-US" altLang="en-US" sz="1200"/>
              <a:pPr/>
              <a:t>15</a:t>
            </a:fld>
            <a:endParaRPr lang="en-US" altLang="en-US" sz="1200"/>
          </a:p>
        </p:txBody>
      </p:sp>
      <p:sp>
        <p:nvSpPr>
          <p:cNvPr id="47109" name="Rectangle 2">
            <a:extLst>
              <a:ext uri="{FF2B5EF4-FFF2-40B4-BE49-F238E27FC236}">
                <a16:creationId xmlns:a16="http://schemas.microsoft.com/office/drawing/2014/main" id="{4F643378-AB79-999F-E06B-02EF9626915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10" name="Rectangle 3">
            <a:extLst>
              <a:ext uri="{FF2B5EF4-FFF2-40B4-BE49-F238E27FC236}">
                <a16:creationId xmlns:a16="http://schemas.microsoft.com/office/drawing/2014/main" id="{33C6394A-466F-B014-C311-2774CEBF88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C97AB448-B544-A295-EC49-CB4B889AA09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Electronics Overview</a:t>
            </a:r>
          </a:p>
        </p:txBody>
      </p:sp>
      <p:sp>
        <p:nvSpPr>
          <p:cNvPr id="49155" name="Rectangle 6">
            <a:extLst>
              <a:ext uri="{FF2B5EF4-FFF2-40B4-BE49-F238E27FC236}">
                <a16:creationId xmlns:a16="http://schemas.microsoft.com/office/drawing/2014/main" id="{57F1AFB6-76AB-DDED-CD73-BBEE87CA059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Lecture 8</a:t>
            </a:r>
          </a:p>
        </p:txBody>
      </p:sp>
      <p:sp>
        <p:nvSpPr>
          <p:cNvPr id="49156" name="Rectangle 7">
            <a:extLst>
              <a:ext uri="{FF2B5EF4-FFF2-40B4-BE49-F238E27FC236}">
                <a16:creationId xmlns:a16="http://schemas.microsoft.com/office/drawing/2014/main" id="{B6EE9288-BE2E-7A31-887E-FE02F38451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26EA4D3-E576-4317-BF8C-3DE8CC600594}" type="slidenum">
              <a:rPr lang="en-US" altLang="en-US" sz="1200"/>
              <a:pPr/>
              <a:t>16</a:t>
            </a:fld>
            <a:endParaRPr lang="en-US" altLang="en-US" sz="1200"/>
          </a:p>
        </p:txBody>
      </p:sp>
      <p:sp>
        <p:nvSpPr>
          <p:cNvPr id="49157" name="Rectangle 2">
            <a:extLst>
              <a:ext uri="{FF2B5EF4-FFF2-40B4-BE49-F238E27FC236}">
                <a16:creationId xmlns:a16="http://schemas.microsoft.com/office/drawing/2014/main" id="{52A1B54A-2565-30D0-AD74-163088B5904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8" name="Rectangle 3">
            <a:extLst>
              <a:ext uri="{FF2B5EF4-FFF2-40B4-BE49-F238E27FC236}">
                <a16:creationId xmlns:a16="http://schemas.microsoft.com/office/drawing/2014/main" id="{D92940F0-1DBC-C6E4-D46E-FC08D87F8F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185E8756-98E3-E24D-C937-AF9AEEA5B5D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Electronics Overview</a:t>
            </a:r>
          </a:p>
        </p:txBody>
      </p:sp>
      <p:sp>
        <p:nvSpPr>
          <p:cNvPr id="51203" name="Rectangle 6">
            <a:extLst>
              <a:ext uri="{FF2B5EF4-FFF2-40B4-BE49-F238E27FC236}">
                <a16:creationId xmlns:a16="http://schemas.microsoft.com/office/drawing/2014/main" id="{C534B6CE-A557-5332-0A8A-B52FCC73B6F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Lecture 8</a:t>
            </a:r>
          </a:p>
        </p:txBody>
      </p:sp>
      <p:sp>
        <p:nvSpPr>
          <p:cNvPr id="51204" name="Rectangle 7">
            <a:extLst>
              <a:ext uri="{FF2B5EF4-FFF2-40B4-BE49-F238E27FC236}">
                <a16:creationId xmlns:a16="http://schemas.microsoft.com/office/drawing/2014/main" id="{6B7DF77C-B9D3-216E-3A62-E41EE93739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4E94A6E-A4BD-4CEF-B5CA-ECB2AD2C704F}" type="slidenum">
              <a:rPr lang="en-US" altLang="en-US" sz="1200"/>
              <a:pPr/>
              <a:t>17</a:t>
            </a:fld>
            <a:endParaRPr lang="en-US" altLang="en-US" sz="1200"/>
          </a:p>
        </p:txBody>
      </p:sp>
      <p:sp>
        <p:nvSpPr>
          <p:cNvPr id="51205" name="Rectangle 2">
            <a:extLst>
              <a:ext uri="{FF2B5EF4-FFF2-40B4-BE49-F238E27FC236}">
                <a16:creationId xmlns:a16="http://schemas.microsoft.com/office/drawing/2014/main" id="{5453FACF-8A3B-5AE0-5F70-8BC9E0FA15C6}"/>
              </a:ext>
            </a:extLst>
          </p:cNvPr>
          <p:cNvSpPr>
            <a:spLocks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1206" name="Rectangle 3">
            <a:extLst>
              <a:ext uri="{FF2B5EF4-FFF2-40B4-BE49-F238E27FC236}">
                <a16:creationId xmlns:a16="http://schemas.microsoft.com/office/drawing/2014/main" id="{8A5D1BF1-3828-6503-0368-667F1DFF6F92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E260A509-812B-F445-6FF4-3BB2DC04EF9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Electronics Overview</a:t>
            </a:r>
          </a:p>
        </p:txBody>
      </p:sp>
      <p:sp>
        <p:nvSpPr>
          <p:cNvPr id="53251" name="Rectangle 6">
            <a:extLst>
              <a:ext uri="{FF2B5EF4-FFF2-40B4-BE49-F238E27FC236}">
                <a16:creationId xmlns:a16="http://schemas.microsoft.com/office/drawing/2014/main" id="{3A479CCC-4FAA-23A7-5440-B2D943EE1F6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Lecture 8</a:t>
            </a:r>
          </a:p>
        </p:txBody>
      </p:sp>
      <p:sp>
        <p:nvSpPr>
          <p:cNvPr id="53252" name="Rectangle 7">
            <a:extLst>
              <a:ext uri="{FF2B5EF4-FFF2-40B4-BE49-F238E27FC236}">
                <a16:creationId xmlns:a16="http://schemas.microsoft.com/office/drawing/2014/main" id="{E41BB0BE-1179-B479-5142-7080135749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F4C3A84-5ACF-40E6-BD07-B40D698F3E91}" type="slidenum">
              <a:rPr lang="en-US" altLang="en-US" sz="1200"/>
              <a:pPr/>
              <a:t>18</a:t>
            </a:fld>
            <a:endParaRPr lang="en-US" altLang="en-US" sz="1200"/>
          </a:p>
        </p:txBody>
      </p:sp>
      <p:sp>
        <p:nvSpPr>
          <p:cNvPr id="53253" name="Rectangle 2">
            <a:extLst>
              <a:ext uri="{FF2B5EF4-FFF2-40B4-BE49-F238E27FC236}">
                <a16:creationId xmlns:a16="http://schemas.microsoft.com/office/drawing/2014/main" id="{96DDDBEB-4410-65AC-956E-4550586B5F2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4" name="Rectangle 3">
            <a:extLst>
              <a:ext uri="{FF2B5EF4-FFF2-40B4-BE49-F238E27FC236}">
                <a16:creationId xmlns:a16="http://schemas.microsoft.com/office/drawing/2014/main" id="{7A269368-1C20-8F81-4655-8426AE9469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37D95461-3A5F-D7D5-D471-B26AAC3CBAB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Electronics Overview</a:t>
            </a:r>
          </a:p>
        </p:txBody>
      </p:sp>
      <p:sp>
        <p:nvSpPr>
          <p:cNvPr id="55299" name="Rectangle 6">
            <a:extLst>
              <a:ext uri="{FF2B5EF4-FFF2-40B4-BE49-F238E27FC236}">
                <a16:creationId xmlns:a16="http://schemas.microsoft.com/office/drawing/2014/main" id="{BA84E8BA-8E49-61A3-EF89-EBFCA3CF374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Lecture 8</a:t>
            </a:r>
          </a:p>
        </p:txBody>
      </p:sp>
      <p:sp>
        <p:nvSpPr>
          <p:cNvPr id="55300" name="Rectangle 7">
            <a:extLst>
              <a:ext uri="{FF2B5EF4-FFF2-40B4-BE49-F238E27FC236}">
                <a16:creationId xmlns:a16="http://schemas.microsoft.com/office/drawing/2014/main" id="{BE25ED63-1147-DD2A-08EE-5188825C2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E3E75E9-1B90-4C73-BEF2-FD0EE49A4B70}" type="slidenum">
              <a:rPr lang="en-US" altLang="en-US" sz="1200"/>
              <a:pPr/>
              <a:t>19</a:t>
            </a:fld>
            <a:endParaRPr lang="en-US" altLang="en-US" sz="1200"/>
          </a:p>
        </p:txBody>
      </p:sp>
      <p:sp>
        <p:nvSpPr>
          <p:cNvPr id="55301" name="Rectangle 2">
            <a:extLst>
              <a:ext uri="{FF2B5EF4-FFF2-40B4-BE49-F238E27FC236}">
                <a16:creationId xmlns:a16="http://schemas.microsoft.com/office/drawing/2014/main" id="{954A2848-5186-BF39-028D-DA95B8410AB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2" name="Rectangle 3">
            <a:extLst>
              <a:ext uri="{FF2B5EF4-FFF2-40B4-BE49-F238E27FC236}">
                <a16:creationId xmlns:a16="http://schemas.microsoft.com/office/drawing/2014/main" id="{187603AC-01B5-635B-6CCE-5BA3427D14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45745687-559B-C7C5-803F-45A30ABEB58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Electronics Overview</a:t>
            </a:r>
          </a:p>
        </p:txBody>
      </p:sp>
      <p:sp>
        <p:nvSpPr>
          <p:cNvPr id="57347" name="Rectangle 6">
            <a:extLst>
              <a:ext uri="{FF2B5EF4-FFF2-40B4-BE49-F238E27FC236}">
                <a16:creationId xmlns:a16="http://schemas.microsoft.com/office/drawing/2014/main" id="{F966E6BE-2D96-1F46-9E61-FF36F2C5081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Lecture 8</a:t>
            </a:r>
          </a:p>
        </p:txBody>
      </p:sp>
      <p:sp>
        <p:nvSpPr>
          <p:cNvPr id="57348" name="Rectangle 7">
            <a:extLst>
              <a:ext uri="{FF2B5EF4-FFF2-40B4-BE49-F238E27FC236}">
                <a16:creationId xmlns:a16="http://schemas.microsoft.com/office/drawing/2014/main" id="{730ABF3A-DD86-1E0C-4EB2-9CE67839DD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3539F3B-7786-40F0-9AE1-C34F07F2C730}" type="slidenum">
              <a:rPr lang="en-US" altLang="en-US" sz="1200"/>
              <a:pPr/>
              <a:t>20</a:t>
            </a:fld>
            <a:endParaRPr lang="en-US" altLang="en-US" sz="1200"/>
          </a:p>
        </p:txBody>
      </p:sp>
      <p:sp>
        <p:nvSpPr>
          <p:cNvPr id="57349" name="Rectangle 2">
            <a:extLst>
              <a:ext uri="{FF2B5EF4-FFF2-40B4-BE49-F238E27FC236}">
                <a16:creationId xmlns:a16="http://schemas.microsoft.com/office/drawing/2014/main" id="{8CA2F533-F13A-E361-FF72-8EC3AE7B5A1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50" name="Rectangle 3">
            <a:extLst>
              <a:ext uri="{FF2B5EF4-FFF2-40B4-BE49-F238E27FC236}">
                <a16:creationId xmlns:a16="http://schemas.microsoft.com/office/drawing/2014/main" id="{CECFF246-68DD-46D6-262E-E66D752019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6312ACB1-458B-C92B-519A-0902E0C024A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Electronics Overview</a:t>
            </a:r>
          </a:p>
        </p:txBody>
      </p:sp>
      <p:sp>
        <p:nvSpPr>
          <p:cNvPr id="59395" name="Rectangle 6">
            <a:extLst>
              <a:ext uri="{FF2B5EF4-FFF2-40B4-BE49-F238E27FC236}">
                <a16:creationId xmlns:a16="http://schemas.microsoft.com/office/drawing/2014/main" id="{1108908E-97F6-953A-D471-E59E0E4069E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Lecture 8</a:t>
            </a:r>
          </a:p>
        </p:txBody>
      </p:sp>
      <p:sp>
        <p:nvSpPr>
          <p:cNvPr id="59396" name="Rectangle 7">
            <a:extLst>
              <a:ext uri="{FF2B5EF4-FFF2-40B4-BE49-F238E27FC236}">
                <a16:creationId xmlns:a16="http://schemas.microsoft.com/office/drawing/2014/main" id="{E5352581-7320-D0E9-A0C0-5FD27C58B4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8D04488-6BA2-4CDA-AC48-253D51B2DB3C}" type="slidenum">
              <a:rPr lang="en-US" altLang="en-US" sz="1200"/>
              <a:pPr/>
              <a:t>21</a:t>
            </a:fld>
            <a:endParaRPr lang="en-US" altLang="en-US" sz="1200"/>
          </a:p>
        </p:txBody>
      </p:sp>
      <p:sp>
        <p:nvSpPr>
          <p:cNvPr id="59397" name="Rectangle 2">
            <a:extLst>
              <a:ext uri="{FF2B5EF4-FFF2-40B4-BE49-F238E27FC236}">
                <a16:creationId xmlns:a16="http://schemas.microsoft.com/office/drawing/2014/main" id="{340E57E8-C46F-01C1-6BD5-E4DF3F7216C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8" name="Rectangle 3">
            <a:extLst>
              <a:ext uri="{FF2B5EF4-FFF2-40B4-BE49-F238E27FC236}">
                <a16:creationId xmlns:a16="http://schemas.microsoft.com/office/drawing/2014/main" id="{698CC707-4F10-4E3A-3C73-42ABC5DB01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E443CC9D-2B57-B248-9B15-DD5C2E5680C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Electronics Overview</a:t>
            </a:r>
          </a:p>
        </p:txBody>
      </p:sp>
      <p:sp>
        <p:nvSpPr>
          <p:cNvPr id="61443" name="Rectangle 6">
            <a:extLst>
              <a:ext uri="{FF2B5EF4-FFF2-40B4-BE49-F238E27FC236}">
                <a16:creationId xmlns:a16="http://schemas.microsoft.com/office/drawing/2014/main" id="{2D67FECF-5238-76D6-3A73-67F2E7FD6BE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Lecture 8</a:t>
            </a:r>
          </a:p>
        </p:txBody>
      </p:sp>
      <p:sp>
        <p:nvSpPr>
          <p:cNvPr id="61444" name="Rectangle 7">
            <a:extLst>
              <a:ext uri="{FF2B5EF4-FFF2-40B4-BE49-F238E27FC236}">
                <a16:creationId xmlns:a16="http://schemas.microsoft.com/office/drawing/2014/main" id="{E9763B98-D787-ECA8-F3F0-7B253C6150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3619B43-8998-4C25-A479-6075B491C70D}" type="slidenum">
              <a:rPr lang="en-US" altLang="en-US" sz="1200"/>
              <a:pPr/>
              <a:t>22</a:t>
            </a:fld>
            <a:endParaRPr lang="en-US" altLang="en-US" sz="1200"/>
          </a:p>
        </p:txBody>
      </p:sp>
      <p:sp>
        <p:nvSpPr>
          <p:cNvPr id="61445" name="Rectangle 2">
            <a:extLst>
              <a:ext uri="{FF2B5EF4-FFF2-40B4-BE49-F238E27FC236}">
                <a16:creationId xmlns:a16="http://schemas.microsoft.com/office/drawing/2014/main" id="{926EF3CD-D23B-92DB-E8FD-BC0AFAF6E2B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6" name="Rectangle 3">
            <a:extLst>
              <a:ext uri="{FF2B5EF4-FFF2-40B4-BE49-F238E27FC236}">
                <a16:creationId xmlns:a16="http://schemas.microsoft.com/office/drawing/2014/main" id="{FCE3F1B1-389E-2E5A-3578-B1568CD32F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E44B33D3-3DD5-51E9-30BD-139C57578C6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Electronics Overview</a:t>
            </a:r>
          </a:p>
        </p:txBody>
      </p:sp>
      <p:sp>
        <p:nvSpPr>
          <p:cNvPr id="63491" name="Rectangle 6">
            <a:extLst>
              <a:ext uri="{FF2B5EF4-FFF2-40B4-BE49-F238E27FC236}">
                <a16:creationId xmlns:a16="http://schemas.microsoft.com/office/drawing/2014/main" id="{9CDA2438-5834-6C33-3C91-0834753DA87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Lecture 8</a:t>
            </a:r>
          </a:p>
        </p:txBody>
      </p:sp>
      <p:sp>
        <p:nvSpPr>
          <p:cNvPr id="63492" name="Rectangle 7">
            <a:extLst>
              <a:ext uri="{FF2B5EF4-FFF2-40B4-BE49-F238E27FC236}">
                <a16:creationId xmlns:a16="http://schemas.microsoft.com/office/drawing/2014/main" id="{142CD36C-446D-140E-A052-62F2E47C03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C2FEDF3-B9CC-462C-9145-7AD4A5024D01}" type="slidenum">
              <a:rPr lang="en-US" altLang="en-US" sz="1200"/>
              <a:pPr/>
              <a:t>23</a:t>
            </a:fld>
            <a:endParaRPr lang="en-US" altLang="en-US" sz="1200"/>
          </a:p>
        </p:txBody>
      </p:sp>
      <p:sp>
        <p:nvSpPr>
          <p:cNvPr id="63493" name="Rectangle 2">
            <a:extLst>
              <a:ext uri="{FF2B5EF4-FFF2-40B4-BE49-F238E27FC236}">
                <a16:creationId xmlns:a16="http://schemas.microsoft.com/office/drawing/2014/main" id="{A017628A-B284-3758-AF41-8467D6BBC97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4" name="Rectangle 3">
            <a:extLst>
              <a:ext uri="{FF2B5EF4-FFF2-40B4-BE49-F238E27FC236}">
                <a16:creationId xmlns:a16="http://schemas.microsoft.com/office/drawing/2014/main" id="{380B1CE9-A79E-A522-F44E-B10D21BD12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110FE7ED-816C-68D5-963E-14B5EABB86B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Electronics Overview</a:t>
            </a:r>
          </a:p>
        </p:txBody>
      </p:sp>
      <p:sp>
        <p:nvSpPr>
          <p:cNvPr id="65539" name="Rectangle 6">
            <a:extLst>
              <a:ext uri="{FF2B5EF4-FFF2-40B4-BE49-F238E27FC236}">
                <a16:creationId xmlns:a16="http://schemas.microsoft.com/office/drawing/2014/main" id="{EB937D50-6C2B-BFB3-12D3-D1AF3520CE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Lecture 8</a:t>
            </a:r>
          </a:p>
        </p:txBody>
      </p:sp>
      <p:sp>
        <p:nvSpPr>
          <p:cNvPr id="65540" name="Rectangle 7">
            <a:extLst>
              <a:ext uri="{FF2B5EF4-FFF2-40B4-BE49-F238E27FC236}">
                <a16:creationId xmlns:a16="http://schemas.microsoft.com/office/drawing/2014/main" id="{9F891C40-50F5-AD07-FCB9-C0262245E5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C71B17A-BA33-4FF5-851A-B99D52E8ADDD}" type="slidenum">
              <a:rPr lang="en-US" altLang="en-US" sz="1200"/>
              <a:pPr/>
              <a:t>24</a:t>
            </a:fld>
            <a:endParaRPr lang="en-US" altLang="en-US" sz="1200"/>
          </a:p>
        </p:txBody>
      </p:sp>
      <p:sp>
        <p:nvSpPr>
          <p:cNvPr id="65541" name="Rectangle 2">
            <a:extLst>
              <a:ext uri="{FF2B5EF4-FFF2-40B4-BE49-F238E27FC236}">
                <a16:creationId xmlns:a16="http://schemas.microsoft.com/office/drawing/2014/main" id="{8F0B07AB-0A3A-F723-4832-5CD84CB2F40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2" name="Rectangle 3">
            <a:extLst>
              <a:ext uri="{FF2B5EF4-FFF2-40B4-BE49-F238E27FC236}">
                <a16:creationId xmlns:a16="http://schemas.microsoft.com/office/drawing/2014/main" id="{65338533-AA64-621D-E9EC-93A3EDFB53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01E35094-2903-BDF6-FB00-015E0ABFEED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Electronics Overview</a:t>
            </a:r>
          </a:p>
        </p:txBody>
      </p:sp>
      <p:sp>
        <p:nvSpPr>
          <p:cNvPr id="67587" name="Rectangle 6">
            <a:extLst>
              <a:ext uri="{FF2B5EF4-FFF2-40B4-BE49-F238E27FC236}">
                <a16:creationId xmlns:a16="http://schemas.microsoft.com/office/drawing/2014/main" id="{EBD5598E-5595-0B7C-B66B-D9F4E5AE33B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Lecture 8</a:t>
            </a:r>
          </a:p>
        </p:txBody>
      </p:sp>
      <p:sp>
        <p:nvSpPr>
          <p:cNvPr id="67588" name="Rectangle 7">
            <a:extLst>
              <a:ext uri="{FF2B5EF4-FFF2-40B4-BE49-F238E27FC236}">
                <a16:creationId xmlns:a16="http://schemas.microsoft.com/office/drawing/2014/main" id="{3957C812-1919-F7A8-680B-E9054E6E9A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24C1BDA-25E0-45FA-89B3-42BE7FD1591E}" type="slidenum">
              <a:rPr lang="en-US" altLang="en-US" sz="1200"/>
              <a:pPr/>
              <a:t>25</a:t>
            </a:fld>
            <a:endParaRPr lang="en-US" altLang="en-US" sz="1200"/>
          </a:p>
        </p:txBody>
      </p:sp>
      <p:sp>
        <p:nvSpPr>
          <p:cNvPr id="67589" name="Rectangle 2">
            <a:extLst>
              <a:ext uri="{FF2B5EF4-FFF2-40B4-BE49-F238E27FC236}">
                <a16:creationId xmlns:a16="http://schemas.microsoft.com/office/drawing/2014/main" id="{438F51DF-D536-C833-851A-4D00C0BDB61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90" name="Rectangle 3">
            <a:extLst>
              <a:ext uri="{FF2B5EF4-FFF2-40B4-BE49-F238E27FC236}">
                <a16:creationId xmlns:a16="http://schemas.microsoft.com/office/drawing/2014/main" id="{2E90E421-3194-2FA4-7FBE-729D275FA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0B7C9589-7087-1932-5DF5-9FD7A43AECD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Electronics Overview</a:t>
            </a:r>
          </a:p>
        </p:txBody>
      </p:sp>
      <p:sp>
        <p:nvSpPr>
          <p:cNvPr id="69635" name="Rectangle 6">
            <a:extLst>
              <a:ext uri="{FF2B5EF4-FFF2-40B4-BE49-F238E27FC236}">
                <a16:creationId xmlns:a16="http://schemas.microsoft.com/office/drawing/2014/main" id="{8761F554-028E-A64E-5A1E-C407644CDE7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Lecture 8</a:t>
            </a:r>
          </a:p>
        </p:txBody>
      </p:sp>
      <p:sp>
        <p:nvSpPr>
          <p:cNvPr id="69636" name="Rectangle 7">
            <a:extLst>
              <a:ext uri="{FF2B5EF4-FFF2-40B4-BE49-F238E27FC236}">
                <a16:creationId xmlns:a16="http://schemas.microsoft.com/office/drawing/2014/main" id="{85A83CEB-6B84-D41C-E307-1DC59AB6FA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5455668-443E-4AFF-8316-4F2C2A71BD88}" type="slidenum">
              <a:rPr lang="en-US" altLang="en-US" sz="1200"/>
              <a:pPr/>
              <a:t>26</a:t>
            </a:fld>
            <a:endParaRPr lang="en-US" altLang="en-US" sz="1200"/>
          </a:p>
        </p:txBody>
      </p:sp>
      <p:sp>
        <p:nvSpPr>
          <p:cNvPr id="69637" name="Rectangle 2">
            <a:extLst>
              <a:ext uri="{FF2B5EF4-FFF2-40B4-BE49-F238E27FC236}">
                <a16:creationId xmlns:a16="http://schemas.microsoft.com/office/drawing/2014/main" id="{7310D9E4-6787-CCE4-3587-AEE6A138277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8" name="Rectangle 3">
            <a:extLst>
              <a:ext uri="{FF2B5EF4-FFF2-40B4-BE49-F238E27FC236}">
                <a16:creationId xmlns:a16="http://schemas.microsoft.com/office/drawing/2014/main" id="{8B570AD1-C704-EBF2-4F7B-243F1FBA89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7344E72A-DD3F-B7D0-F058-AAB702EAB0F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Electronics Overview</a:t>
            </a:r>
          </a:p>
        </p:txBody>
      </p:sp>
      <p:sp>
        <p:nvSpPr>
          <p:cNvPr id="71683" name="Rectangle 6">
            <a:extLst>
              <a:ext uri="{FF2B5EF4-FFF2-40B4-BE49-F238E27FC236}">
                <a16:creationId xmlns:a16="http://schemas.microsoft.com/office/drawing/2014/main" id="{CEF1827A-D47E-83C4-7B7A-752DDF79821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Lecture 8</a:t>
            </a:r>
          </a:p>
        </p:txBody>
      </p:sp>
      <p:sp>
        <p:nvSpPr>
          <p:cNvPr id="71684" name="Rectangle 7">
            <a:extLst>
              <a:ext uri="{FF2B5EF4-FFF2-40B4-BE49-F238E27FC236}">
                <a16:creationId xmlns:a16="http://schemas.microsoft.com/office/drawing/2014/main" id="{2EF62CC3-1697-5B8D-1789-0BA0C7422E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788E1B8-F3CE-4EB2-8BC4-DAB67B612CB3}" type="slidenum">
              <a:rPr lang="en-US" altLang="en-US" sz="1200"/>
              <a:pPr/>
              <a:t>27</a:t>
            </a:fld>
            <a:endParaRPr lang="en-US" altLang="en-US" sz="1200"/>
          </a:p>
        </p:txBody>
      </p:sp>
      <p:sp>
        <p:nvSpPr>
          <p:cNvPr id="71685" name="Rectangle 2">
            <a:extLst>
              <a:ext uri="{FF2B5EF4-FFF2-40B4-BE49-F238E27FC236}">
                <a16:creationId xmlns:a16="http://schemas.microsoft.com/office/drawing/2014/main" id="{3E8A7342-7676-AF64-A2F2-49DFB31DAB2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6" name="Rectangle 3">
            <a:extLst>
              <a:ext uri="{FF2B5EF4-FFF2-40B4-BE49-F238E27FC236}">
                <a16:creationId xmlns:a16="http://schemas.microsoft.com/office/drawing/2014/main" id="{6547E40D-1800-4CB8-A5CC-915A50548A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CFE8A72C-FD33-79AA-03DB-03006A8B8C7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Electronics Overview</a:t>
            </a:r>
          </a:p>
        </p:txBody>
      </p:sp>
      <p:sp>
        <p:nvSpPr>
          <p:cNvPr id="73731" name="Rectangle 6">
            <a:extLst>
              <a:ext uri="{FF2B5EF4-FFF2-40B4-BE49-F238E27FC236}">
                <a16:creationId xmlns:a16="http://schemas.microsoft.com/office/drawing/2014/main" id="{D2649464-9B7E-7866-6A82-6860474ADCD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Lecture 8</a:t>
            </a:r>
          </a:p>
        </p:txBody>
      </p:sp>
      <p:sp>
        <p:nvSpPr>
          <p:cNvPr id="73732" name="Rectangle 7">
            <a:extLst>
              <a:ext uri="{FF2B5EF4-FFF2-40B4-BE49-F238E27FC236}">
                <a16:creationId xmlns:a16="http://schemas.microsoft.com/office/drawing/2014/main" id="{BBA5EF58-EBFE-90AF-A2DD-6682958C2E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EC3E8E4-69B8-423D-A25D-A2052D930773}" type="slidenum">
              <a:rPr lang="en-US" altLang="en-US" sz="1200"/>
              <a:pPr/>
              <a:t>28</a:t>
            </a:fld>
            <a:endParaRPr lang="en-US" altLang="en-US" sz="1200"/>
          </a:p>
        </p:txBody>
      </p:sp>
      <p:sp>
        <p:nvSpPr>
          <p:cNvPr id="73733" name="Rectangle 2">
            <a:extLst>
              <a:ext uri="{FF2B5EF4-FFF2-40B4-BE49-F238E27FC236}">
                <a16:creationId xmlns:a16="http://schemas.microsoft.com/office/drawing/2014/main" id="{F5549312-C9D5-8582-50BC-43204405388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4" name="Rectangle 3">
            <a:extLst>
              <a:ext uri="{FF2B5EF4-FFF2-40B4-BE49-F238E27FC236}">
                <a16:creationId xmlns:a16="http://schemas.microsoft.com/office/drawing/2014/main" id="{CC9C94C5-56B1-1141-0FAE-AE915846C1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FC11BECC-F378-4981-D716-1C54A1E5679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Electronics Overview</a:t>
            </a:r>
          </a:p>
        </p:txBody>
      </p:sp>
      <p:sp>
        <p:nvSpPr>
          <p:cNvPr id="75779" name="Rectangle 6">
            <a:extLst>
              <a:ext uri="{FF2B5EF4-FFF2-40B4-BE49-F238E27FC236}">
                <a16:creationId xmlns:a16="http://schemas.microsoft.com/office/drawing/2014/main" id="{00077450-2B8D-5AC8-9E83-34AB51FE9D9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Lecture 8</a:t>
            </a:r>
          </a:p>
        </p:txBody>
      </p:sp>
      <p:sp>
        <p:nvSpPr>
          <p:cNvPr id="75780" name="Rectangle 7">
            <a:extLst>
              <a:ext uri="{FF2B5EF4-FFF2-40B4-BE49-F238E27FC236}">
                <a16:creationId xmlns:a16="http://schemas.microsoft.com/office/drawing/2014/main" id="{E1771697-F94C-B5D8-7C7B-A89BAD389A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DD5710D-C412-4B8D-BF0C-D0D957FE0535}" type="slidenum">
              <a:rPr lang="en-US" altLang="en-US" sz="1200"/>
              <a:pPr/>
              <a:t>29</a:t>
            </a:fld>
            <a:endParaRPr lang="en-US" altLang="en-US" sz="1200"/>
          </a:p>
        </p:txBody>
      </p:sp>
      <p:sp>
        <p:nvSpPr>
          <p:cNvPr id="75781" name="Rectangle 2">
            <a:extLst>
              <a:ext uri="{FF2B5EF4-FFF2-40B4-BE49-F238E27FC236}">
                <a16:creationId xmlns:a16="http://schemas.microsoft.com/office/drawing/2014/main" id="{BC310558-B932-83A0-8D77-695809CE5B7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2" name="Rectangle 3">
            <a:extLst>
              <a:ext uri="{FF2B5EF4-FFF2-40B4-BE49-F238E27FC236}">
                <a16:creationId xmlns:a16="http://schemas.microsoft.com/office/drawing/2014/main" id="{09E466CB-1288-B54B-167D-0B662B20E2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C9700A0E-32DD-2350-EFD7-6DB8F10F932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Electronics Overview</a:t>
            </a:r>
          </a:p>
        </p:txBody>
      </p:sp>
      <p:sp>
        <p:nvSpPr>
          <p:cNvPr id="77827" name="Rectangle 6">
            <a:extLst>
              <a:ext uri="{FF2B5EF4-FFF2-40B4-BE49-F238E27FC236}">
                <a16:creationId xmlns:a16="http://schemas.microsoft.com/office/drawing/2014/main" id="{6673CC37-7018-DE16-F284-F21174EFCD0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Lecture 8</a:t>
            </a:r>
          </a:p>
        </p:txBody>
      </p:sp>
      <p:sp>
        <p:nvSpPr>
          <p:cNvPr id="77828" name="Rectangle 7">
            <a:extLst>
              <a:ext uri="{FF2B5EF4-FFF2-40B4-BE49-F238E27FC236}">
                <a16:creationId xmlns:a16="http://schemas.microsoft.com/office/drawing/2014/main" id="{B82DD850-8AD7-89F3-65BE-142F68EDFC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B184076-977F-4710-A6B5-83A1EA4C7D2D}" type="slidenum">
              <a:rPr lang="en-US" altLang="en-US" sz="1200"/>
              <a:pPr/>
              <a:t>30</a:t>
            </a:fld>
            <a:endParaRPr lang="en-US" altLang="en-US" sz="1200"/>
          </a:p>
        </p:txBody>
      </p:sp>
      <p:sp>
        <p:nvSpPr>
          <p:cNvPr id="77829" name="Rectangle 2">
            <a:extLst>
              <a:ext uri="{FF2B5EF4-FFF2-40B4-BE49-F238E27FC236}">
                <a16:creationId xmlns:a16="http://schemas.microsoft.com/office/drawing/2014/main" id="{574BE79B-01C9-1161-2822-1BB4FED56B5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30" name="Rectangle 3">
            <a:extLst>
              <a:ext uri="{FF2B5EF4-FFF2-40B4-BE49-F238E27FC236}">
                <a16:creationId xmlns:a16="http://schemas.microsoft.com/office/drawing/2014/main" id="{74AB5681-67DE-481E-18C3-87C7DC62E8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D4C97C65-BA80-415A-406C-E0DFCBB8176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Electronics Overview</a:t>
            </a:r>
          </a:p>
        </p:txBody>
      </p:sp>
      <p:sp>
        <p:nvSpPr>
          <p:cNvPr id="79875" name="Rectangle 6">
            <a:extLst>
              <a:ext uri="{FF2B5EF4-FFF2-40B4-BE49-F238E27FC236}">
                <a16:creationId xmlns:a16="http://schemas.microsoft.com/office/drawing/2014/main" id="{AF8EEB44-A968-BBA9-2098-268DA23D83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Lecture 8</a:t>
            </a:r>
          </a:p>
        </p:txBody>
      </p:sp>
      <p:sp>
        <p:nvSpPr>
          <p:cNvPr id="79876" name="Rectangle 7">
            <a:extLst>
              <a:ext uri="{FF2B5EF4-FFF2-40B4-BE49-F238E27FC236}">
                <a16:creationId xmlns:a16="http://schemas.microsoft.com/office/drawing/2014/main" id="{3F2CF99A-E3DB-3E17-30B1-3908DEA6EA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473773E-7E39-40BB-9A09-6ECCFC8EB39E}" type="slidenum">
              <a:rPr lang="en-US" altLang="en-US" sz="1200"/>
              <a:pPr/>
              <a:t>31</a:t>
            </a:fld>
            <a:endParaRPr lang="en-US" altLang="en-US" sz="1200"/>
          </a:p>
        </p:txBody>
      </p:sp>
      <p:sp>
        <p:nvSpPr>
          <p:cNvPr id="79877" name="Rectangle 2">
            <a:extLst>
              <a:ext uri="{FF2B5EF4-FFF2-40B4-BE49-F238E27FC236}">
                <a16:creationId xmlns:a16="http://schemas.microsoft.com/office/drawing/2014/main" id="{0CA95BF7-15D5-263E-93B6-BF9173C7C2B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8" name="Rectangle 3">
            <a:extLst>
              <a:ext uri="{FF2B5EF4-FFF2-40B4-BE49-F238E27FC236}">
                <a16:creationId xmlns:a16="http://schemas.microsoft.com/office/drawing/2014/main" id="{BD193757-299F-8D47-5A4B-707DA789AC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23F52226-96F4-318F-1E51-316E4A3E3CD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Electronics Overview</a:t>
            </a:r>
          </a:p>
        </p:txBody>
      </p:sp>
      <p:sp>
        <p:nvSpPr>
          <p:cNvPr id="81923" name="Rectangle 6">
            <a:extLst>
              <a:ext uri="{FF2B5EF4-FFF2-40B4-BE49-F238E27FC236}">
                <a16:creationId xmlns:a16="http://schemas.microsoft.com/office/drawing/2014/main" id="{257414C9-B66D-5879-A105-25F2989D17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Lecture 8</a:t>
            </a:r>
          </a:p>
        </p:txBody>
      </p:sp>
      <p:sp>
        <p:nvSpPr>
          <p:cNvPr id="81924" name="Rectangle 7">
            <a:extLst>
              <a:ext uri="{FF2B5EF4-FFF2-40B4-BE49-F238E27FC236}">
                <a16:creationId xmlns:a16="http://schemas.microsoft.com/office/drawing/2014/main" id="{5DB92781-F0AB-2730-5DE5-D576EC9CA7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AD94C2C-0613-4C08-A92B-FDCA5D42B2AB}" type="slidenum">
              <a:rPr lang="en-US" altLang="en-US" sz="1200"/>
              <a:pPr/>
              <a:t>32</a:t>
            </a:fld>
            <a:endParaRPr lang="en-US" altLang="en-US" sz="1200"/>
          </a:p>
        </p:txBody>
      </p:sp>
      <p:sp>
        <p:nvSpPr>
          <p:cNvPr id="81925" name="Rectangle 2">
            <a:extLst>
              <a:ext uri="{FF2B5EF4-FFF2-40B4-BE49-F238E27FC236}">
                <a16:creationId xmlns:a16="http://schemas.microsoft.com/office/drawing/2014/main" id="{467FB86C-9AF0-A0AE-EC44-AE2A929805A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6" name="Rectangle 3">
            <a:extLst>
              <a:ext uri="{FF2B5EF4-FFF2-40B4-BE49-F238E27FC236}">
                <a16:creationId xmlns:a16="http://schemas.microsoft.com/office/drawing/2014/main" id="{1423512E-1883-FC2F-0755-A8B54EAD10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7AE18F31-7EFC-3320-E94E-569C2214626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Electronics Overview</a:t>
            </a:r>
          </a:p>
        </p:txBody>
      </p:sp>
      <p:sp>
        <p:nvSpPr>
          <p:cNvPr id="83971" name="Rectangle 6">
            <a:extLst>
              <a:ext uri="{FF2B5EF4-FFF2-40B4-BE49-F238E27FC236}">
                <a16:creationId xmlns:a16="http://schemas.microsoft.com/office/drawing/2014/main" id="{723D23E3-1787-3FB4-5DCC-A2F1E334D3A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Lecture 8</a:t>
            </a:r>
          </a:p>
        </p:txBody>
      </p:sp>
      <p:sp>
        <p:nvSpPr>
          <p:cNvPr id="83972" name="Rectangle 7">
            <a:extLst>
              <a:ext uri="{FF2B5EF4-FFF2-40B4-BE49-F238E27FC236}">
                <a16:creationId xmlns:a16="http://schemas.microsoft.com/office/drawing/2014/main" id="{250395E7-F643-1400-19F3-09A0AF1322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3706195-ACF2-4423-9C78-9E93633FFAF6}" type="slidenum">
              <a:rPr lang="en-US" altLang="en-US" sz="1200"/>
              <a:pPr/>
              <a:t>33</a:t>
            </a:fld>
            <a:endParaRPr lang="en-US" altLang="en-US" sz="1200"/>
          </a:p>
        </p:txBody>
      </p:sp>
      <p:sp>
        <p:nvSpPr>
          <p:cNvPr id="83973" name="Rectangle 2">
            <a:extLst>
              <a:ext uri="{FF2B5EF4-FFF2-40B4-BE49-F238E27FC236}">
                <a16:creationId xmlns:a16="http://schemas.microsoft.com/office/drawing/2014/main" id="{90D742E8-CE39-985D-0899-0276A9ABC8A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4" name="Rectangle 3">
            <a:extLst>
              <a:ext uri="{FF2B5EF4-FFF2-40B4-BE49-F238E27FC236}">
                <a16:creationId xmlns:a16="http://schemas.microsoft.com/office/drawing/2014/main" id="{C48655B9-24FC-3084-8DF2-6BEF3E5CE3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9413C763-895E-FBB5-0DC8-DE955C64CC8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Electronics Overview</a:t>
            </a:r>
          </a:p>
        </p:txBody>
      </p:sp>
      <p:sp>
        <p:nvSpPr>
          <p:cNvPr id="86019" name="Rectangle 6">
            <a:extLst>
              <a:ext uri="{FF2B5EF4-FFF2-40B4-BE49-F238E27FC236}">
                <a16:creationId xmlns:a16="http://schemas.microsoft.com/office/drawing/2014/main" id="{9B897589-1B1E-8BE5-AD16-0F328C04398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Lecture 8</a:t>
            </a:r>
          </a:p>
        </p:txBody>
      </p:sp>
      <p:sp>
        <p:nvSpPr>
          <p:cNvPr id="86020" name="Rectangle 7">
            <a:extLst>
              <a:ext uri="{FF2B5EF4-FFF2-40B4-BE49-F238E27FC236}">
                <a16:creationId xmlns:a16="http://schemas.microsoft.com/office/drawing/2014/main" id="{6F327110-0028-8B18-BA89-F6768DA8E6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5376842-CB2D-489A-BD2B-E26CFFB0349F}" type="slidenum">
              <a:rPr lang="en-US" altLang="en-US" sz="1200"/>
              <a:pPr/>
              <a:t>34</a:t>
            </a:fld>
            <a:endParaRPr lang="en-US" altLang="en-US" sz="1200"/>
          </a:p>
        </p:txBody>
      </p:sp>
      <p:sp>
        <p:nvSpPr>
          <p:cNvPr id="86021" name="Rectangle 2">
            <a:extLst>
              <a:ext uri="{FF2B5EF4-FFF2-40B4-BE49-F238E27FC236}">
                <a16:creationId xmlns:a16="http://schemas.microsoft.com/office/drawing/2014/main" id="{15BA3192-6B38-A5CA-2992-A802161EB8E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2" name="Rectangle 3">
            <a:extLst>
              <a:ext uri="{FF2B5EF4-FFF2-40B4-BE49-F238E27FC236}">
                <a16:creationId xmlns:a16="http://schemas.microsoft.com/office/drawing/2014/main" id="{8E1D8165-389C-642A-C31D-0A2A0419A1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0090CE6F-37BB-90EB-12B5-4AC58915AC2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Electronics Overview</a:t>
            </a:r>
          </a:p>
        </p:txBody>
      </p:sp>
      <p:sp>
        <p:nvSpPr>
          <p:cNvPr id="88067" name="Rectangle 6">
            <a:extLst>
              <a:ext uri="{FF2B5EF4-FFF2-40B4-BE49-F238E27FC236}">
                <a16:creationId xmlns:a16="http://schemas.microsoft.com/office/drawing/2014/main" id="{B6D7A230-8D77-2E55-D2F5-47FF32F64FF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Lecture 8</a:t>
            </a:r>
          </a:p>
        </p:txBody>
      </p:sp>
      <p:sp>
        <p:nvSpPr>
          <p:cNvPr id="88068" name="Rectangle 7">
            <a:extLst>
              <a:ext uri="{FF2B5EF4-FFF2-40B4-BE49-F238E27FC236}">
                <a16:creationId xmlns:a16="http://schemas.microsoft.com/office/drawing/2014/main" id="{0B364D41-E50E-B53F-2331-D874E23392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95E2F16-4E0E-4976-9C4C-D57C5BA8F6F2}" type="slidenum">
              <a:rPr lang="en-US" altLang="en-US" sz="1200"/>
              <a:pPr/>
              <a:t>35</a:t>
            </a:fld>
            <a:endParaRPr lang="en-US" altLang="en-US" sz="1200"/>
          </a:p>
        </p:txBody>
      </p:sp>
      <p:sp>
        <p:nvSpPr>
          <p:cNvPr id="88069" name="Rectangle 2">
            <a:extLst>
              <a:ext uri="{FF2B5EF4-FFF2-40B4-BE49-F238E27FC236}">
                <a16:creationId xmlns:a16="http://schemas.microsoft.com/office/drawing/2014/main" id="{39DA3A5D-D6A6-4EBC-2FFB-0B634660EE4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70" name="Rectangle 3">
            <a:extLst>
              <a:ext uri="{FF2B5EF4-FFF2-40B4-BE49-F238E27FC236}">
                <a16:creationId xmlns:a16="http://schemas.microsoft.com/office/drawing/2014/main" id="{F2BE0019-82B6-E548-D088-DBE795CA05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C39FF3F0-2690-B253-78C8-0C53CB249CE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Electronics Overview</a:t>
            </a:r>
          </a:p>
        </p:txBody>
      </p:sp>
      <p:sp>
        <p:nvSpPr>
          <p:cNvPr id="90115" name="Rectangle 6">
            <a:extLst>
              <a:ext uri="{FF2B5EF4-FFF2-40B4-BE49-F238E27FC236}">
                <a16:creationId xmlns:a16="http://schemas.microsoft.com/office/drawing/2014/main" id="{1450146D-1C07-212F-2522-B938723E62F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Lecture 8</a:t>
            </a:r>
          </a:p>
        </p:txBody>
      </p:sp>
      <p:sp>
        <p:nvSpPr>
          <p:cNvPr id="90116" name="Rectangle 7">
            <a:extLst>
              <a:ext uri="{FF2B5EF4-FFF2-40B4-BE49-F238E27FC236}">
                <a16:creationId xmlns:a16="http://schemas.microsoft.com/office/drawing/2014/main" id="{215210E4-ED2A-201A-94CA-76CC6F2BBB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4EEB545-FAC1-47EA-B1C4-CC3511D97F91}" type="slidenum">
              <a:rPr lang="en-US" altLang="en-US" sz="1200"/>
              <a:pPr/>
              <a:t>36</a:t>
            </a:fld>
            <a:endParaRPr lang="en-US" altLang="en-US" sz="1200"/>
          </a:p>
        </p:txBody>
      </p:sp>
      <p:sp>
        <p:nvSpPr>
          <p:cNvPr id="90117" name="Rectangle 2">
            <a:extLst>
              <a:ext uri="{FF2B5EF4-FFF2-40B4-BE49-F238E27FC236}">
                <a16:creationId xmlns:a16="http://schemas.microsoft.com/office/drawing/2014/main" id="{5572BFB2-5124-6299-F291-D4B4FD15E18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8" name="Rectangle 3">
            <a:extLst>
              <a:ext uri="{FF2B5EF4-FFF2-40B4-BE49-F238E27FC236}">
                <a16:creationId xmlns:a16="http://schemas.microsoft.com/office/drawing/2014/main" id="{F33A3C1B-8289-E378-D441-4B2E6E8EFC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6B332C-91BE-D0FE-590D-7BC10365FA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Winter 2012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2D36F5E-DC31-61CA-3248-20670866ED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UCSD: Physics 121; 2012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E45EA76-A5C9-34D0-769C-4080C8A0B4E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134406-ECBB-4412-ABFD-B185B91CC8C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2868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BBB37A6-5DDD-77D8-5FBA-3301D47F9F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Winter 2012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287E210-1707-1B30-8C11-FEA57922AE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UCSD: Physics 121; 2012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0CEF97E-D251-F286-C60A-6A79540564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F548C5-DE63-4784-B145-D2D8CD10AD2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7121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8EFBDA-D3D0-157F-6EF8-B6CF4911D4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Winter 2012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559CA9D-8DD3-3F00-412A-4C92F90287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UCSD: Physics 121; 2012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06C2A58-4C1D-BB6D-A0FD-679E28D480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36D14D-4D9A-4B47-85BC-21674E618B3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563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19200"/>
            <a:ext cx="38100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8100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A77A08-4EB5-55EC-27C1-5D1CCDEAD5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Winter 2012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2A9120-0635-605E-CADE-708136215A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UCSD: Physics 121; 2012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5BF786-B6F8-9B81-7278-2CB4A86FD2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830C4E-1298-4C16-B0B6-263014D3E02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3908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1D5BD74-FFF0-3215-74DD-3FF016E834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Winter 2012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BDCB15D-B298-9B52-114B-F75CA80366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UCSD: Physics 121; 2012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1FC32BA-F853-5CBE-8A66-3C1D063861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C66EEE-54FB-4A69-8159-61904FC5464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5139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16285B4-0A0D-3BEA-1C0E-BA2B18926A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Winter 2012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5921A2E-A8B8-10EB-5BDB-3DEDF5ECF7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UCSD: Physics 121; 2012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04A3C11-AAA3-FB6D-1549-537DADE3FA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EC9BD1-7A80-4EA9-86FA-EEC77857925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4401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6B167CD-A3EA-D1F3-D7AD-B6BC59A026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Winter 2012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0D1AEA8-51EC-B4E5-5B9F-4341EED652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UCSD: Physics 121; 2012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228F54F-C2DD-21CC-17F0-1804225248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614DE7-065D-4D1A-BA80-7CCD9992096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8338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3EF9C7-FB5A-DF57-4D14-F7E46130B0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Winter 2012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0D94B5-89BD-1507-242E-945E388511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UCSD: Physics 121; 2012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4C07F3-FDDF-B5B1-818B-F2A61589F9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3421F1-1129-41F6-A767-87010F911A1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5451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3BCF95-9391-9518-0973-96829D5B18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Winter 2012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DB4295-1F85-F694-3AFB-33777C25B8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UCSD: Physics 121; 2012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52F5A4-CBC8-F578-F817-4154A39602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E1535A-9BE5-4D0B-AB45-93C48577B5F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0543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A9B0829-1331-4E3D-E057-8C470EA70C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Winter 2012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7D7B9A6-00ED-8464-3BAF-7496D918E8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UCSD: Physics 121; 2012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87F991B-DCA1-27E7-D0FD-9567E18741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A6DFBC-8294-4C23-B2B4-EF2907F691B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0212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76200"/>
            <a:ext cx="19431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76200"/>
            <a:ext cx="56769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4C73484-9AE6-4E73-1052-44406CBFCC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Winter 2012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BBD454F-0875-98C8-0179-353BAF83D8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UCSD: Physics 121; 2012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86C9C9B-7F19-80A4-6427-06DB98A5D8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D8C160-B923-4C55-90AC-A4CB0433BCD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4387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62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219200"/>
            <a:ext cx="38100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8100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9F2FAC-EE4F-7BB1-2C83-6C27FB96CE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Winter 2012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3802EA-BEDB-137D-D0CE-68CB4AD3C9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UCSD: Physics 121; 2012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622162-DC40-4932-9B93-D09DDCEAA4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B0B340-68F6-41ED-A725-8A38B5AC186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52587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62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19200"/>
            <a:ext cx="38100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219200"/>
            <a:ext cx="38100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9423FA-D3DD-186C-C62F-F09EFED4CE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Winter 2012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482854-E3C0-F7A3-4325-A10A7B8D0A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UCSD: Physics 121; 2012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0A2D94-DBF7-68E6-1EDC-2E8020BDB5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A75FFF-3574-4136-81EE-0648F4EFF40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9700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F4CAE74-3551-9DB7-17C3-5A643F88C1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762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9EF43FF-A105-88A9-1509-A55D2A6626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19200"/>
            <a:ext cx="77724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EB7B20F-2CB0-9B42-C6A5-12C86E9CF71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5532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r>
              <a:rPr lang="en-US" altLang="en-US"/>
              <a:t>Winter 2012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AEB7975-5E52-F4A0-84D0-BA47EE15EF4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400800" y="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r>
              <a:rPr lang="en-US" altLang="en-US"/>
              <a:t>UCSD: Physics 121; 2012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6B284EA-62CD-1407-2B40-55806D24128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5532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77A37A0-E05F-4FD5-BBC9-E878501F4E4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Arial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Arial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Arial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Arial" charset="0"/>
          <a:ea typeface="ＭＳ Ｐゴシック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Arial" charset="0"/>
          <a:ea typeface="ＭＳ Ｐゴシック" charset="-128"/>
          <a:cs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Arial" charset="0"/>
          <a:ea typeface="ＭＳ Ｐゴシック" charset="-128"/>
          <a:cs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Arial" charset="0"/>
          <a:ea typeface="ＭＳ Ｐゴシック" charset="-128"/>
          <a:cs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Arial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effectLst>
            <a:outerShdw blurRad="38100" dist="38100" dir="2700000" algn="tl">
              <a:srgbClr val="DDDDDD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Rectangle 6">
            <a:extLst>
              <a:ext uri="{FF2B5EF4-FFF2-40B4-BE49-F238E27FC236}">
                <a16:creationId xmlns:a16="http://schemas.microsoft.com/office/drawing/2014/main" id="{DD453758-43E6-95CF-9590-BC1F6407243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42672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Electronics Overview</a:t>
            </a:r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4C35A540-69CF-5A72-37FD-7D9E281360E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5486400"/>
            <a:ext cx="6400800" cy="990600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Basic Circuits, Power Supplies,</a:t>
            </a:r>
          </a:p>
          <a:p>
            <a:pPr eaLnBrk="1" hangingPunct="1">
              <a:defRPr/>
            </a:pPr>
            <a:r>
              <a:rPr lang="en-US"/>
              <a:t>Transistors, Cable Impedance</a:t>
            </a:r>
          </a:p>
        </p:txBody>
      </p:sp>
      <p:pic>
        <p:nvPicPr>
          <p:cNvPr id="17412" name="Picture 9" descr="mr">
            <a:extLst>
              <a:ext uri="{FF2B5EF4-FFF2-40B4-BE49-F238E27FC236}">
                <a16:creationId xmlns:a16="http://schemas.microsoft.com/office/drawing/2014/main" id="{2D95222D-A952-AB53-8843-EFBE5E687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0413" y="381000"/>
            <a:ext cx="5081587" cy="397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3" name="AutoShape 10">
            <a:extLst>
              <a:ext uri="{FF2B5EF4-FFF2-40B4-BE49-F238E27FC236}">
                <a16:creationId xmlns:a16="http://schemas.microsoft.com/office/drawing/2014/main" id="{1969741C-1F5E-C079-1F69-61AC4507A4BD}"/>
              </a:ext>
            </a:extLst>
          </p:cNvPr>
          <p:cNvSpPr>
            <a:spLocks/>
          </p:cNvSpPr>
          <p:nvPr/>
        </p:nvSpPr>
        <p:spPr bwMode="auto">
          <a:xfrm>
            <a:off x="7010400" y="2895600"/>
            <a:ext cx="152400" cy="838200"/>
          </a:xfrm>
          <a:prstGeom prst="rightBrace">
            <a:avLst>
              <a:gd name="adj1" fmla="val 458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7414" name="Text Box 11">
            <a:extLst>
              <a:ext uri="{FF2B5EF4-FFF2-40B4-BE49-F238E27FC236}">
                <a16:creationId xmlns:a16="http://schemas.microsoft.com/office/drawing/2014/main" id="{286C11A3-BAC6-8395-A4B1-9245B57C26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3124200"/>
            <a:ext cx="13033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/>
              <a:t>diode bridge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Date Placeholder 3">
            <a:extLst>
              <a:ext uri="{FF2B5EF4-FFF2-40B4-BE49-F238E27FC236}">
                <a16:creationId xmlns:a16="http://schemas.microsoft.com/office/drawing/2014/main" id="{88696BD5-DD35-4163-42FC-FACDC7CCAF9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Winter 2012</a:t>
            </a:r>
          </a:p>
        </p:txBody>
      </p:sp>
      <p:sp>
        <p:nvSpPr>
          <p:cNvPr id="19459" name="Footer Placeholder 4">
            <a:extLst>
              <a:ext uri="{FF2B5EF4-FFF2-40B4-BE49-F238E27FC236}">
                <a16:creationId xmlns:a16="http://schemas.microsoft.com/office/drawing/2014/main" id="{98218FE7-D126-111B-5396-DE5DF0665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UCSD: Physics 121; 2012</a:t>
            </a:r>
          </a:p>
        </p:txBody>
      </p:sp>
      <p:sp>
        <p:nvSpPr>
          <p:cNvPr id="19460" name="Slide Number Placeholder 5">
            <a:extLst>
              <a:ext uri="{FF2B5EF4-FFF2-40B4-BE49-F238E27FC236}">
                <a16:creationId xmlns:a16="http://schemas.microsoft.com/office/drawing/2014/main" id="{FAE0747D-9B6A-9BFE-922D-B0DF46DF7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08C455C-6C76-43E1-905C-E5E7B302C752}" type="slidenum">
              <a:rPr lang="en-US" altLang="en-US" sz="1400"/>
              <a:pPr/>
              <a:t>2</a:t>
            </a:fld>
            <a:endParaRPr lang="en-US" altLang="en-US" sz="1400"/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818321E8-D15E-A39A-AB16-8E3796E027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Basic Circuit Analysis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6F0DB8FB-357D-27F8-8B4B-D5D24E3D4B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What we won’t do:</a:t>
            </a:r>
          </a:p>
          <a:p>
            <a:pPr lvl="1" eaLnBrk="1" hangingPunct="1"/>
            <a:r>
              <a:rPr lang="en-US" altLang="en-US"/>
              <a:t>common electronics-class things: RLC, filters, detailed analysis</a:t>
            </a:r>
          </a:p>
          <a:p>
            <a:pPr eaLnBrk="1" hangingPunct="1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What we will do:</a:t>
            </a:r>
          </a:p>
          <a:p>
            <a:pPr lvl="1" eaLnBrk="1" hangingPunct="1"/>
            <a:r>
              <a:rPr lang="en-US" altLang="en-US"/>
              <a:t>set out basic relations</a:t>
            </a:r>
          </a:p>
          <a:p>
            <a:pPr lvl="1" eaLnBrk="1" hangingPunct="1"/>
            <a:r>
              <a:rPr lang="en-US" altLang="en-US"/>
              <a:t>look at a few examples of fundamental importance (mostly resistive circuits) </a:t>
            </a:r>
          </a:p>
          <a:p>
            <a:pPr lvl="1" eaLnBrk="1" hangingPunct="1"/>
            <a:r>
              <a:rPr lang="en-US" altLang="en-US"/>
              <a:t>look at diodes, voltage regulation, transistors</a:t>
            </a:r>
          </a:p>
          <a:p>
            <a:pPr lvl="1" eaLnBrk="1" hangingPunct="1"/>
            <a:r>
              <a:rPr lang="en-US" altLang="en-US"/>
              <a:t>discuss impedances (cable, output, etc.)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Date Placeholder 3">
            <a:extLst>
              <a:ext uri="{FF2B5EF4-FFF2-40B4-BE49-F238E27FC236}">
                <a16:creationId xmlns:a16="http://schemas.microsoft.com/office/drawing/2014/main" id="{5D5768F7-13D2-86E8-4978-6306459907A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Winter 2012</a:t>
            </a:r>
          </a:p>
        </p:txBody>
      </p:sp>
      <p:sp>
        <p:nvSpPr>
          <p:cNvPr id="21509" name="Footer Placeholder 4">
            <a:extLst>
              <a:ext uri="{FF2B5EF4-FFF2-40B4-BE49-F238E27FC236}">
                <a16:creationId xmlns:a16="http://schemas.microsoft.com/office/drawing/2014/main" id="{2719CE8A-5CE8-7880-1BE3-742C983E3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UCSD: Physics 121; 2012</a:t>
            </a:r>
          </a:p>
        </p:txBody>
      </p:sp>
      <p:sp>
        <p:nvSpPr>
          <p:cNvPr id="21510" name="Slide Number Placeholder 5">
            <a:extLst>
              <a:ext uri="{FF2B5EF4-FFF2-40B4-BE49-F238E27FC236}">
                <a16:creationId xmlns:a16="http://schemas.microsoft.com/office/drawing/2014/main" id="{E2566E61-076B-89B2-DB45-1FCCFB3B9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CEF709D-67F9-47E6-AFB0-46BDFDF5DE90}" type="slidenum">
              <a:rPr lang="en-US" altLang="en-US" sz="1400"/>
              <a:pPr/>
              <a:t>3</a:t>
            </a:fld>
            <a:endParaRPr lang="en-US" altLang="en-US" sz="1400"/>
          </a:p>
        </p:txBody>
      </p:sp>
      <p:sp>
        <p:nvSpPr>
          <p:cNvPr id="71682" name="Rectangle 2">
            <a:extLst>
              <a:ext uri="{FF2B5EF4-FFF2-40B4-BE49-F238E27FC236}">
                <a16:creationId xmlns:a16="http://schemas.microsoft.com/office/drawing/2014/main" id="{5CFEC3C6-3C92-375D-26D9-292E49E152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The Basic Relations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6B54E3FC-5E08-D611-A68C-8B7B52FB57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i="1">
                <a:effectLst>
                  <a:outerShdw blurRad="38100" dist="38100" dir="2700000" algn="tl">
                    <a:srgbClr val="C0C0C0"/>
                  </a:outerShdw>
                </a:effectLst>
              </a:rPr>
              <a:t>V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is voltage (volts: V); </a:t>
            </a:r>
            <a:r>
              <a:rPr lang="en-US" altLang="en-US" i="1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is current (amps: A); </a:t>
            </a:r>
            <a:r>
              <a:rPr lang="en-US" altLang="en-US" i="1">
                <a:effectLst>
                  <a:outerShdw blurRad="38100" dist="38100" dir="2700000" algn="tl">
                    <a:srgbClr val="C0C0C0"/>
                  </a:outerShdw>
                </a:effectLst>
              </a:rPr>
              <a:t>R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is resistance (ohms: 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); </a:t>
            </a:r>
            <a:r>
              <a:rPr lang="en-US" altLang="en-US" i="1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C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 is capacitance (farads: F); </a:t>
            </a:r>
            <a:r>
              <a:rPr lang="en-US" altLang="en-US" i="1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L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 is inductance (henrys: H)</a:t>
            </a:r>
          </a:p>
          <a:p>
            <a:pPr eaLnBrk="1" hangingPunct="1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Ohm’s Law: </a:t>
            </a:r>
            <a:r>
              <a:rPr lang="en-US" altLang="en-US" i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V</a:t>
            </a:r>
            <a:r>
              <a:rPr lang="en-US" altLang="en-US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 = </a:t>
            </a:r>
            <a:r>
              <a:rPr lang="en-US" altLang="en-US" i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IR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; </a:t>
            </a:r>
            <a:r>
              <a:rPr lang="en-US" altLang="en-US" i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V</a:t>
            </a:r>
            <a:r>
              <a:rPr lang="en-US" altLang="en-US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 =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          ; </a:t>
            </a:r>
            <a:r>
              <a:rPr lang="en-US" altLang="en-US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V</a:t>
            </a:r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 = </a:t>
            </a:r>
            <a:r>
              <a:rPr lang="en-US" altLang="en-US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L</a:t>
            </a:r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(</a:t>
            </a:r>
            <a:r>
              <a:rPr lang="en-US" altLang="en-US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dI</a:t>
            </a:r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/</a:t>
            </a:r>
            <a:r>
              <a:rPr lang="en-US" altLang="en-US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dt</a:t>
            </a:r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sym typeface="Symbol" panose="05050102010706020507" pitchFamily="18" charset="2"/>
            </a:endParaRPr>
          </a:p>
          <a:p>
            <a:pPr eaLnBrk="1" hangingPunct="1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Power: </a:t>
            </a:r>
            <a:r>
              <a:rPr lang="en-US" altLang="en-US" i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P</a:t>
            </a:r>
            <a:r>
              <a:rPr lang="en-US" alt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 = </a:t>
            </a:r>
            <a:r>
              <a:rPr lang="en-US" altLang="en-US" i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IV</a:t>
            </a:r>
            <a:r>
              <a:rPr lang="en-US" alt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 = </a:t>
            </a:r>
            <a:r>
              <a:rPr lang="en-US" altLang="en-US" i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V</a:t>
            </a:r>
            <a:r>
              <a:rPr lang="en-US" altLang="en-US" baseline="300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2</a:t>
            </a:r>
            <a:r>
              <a:rPr lang="en-US" alt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/</a:t>
            </a:r>
            <a:r>
              <a:rPr lang="en-US" altLang="en-US" i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R</a:t>
            </a:r>
            <a:r>
              <a:rPr lang="en-US" alt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 = </a:t>
            </a:r>
            <a:r>
              <a:rPr lang="en-US" altLang="en-US" i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I</a:t>
            </a:r>
            <a:r>
              <a:rPr lang="en-US" altLang="en-US" baseline="300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2</a:t>
            </a:r>
            <a:r>
              <a:rPr lang="en-US" altLang="en-US" i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R</a:t>
            </a:r>
            <a:endParaRPr lang="en-US" altLang="en-US" i="1">
              <a:effectLst>
                <a:outerShdw blurRad="38100" dist="38100" dir="2700000" algn="tl">
                  <a:srgbClr val="C0C0C0"/>
                </a:outerShdw>
              </a:effectLst>
              <a:sym typeface="Symbol" panose="05050102010706020507" pitchFamily="18" charset="2"/>
            </a:endParaRPr>
          </a:p>
          <a:p>
            <a:pPr eaLnBrk="1" hangingPunct="1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Resistors and inductors in series add</a:t>
            </a:r>
          </a:p>
          <a:p>
            <a:pPr eaLnBrk="1" hangingPunct="1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Capacitors in parallel add</a:t>
            </a:r>
          </a:p>
          <a:p>
            <a:pPr eaLnBrk="1" hangingPunct="1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Resistors and inductors in parallel, and capacitors in series add according to:</a:t>
            </a:r>
          </a:p>
          <a:p>
            <a:pPr eaLnBrk="1" hangingPunct="1"/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21506" name="Object 2">
            <a:extLst>
              <a:ext uri="{FF2B5EF4-FFF2-40B4-BE49-F238E27FC236}">
                <a16:creationId xmlns:a16="http://schemas.microsoft.com/office/drawing/2014/main" id="{BC2A468E-1DE7-3244-DEC0-F149CEEB10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41825" y="2346325"/>
          <a:ext cx="739775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95300" imgH="368300" progId="Equation.3">
                  <p:embed/>
                </p:oleObj>
              </mc:Choice>
              <mc:Fallback>
                <p:oleObj name="Equation" r:id="rId3" imgW="495300" imgH="3683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1825" y="2346325"/>
                        <a:ext cx="739775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3">
            <a:extLst>
              <a:ext uri="{FF2B5EF4-FFF2-40B4-BE49-F238E27FC236}">
                <a16:creationId xmlns:a16="http://schemas.microsoft.com/office/drawing/2014/main" id="{1DDED3E9-FE98-F447-CCF6-2D077A0F72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5029200"/>
          <a:ext cx="2376488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62100" imgH="406400" progId="Equation.3">
                  <p:embed/>
                </p:oleObj>
              </mc:Choice>
              <mc:Fallback>
                <p:oleObj name="Equation" r:id="rId4" imgW="1562100" imgH="406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5029200"/>
                        <a:ext cx="2376488" cy="617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Date Placeholder 4">
            <a:extLst>
              <a:ext uri="{FF2B5EF4-FFF2-40B4-BE49-F238E27FC236}">
                <a16:creationId xmlns:a16="http://schemas.microsoft.com/office/drawing/2014/main" id="{959F6655-FB2F-F2F6-B77B-E958E10DD25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Winter 2012</a:t>
            </a:r>
          </a:p>
        </p:txBody>
      </p:sp>
      <p:sp>
        <p:nvSpPr>
          <p:cNvPr id="23555" name="Footer Placeholder 5">
            <a:extLst>
              <a:ext uri="{FF2B5EF4-FFF2-40B4-BE49-F238E27FC236}">
                <a16:creationId xmlns:a16="http://schemas.microsoft.com/office/drawing/2014/main" id="{F87662BC-E536-E5E0-2A64-D1485F8AA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UCSD: Physics 121; 2012</a:t>
            </a:r>
          </a:p>
        </p:txBody>
      </p:sp>
      <p:sp>
        <p:nvSpPr>
          <p:cNvPr id="23556" name="Slide Number Placeholder 6">
            <a:extLst>
              <a:ext uri="{FF2B5EF4-FFF2-40B4-BE49-F238E27FC236}">
                <a16:creationId xmlns:a16="http://schemas.microsoft.com/office/drawing/2014/main" id="{99224BF1-8DD8-1960-2A4E-85F12EB6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2F56F2A-EA04-4DA2-8992-A24A722F648C}" type="slidenum">
              <a:rPr lang="en-US" altLang="en-US" sz="1400"/>
              <a:pPr/>
              <a:t>4</a:t>
            </a:fld>
            <a:endParaRPr lang="en-US" altLang="en-US" sz="1400"/>
          </a:p>
        </p:txBody>
      </p:sp>
      <p:sp>
        <p:nvSpPr>
          <p:cNvPr id="72706" name="Rectangle 2">
            <a:extLst>
              <a:ext uri="{FF2B5EF4-FFF2-40B4-BE49-F238E27FC236}">
                <a16:creationId xmlns:a16="http://schemas.microsoft.com/office/drawing/2014/main" id="{DBB6178C-C7C3-4845-7164-279D872052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Example: Voltage divider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553A15FC-EEA1-D7CB-6FF1-BEA6021CC26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219200"/>
            <a:ext cx="4800600" cy="5029200"/>
          </a:xfrm>
        </p:spPr>
        <p:txBody>
          <a:bodyPr/>
          <a:lstStyle/>
          <a:p>
            <a:pPr eaLnBrk="1" hangingPunct="1"/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Voltage dividers are a classic way to set a voltage</a:t>
            </a:r>
          </a:p>
          <a:p>
            <a:pPr eaLnBrk="1" hangingPunct="1"/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Works on the principle that all charge flowing through the first resistor goes through the second</a:t>
            </a:r>
          </a:p>
          <a:p>
            <a:pPr lvl="1" eaLnBrk="1" hangingPunct="1"/>
            <a:r>
              <a:rPr lang="en-US" altLang="en-US" sz="1800"/>
              <a:t>so </a:t>
            </a:r>
            <a:r>
              <a:rPr lang="en-US" altLang="en-US" sz="1800">
                <a:sym typeface="Symbol" panose="05050102010706020507" pitchFamily="18" charset="2"/>
              </a:rPr>
              <a:t></a:t>
            </a:r>
            <a:r>
              <a:rPr lang="en-US" altLang="en-US" sz="1800" i="1">
                <a:sym typeface="Symbol" panose="05050102010706020507" pitchFamily="18" charset="2"/>
              </a:rPr>
              <a:t>V</a:t>
            </a:r>
            <a:r>
              <a:rPr lang="en-US" altLang="en-US" sz="1800">
                <a:sym typeface="Symbol" panose="05050102010706020507" pitchFamily="18" charset="2"/>
              </a:rPr>
              <a:t>  </a:t>
            </a:r>
            <a:r>
              <a:rPr lang="en-US" altLang="en-US" sz="1800" i="1">
                <a:sym typeface="Symbol" panose="05050102010706020507" pitchFamily="18" charset="2"/>
              </a:rPr>
              <a:t>R</a:t>
            </a:r>
            <a:r>
              <a:rPr lang="en-US" altLang="en-US" sz="1800">
                <a:sym typeface="Symbol" panose="05050102010706020507" pitchFamily="18" charset="2"/>
              </a:rPr>
              <a:t>-value</a:t>
            </a:r>
            <a:endParaRPr lang="en-US" altLang="en-US" sz="1800"/>
          </a:p>
          <a:p>
            <a:pPr lvl="1" eaLnBrk="1" hangingPunct="1"/>
            <a:r>
              <a:rPr lang="en-US" altLang="en-US" sz="1800"/>
              <a:t>provided any load at output is negligible: otherwise some current goes there too </a:t>
            </a:r>
          </a:p>
          <a:p>
            <a:pPr eaLnBrk="1" hangingPunct="1"/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So </a:t>
            </a:r>
            <a:r>
              <a:rPr lang="en-US" altLang="en-US" sz="2000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out</a:t>
            </a:r>
            <a:r>
              <a:rPr lang="en-US" altLang="en-US" sz="2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= </a:t>
            </a:r>
            <a:r>
              <a:rPr lang="en-US" altLang="en-US" sz="2000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V</a:t>
            </a:r>
            <a:r>
              <a:rPr lang="en-US" altLang="en-US" sz="2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altLang="en-US" sz="2000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</a:t>
            </a:r>
            <a:r>
              <a:rPr lang="en-US" altLang="en-US" sz="2000" baseline="-25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altLang="en-US" sz="2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/(</a:t>
            </a:r>
            <a:r>
              <a:rPr lang="en-US" altLang="en-US" sz="2000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</a:t>
            </a:r>
            <a:r>
              <a:rPr lang="en-US" altLang="en-US" sz="2000" baseline="-25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en-US" sz="2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+ </a:t>
            </a:r>
            <a:r>
              <a:rPr lang="en-US" altLang="en-US" sz="2000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</a:t>
            </a:r>
            <a:r>
              <a:rPr lang="en-US" altLang="en-US" sz="2000" baseline="-25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altLang="en-US" sz="2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))</a:t>
            </a:r>
          </a:p>
          <a:p>
            <a:pPr eaLnBrk="1" hangingPunct="1"/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R</a:t>
            </a:r>
            <a:r>
              <a:rPr lang="en-US" altLang="en-US" sz="2000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 here is a variable resistor, or </a:t>
            </a:r>
            <a:r>
              <a:rPr lang="en-US" altLang="en-US" sz="2000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potentiometer</a:t>
            </a:r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, or “pot”</a:t>
            </a:r>
          </a:p>
          <a:p>
            <a:pPr lvl="1" eaLnBrk="1" hangingPunct="1"/>
            <a:r>
              <a:rPr lang="en-US" altLang="en-US" sz="1800"/>
              <a:t>typically three terminals: </a:t>
            </a:r>
            <a:r>
              <a:rPr lang="en-US" altLang="en-US" sz="1800" i="1"/>
              <a:t>R</a:t>
            </a:r>
            <a:r>
              <a:rPr lang="en-US" altLang="en-US" sz="1800" baseline="-25000"/>
              <a:t>12</a:t>
            </a:r>
            <a:r>
              <a:rPr lang="en-US" altLang="en-US" sz="1800"/>
              <a:t> is fixed, tap slides along to vary </a:t>
            </a:r>
            <a:r>
              <a:rPr lang="en-US" altLang="en-US" sz="1800" i="1"/>
              <a:t>R</a:t>
            </a:r>
            <a:r>
              <a:rPr lang="en-US" altLang="en-US" sz="1800" baseline="-25000"/>
              <a:t>13</a:t>
            </a:r>
            <a:r>
              <a:rPr lang="en-US" altLang="en-US" sz="1800"/>
              <a:t> and </a:t>
            </a:r>
            <a:r>
              <a:rPr lang="en-US" altLang="en-US" sz="1800" i="1"/>
              <a:t>R</a:t>
            </a:r>
            <a:r>
              <a:rPr lang="en-US" altLang="en-US" sz="1800" baseline="-25000"/>
              <a:t>23</a:t>
            </a:r>
            <a:r>
              <a:rPr lang="en-US" altLang="en-US" sz="1800"/>
              <a:t>, though </a:t>
            </a:r>
            <a:r>
              <a:rPr lang="en-US" altLang="en-US" sz="1800" i="1"/>
              <a:t>R</a:t>
            </a:r>
            <a:r>
              <a:rPr lang="en-US" altLang="en-US" sz="1800" baseline="-25000"/>
              <a:t>13</a:t>
            </a:r>
            <a:r>
              <a:rPr lang="en-US" altLang="en-US" sz="1800"/>
              <a:t> + </a:t>
            </a:r>
            <a:r>
              <a:rPr lang="en-US" altLang="en-US" sz="1800" i="1"/>
              <a:t>R</a:t>
            </a:r>
            <a:r>
              <a:rPr lang="en-US" altLang="en-US" sz="1800" baseline="-25000"/>
              <a:t>23</a:t>
            </a:r>
            <a:r>
              <a:rPr lang="en-US" altLang="en-US" sz="1800"/>
              <a:t> = </a:t>
            </a:r>
            <a:r>
              <a:rPr lang="en-US" altLang="en-US" sz="1800" i="1"/>
              <a:t>R</a:t>
            </a:r>
            <a:r>
              <a:rPr lang="en-US" altLang="en-US" sz="1800" baseline="-25000"/>
              <a:t>12</a:t>
            </a:r>
            <a:r>
              <a:rPr lang="en-US" altLang="en-US" sz="1800"/>
              <a:t> always</a:t>
            </a:r>
          </a:p>
        </p:txBody>
      </p:sp>
      <p:sp>
        <p:nvSpPr>
          <p:cNvPr id="23559" name="Freeform 7">
            <a:extLst>
              <a:ext uri="{FF2B5EF4-FFF2-40B4-BE49-F238E27FC236}">
                <a16:creationId xmlns:a16="http://schemas.microsoft.com/office/drawing/2014/main" id="{744AECF3-D7E6-315D-96B1-022B114539BC}"/>
              </a:ext>
            </a:extLst>
          </p:cNvPr>
          <p:cNvSpPr>
            <a:spLocks/>
          </p:cNvSpPr>
          <p:nvPr/>
        </p:nvSpPr>
        <p:spPr bwMode="auto">
          <a:xfrm>
            <a:off x="7315200" y="2133600"/>
            <a:ext cx="152400" cy="762000"/>
          </a:xfrm>
          <a:custGeom>
            <a:avLst/>
            <a:gdLst>
              <a:gd name="T0" fmla="*/ 120967500 w 96"/>
              <a:gd name="T1" fmla="*/ 0 h 480"/>
              <a:gd name="T2" fmla="*/ 120967500 w 96"/>
              <a:gd name="T3" fmla="*/ 241935000 h 480"/>
              <a:gd name="T4" fmla="*/ 241935000 w 96"/>
              <a:gd name="T5" fmla="*/ 362902500 h 480"/>
              <a:gd name="T6" fmla="*/ 0 w 96"/>
              <a:gd name="T7" fmla="*/ 483870000 h 480"/>
              <a:gd name="T8" fmla="*/ 241935000 w 96"/>
              <a:gd name="T9" fmla="*/ 604837500 h 480"/>
              <a:gd name="T10" fmla="*/ 0 w 96"/>
              <a:gd name="T11" fmla="*/ 725805000 h 480"/>
              <a:gd name="T12" fmla="*/ 241935000 w 96"/>
              <a:gd name="T13" fmla="*/ 846772500 h 480"/>
              <a:gd name="T14" fmla="*/ 0 w 96"/>
              <a:gd name="T15" fmla="*/ 967740000 h 480"/>
              <a:gd name="T16" fmla="*/ 120967500 w 96"/>
              <a:gd name="T17" fmla="*/ 1088707500 h 480"/>
              <a:gd name="T18" fmla="*/ 120967500 w 96"/>
              <a:gd name="T19" fmla="*/ 1209675000 h 48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96"/>
              <a:gd name="T31" fmla="*/ 0 h 480"/>
              <a:gd name="T32" fmla="*/ 96 w 96"/>
              <a:gd name="T33" fmla="*/ 480 h 48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96" h="480">
                <a:moveTo>
                  <a:pt x="48" y="0"/>
                </a:moveTo>
                <a:lnTo>
                  <a:pt x="48" y="96"/>
                </a:lnTo>
                <a:lnTo>
                  <a:pt x="96" y="144"/>
                </a:lnTo>
                <a:lnTo>
                  <a:pt x="0" y="192"/>
                </a:lnTo>
                <a:lnTo>
                  <a:pt x="96" y="240"/>
                </a:lnTo>
                <a:lnTo>
                  <a:pt x="0" y="288"/>
                </a:lnTo>
                <a:lnTo>
                  <a:pt x="96" y="336"/>
                </a:lnTo>
                <a:lnTo>
                  <a:pt x="0" y="384"/>
                </a:lnTo>
                <a:lnTo>
                  <a:pt x="48" y="432"/>
                </a:lnTo>
                <a:lnTo>
                  <a:pt x="48" y="480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23560" name="Group 45">
            <a:extLst>
              <a:ext uri="{FF2B5EF4-FFF2-40B4-BE49-F238E27FC236}">
                <a16:creationId xmlns:a16="http://schemas.microsoft.com/office/drawing/2014/main" id="{335569E3-7212-6810-A085-C354D47C9A9B}"/>
              </a:ext>
            </a:extLst>
          </p:cNvPr>
          <p:cNvGrpSpPr>
            <a:grpSpLocks/>
          </p:cNvGrpSpPr>
          <p:nvPr/>
        </p:nvGrpSpPr>
        <p:grpSpPr bwMode="auto">
          <a:xfrm>
            <a:off x="7123113" y="3276600"/>
            <a:ext cx="801687" cy="914400"/>
            <a:chOff x="4487" y="2064"/>
            <a:chExt cx="505" cy="576"/>
          </a:xfrm>
        </p:grpSpPr>
        <p:sp>
          <p:nvSpPr>
            <p:cNvPr id="23583" name="Freeform 8">
              <a:extLst>
                <a:ext uri="{FF2B5EF4-FFF2-40B4-BE49-F238E27FC236}">
                  <a16:creationId xmlns:a16="http://schemas.microsoft.com/office/drawing/2014/main" id="{BAFB5E26-B170-710D-FA3B-03719F136E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8" y="2064"/>
              <a:ext cx="96" cy="480"/>
            </a:xfrm>
            <a:custGeom>
              <a:avLst/>
              <a:gdLst>
                <a:gd name="T0" fmla="*/ 48 w 96"/>
                <a:gd name="T1" fmla="*/ 0 h 480"/>
                <a:gd name="T2" fmla="*/ 48 w 96"/>
                <a:gd name="T3" fmla="*/ 96 h 480"/>
                <a:gd name="T4" fmla="*/ 96 w 96"/>
                <a:gd name="T5" fmla="*/ 144 h 480"/>
                <a:gd name="T6" fmla="*/ 0 w 96"/>
                <a:gd name="T7" fmla="*/ 192 h 480"/>
                <a:gd name="T8" fmla="*/ 96 w 96"/>
                <a:gd name="T9" fmla="*/ 240 h 480"/>
                <a:gd name="T10" fmla="*/ 0 w 96"/>
                <a:gd name="T11" fmla="*/ 288 h 480"/>
                <a:gd name="T12" fmla="*/ 96 w 96"/>
                <a:gd name="T13" fmla="*/ 336 h 480"/>
                <a:gd name="T14" fmla="*/ 0 w 96"/>
                <a:gd name="T15" fmla="*/ 384 h 480"/>
                <a:gd name="T16" fmla="*/ 48 w 96"/>
                <a:gd name="T17" fmla="*/ 432 h 480"/>
                <a:gd name="T18" fmla="*/ 48 w 96"/>
                <a:gd name="T19" fmla="*/ 480 h 48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96"/>
                <a:gd name="T31" fmla="*/ 0 h 480"/>
                <a:gd name="T32" fmla="*/ 96 w 96"/>
                <a:gd name="T33" fmla="*/ 480 h 48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96" h="480">
                  <a:moveTo>
                    <a:pt x="48" y="0"/>
                  </a:moveTo>
                  <a:lnTo>
                    <a:pt x="48" y="96"/>
                  </a:lnTo>
                  <a:lnTo>
                    <a:pt x="96" y="144"/>
                  </a:lnTo>
                  <a:lnTo>
                    <a:pt x="0" y="192"/>
                  </a:lnTo>
                  <a:lnTo>
                    <a:pt x="96" y="240"/>
                  </a:lnTo>
                  <a:lnTo>
                    <a:pt x="0" y="288"/>
                  </a:lnTo>
                  <a:lnTo>
                    <a:pt x="96" y="336"/>
                  </a:lnTo>
                  <a:lnTo>
                    <a:pt x="0" y="384"/>
                  </a:lnTo>
                  <a:lnTo>
                    <a:pt x="48" y="432"/>
                  </a:lnTo>
                  <a:lnTo>
                    <a:pt x="48" y="48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584" name="Line 10">
              <a:extLst>
                <a:ext uri="{FF2B5EF4-FFF2-40B4-BE49-F238E27FC236}">
                  <a16:creationId xmlns:a16="http://schemas.microsoft.com/office/drawing/2014/main" id="{657BCBFD-A29D-ADC0-1BE4-52F8EA7425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04" y="2304"/>
              <a:ext cx="1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3585" name="Line 11">
              <a:extLst>
                <a:ext uri="{FF2B5EF4-FFF2-40B4-BE49-F238E27FC236}">
                  <a16:creationId xmlns:a16="http://schemas.microsoft.com/office/drawing/2014/main" id="{64E534EE-0FBB-056B-DFA5-53E4E74AFA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2304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3586" name="Line 12">
              <a:extLst>
                <a:ext uri="{FF2B5EF4-FFF2-40B4-BE49-F238E27FC236}">
                  <a16:creationId xmlns:a16="http://schemas.microsoft.com/office/drawing/2014/main" id="{81CC6C8C-D443-2479-DCE4-676681BE11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56" y="2544"/>
              <a:ext cx="19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3587" name="Line 13">
              <a:extLst>
                <a:ext uri="{FF2B5EF4-FFF2-40B4-BE49-F238E27FC236}">
                  <a16:creationId xmlns:a16="http://schemas.microsoft.com/office/drawing/2014/main" id="{756AED16-69D3-AB20-EBC8-02B5B8D8C2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2544"/>
              <a:ext cx="0" cy="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3588" name="Text Box 14">
              <a:extLst>
                <a:ext uri="{FF2B5EF4-FFF2-40B4-BE49-F238E27FC236}">
                  <a16:creationId xmlns:a16="http://schemas.microsoft.com/office/drawing/2014/main" id="{4D952ED8-B6F2-0A4C-6E87-AB671D270A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87" y="2083"/>
              <a:ext cx="16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200">
                  <a:solidFill>
                    <a:srgbClr val="000000"/>
                  </a:solidFill>
                </a:rPr>
                <a:t>1</a:t>
              </a:r>
              <a:endParaRPr lang="en-US" altLang="en-US" sz="1200"/>
            </a:p>
          </p:txBody>
        </p:sp>
        <p:sp>
          <p:nvSpPr>
            <p:cNvPr id="23589" name="Text Box 15">
              <a:extLst>
                <a:ext uri="{FF2B5EF4-FFF2-40B4-BE49-F238E27FC236}">
                  <a16:creationId xmlns:a16="http://schemas.microsoft.com/office/drawing/2014/main" id="{D93B7111-6FEE-9522-47C1-92720323CF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87" y="2467"/>
              <a:ext cx="16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200">
                  <a:solidFill>
                    <a:srgbClr val="000000"/>
                  </a:solidFill>
                </a:rPr>
                <a:t>2</a:t>
              </a:r>
              <a:endParaRPr lang="en-US" altLang="en-US" sz="1200"/>
            </a:p>
          </p:txBody>
        </p:sp>
        <p:sp>
          <p:nvSpPr>
            <p:cNvPr id="23590" name="Text Box 16">
              <a:extLst>
                <a:ext uri="{FF2B5EF4-FFF2-40B4-BE49-F238E27FC236}">
                  <a16:creationId xmlns:a16="http://schemas.microsoft.com/office/drawing/2014/main" id="{3AA97149-A7E3-2771-A043-15354C6426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23" y="2227"/>
              <a:ext cx="16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200">
                  <a:solidFill>
                    <a:srgbClr val="000000"/>
                  </a:solidFill>
                </a:rPr>
                <a:t>3</a:t>
              </a:r>
              <a:endParaRPr lang="en-US" altLang="en-US" sz="1200"/>
            </a:p>
          </p:txBody>
        </p:sp>
        <p:sp>
          <p:nvSpPr>
            <p:cNvPr id="23591" name="Oval 17">
              <a:extLst>
                <a:ext uri="{FF2B5EF4-FFF2-40B4-BE49-F238E27FC236}">
                  <a16:creationId xmlns:a16="http://schemas.microsoft.com/office/drawing/2014/main" id="{D61D1910-4F5F-957D-401C-87AF294A71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7" y="2535"/>
              <a:ext cx="23" cy="2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23561" name="Line 20">
            <a:extLst>
              <a:ext uri="{FF2B5EF4-FFF2-40B4-BE49-F238E27FC236}">
                <a16:creationId xmlns:a16="http://schemas.microsoft.com/office/drawing/2014/main" id="{607BC9FE-9B63-47E8-A937-B0E47757E9FA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2895600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562" name="Line 21">
            <a:extLst>
              <a:ext uri="{FF2B5EF4-FFF2-40B4-BE49-F238E27FC236}">
                <a16:creationId xmlns:a16="http://schemas.microsoft.com/office/drawing/2014/main" id="{C10DEF99-3FAB-3A6D-A3E6-A50C79BFEB1F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3048000"/>
            <a:ext cx="838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563" name="Oval 22">
            <a:extLst>
              <a:ext uri="{FF2B5EF4-FFF2-40B4-BE49-F238E27FC236}">
                <a16:creationId xmlns:a16="http://schemas.microsoft.com/office/drawing/2014/main" id="{4B2C4646-E930-986E-BFA5-77579140A4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5525" y="3024188"/>
            <a:ext cx="36513" cy="36512"/>
          </a:xfrm>
          <a:prstGeom prst="ellipse">
            <a:avLst/>
          </a:prstGeom>
          <a:solidFill>
            <a:schemeClr val="tx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23564" name="Group 29">
            <a:extLst>
              <a:ext uri="{FF2B5EF4-FFF2-40B4-BE49-F238E27FC236}">
                <a16:creationId xmlns:a16="http://schemas.microsoft.com/office/drawing/2014/main" id="{6E164B4E-D3E4-5192-C49A-EB95F83ACDA0}"/>
              </a:ext>
            </a:extLst>
          </p:cNvPr>
          <p:cNvGrpSpPr>
            <a:grpSpLocks/>
          </p:cNvGrpSpPr>
          <p:nvPr/>
        </p:nvGrpSpPr>
        <p:grpSpPr bwMode="auto">
          <a:xfrm>
            <a:off x="7239000" y="4114800"/>
            <a:ext cx="304800" cy="304800"/>
            <a:chOff x="4032" y="1968"/>
            <a:chExt cx="192" cy="192"/>
          </a:xfrm>
        </p:grpSpPr>
        <p:sp>
          <p:nvSpPr>
            <p:cNvPr id="23579" name="Line 23">
              <a:extLst>
                <a:ext uri="{FF2B5EF4-FFF2-40B4-BE49-F238E27FC236}">
                  <a16:creationId xmlns:a16="http://schemas.microsoft.com/office/drawing/2014/main" id="{D86A7A71-8BC4-7CDE-FFBB-791A4E2EE0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1968"/>
              <a:ext cx="0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3580" name="Line 26">
              <a:extLst>
                <a:ext uri="{FF2B5EF4-FFF2-40B4-BE49-F238E27FC236}">
                  <a16:creationId xmlns:a16="http://schemas.microsoft.com/office/drawing/2014/main" id="{8C5E0A41-83D9-AE72-C133-7832AD5B9F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7" y="2160"/>
              <a:ext cx="2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3581" name="Line 27">
              <a:extLst>
                <a:ext uri="{FF2B5EF4-FFF2-40B4-BE49-F238E27FC236}">
                  <a16:creationId xmlns:a16="http://schemas.microsoft.com/office/drawing/2014/main" id="{FD11F912-B998-D10F-FE93-4F44B6B09B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2112"/>
              <a:ext cx="9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3582" name="Line 28">
              <a:extLst>
                <a:ext uri="{FF2B5EF4-FFF2-40B4-BE49-F238E27FC236}">
                  <a16:creationId xmlns:a16="http://schemas.microsoft.com/office/drawing/2014/main" id="{FF2EBCC0-EF30-4097-BDA1-A3404A1992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2064"/>
              <a:ext cx="19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23565" name="Text Box 30">
            <a:extLst>
              <a:ext uri="{FF2B5EF4-FFF2-40B4-BE49-F238E27FC236}">
                <a16:creationId xmlns:a16="http://schemas.microsoft.com/office/drawing/2014/main" id="{E1688DC4-2786-0646-24ED-69F5B23F6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1413" y="2328863"/>
            <a:ext cx="4333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i="1">
                <a:solidFill>
                  <a:srgbClr val="000000"/>
                </a:solidFill>
              </a:rPr>
              <a:t>R</a:t>
            </a:r>
            <a:r>
              <a:rPr lang="en-US" altLang="en-US" sz="1800" baseline="-25000">
                <a:solidFill>
                  <a:srgbClr val="000000"/>
                </a:solidFill>
              </a:rPr>
              <a:t>1</a:t>
            </a:r>
            <a:endParaRPr lang="en-US" altLang="en-US" sz="1800"/>
          </a:p>
        </p:txBody>
      </p:sp>
      <p:sp>
        <p:nvSpPr>
          <p:cNvPr id="23566" name="Text Box 31">
            <a:extLst>
              <a:ext uri="{FF2B5EF4-FFF2-40B4-BE49-F238E27FC236}">
                <a16:creationId xmlns:a16="http://schemas.microsoft.com/office/drawing/2014/main" id="{72D5839A-8A3F-3CB2-655B-63B7ED4843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3519488"/>
            <a:ext cx="4333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i="1">
                <a:solidFill>
                  <a:srgbClr val="000000"/>
                </a:solidFill>
              </a:rPr>
              <a:t>R</a:t>
            </a:r>
            <a:r>
              <a:rPr lang="en-US" altLang="en-US" sz="1800" baseline="-25000">
                <a:solidFill>
                  <a:srgbClr val="000000"/>
                </a:solidFill>
              </a:rPr>
              <a:t>2</a:t>
            </a:r>
            <a:endParaRPr lang="en-US" altLang="en-US" sz="1800"/>
          </a:p>
        </p:txBody>
      </p:sp>
      <p:sp>
        <p:nvSpPr>
          <p:cNvPr id="23567" name="Line 33">
            <a:extLst>
              <a:ext uri="{FF2B5EF4-FFF2-40B4-BE49-F238E27FC236}">
                <a16:creationId xmlns:a16="http://schemas.microsoft.com/office/drawing/2014/main" id="{789B875A-6BDA-B923-9F64-D4F0FD3BC9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96000" y="2133600"/>
            <a:ext cx="1295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568" name="Line 34">
            <a:extLst>
              <a:ext uri="{FF2B5EF4-FFF2-40B4-BE49-F238E27FC236}">
                <a16:creationId xmlns:a16="http://schemas.microsoft.com/office/drawing/2014/main" id="{D55BD61E-2379-B014-5F5B-A6D01CABBB62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2133600"/>
            <a:ext cx="0" cy="914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569" name="Line 35">
            <a:extLst>
              <a:ext uri="{FF2B5EF4-FFF2-40B4-BE49-F238E27FC236}">
                <a16:creationId xmlns:a16="http://schemas.microsoft.com/office/drawing/2014/main" id="{97880AEF-EE8C-18B1-8D78-0290F9AC7227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3048000"/>
            <a:ext cx="609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570" name="Line 36">
            <a:extLst>
              <a:ext uri="{FF2B5EF4-FFF2-40B4-BE49-F238E27FC236}">
                <a16:creationId xmlns:a16="http://schemas.microsoft.com/office/drawing/2014/main" id="{C6B8BB13-2A50-992A-9469-6F8B51BD50A5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3200400"/>
            <a:ext cx="304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23571" name="Group 37">
            <a:extLst>
              <a:ext uri="{FF2B5EF4-FFF2-40B4-BE49-F238E27FC236}">
                <a16:creationId xmlns:a16="http://schemas.microsoft.com/office/drawing/2014/main" id="{822452C9-4E18-BE66-57E9-739565EEDE2C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4114800"/>
            <a:ext cx="304800" cy="304800"/>
            <a:chOff x="4032" y="1968"/>
            <a:chExt cx="192" cy="192"/>
          </a:xfrm>
        </p:grpSpPr>
        <p:sp>
          <p:nvSpPr>
            <p:cNvPr id="23575" name="Line 38">
              <a:extLst>
                <a:ext uri="{FF2B5EF4-FFF2-40B4-BE49-F238E27FC236}">
                  <a16:creationId xmlns:a16="http://schemas.microsoft.com/office/drawing/2014/main" id="{5EA58E56-2C5B-FF0A-D1B7-23EC80AF33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1968"/>
              <a:ext cx="0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3576" name="Line 39">
              <a:extLst>
                <a:ext uri="{FF2B5EF4-FFF2-40B4-BE49-F238E27FC236}">
                  <a16:creationId xmlns:a16="http://schemas.microsoft.com/office/drawing/2014/main" id="{857A1C07-619C-341D-B98F-09F2EF05DE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7" y="2160"/>
              <a:ext cx="2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3577" name="Line 40">
              <a:extLst>
                <a:ext uri="{FF2B5EF4-FFF2-40B4-BE49-F238E27FC236}">
                  <a16:creationId xmlns:a16="http://schemas.microsoft.com/office/drawing/2014/main" id="{2386C7DC-BA56-36C6-B4C8-B8044265B4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2112"/>
              <a:ext cx="9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3578" name="Line 41">
              <a:extLst>
                <a:ext uri="{FF2B5EF4-FFF2-40B4-BE49-F238E27FC236}">
                  <a16:creationId xmlns:a16="http://schemas.microsoft.com/office/drawing/2014/main" id="{AF66F42D-4564-C13D-7EC4-DE57E0A4F8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2064"/>
              <a:ext cx="19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23572" name="Line 42">
            <a:extLst>
              <a:ext uri="{FF2B5EF4-FFF2-40B4-BE49-F238E27FC236}">
                <a16:creationId xmlns:a16="http://schemas.microsoft.com/office/drawing/2014/main" id="{23343357-E120-0B7C-C919-BB7F6F36FE8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3200400"/>
            <a:ext cx="0" cy="914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573" name="Text Box 43">
            <a:extLst>
              <a:ext uri="{FF2B5EF4-FFF2-40B4-BE49-F238E27FC236}">
                <a16:creationId xmlns:a16="http://schemas.microsoft.com/office/drawing/2014/main" id="{6CF13CAC-B015-3254-D1A1-3E20E1CAC2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0525" y="2938463"/>
            <a:ext cx="336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i="1">
                <a:solidFill>
                  <a:srgbClr val="000000"/>
                </a:solidFill>
              </a:rPr>
              <a:t>V</a:t>
            </a:r>
            <a:endParaRPr lang="en-US" altLang="en-US" sz="1800"/>
          </a:p>
        </p:txBody>
      </p:sp>
      <p:sp>
        <p:nvSpPr>
          <p:cNvPr id="23574" name="Text Box 44">
            <a:extLst>
              <a:ext uri="{FF2B5EF4-FFF2-40B4-BE49-F238E27FC236}">
                <a16:creationId xmlns:a16="http://schemas.microsoft.com/office/drawing/2014/main" id="{3AB96605-53CA-C45C-1F19-C348B820EB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2833688"/>
            <a:ext cx="5492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i="1">
                <a:solidFill>
                  <a:srgbClr val="000000"/>
                </a:solidFill>
              </a:rPr>
              <a:t>V</a:t>
            </a:r>
            <a:r>
              <a:rPr lang="en-US" altLang="en-US" sz="1800" baseline="-25000">
                <a:solidFill>
                  <a:srgbClr val="000000"/>
                </a:solidFill>
              </a:rPr>
              <a:t>out</a:t>
            </a:r>
            <a:endParaRPr lang="en-US" altLang="en-US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Date Placeholder 4">
            <a:extLst>
              <a:ext uri="{FF2B5EF4-FFF2-40B4-BE49-F238E27FC236}">
                <a16:creationId xmlns:a16="http://schemas.microsoft.com/office/drawing/2014/main" id="{4BCB5B25-3AE0-C221-BF96-B7E191E07D0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Winter 2012</a:t>
            </a:r>
          </a:p>
        </p:txBody>
      </p:sp>
      <p:sp>
        <p:nvSpPr>
          <p:cNvPr id="25603" name="Footer Placeholder 5">
            <a:extLst>
              <a:ext uri="{FF2B5EF4-FFF2-40B4-BE49-F238E27FC236}">
                <a16:creationId xmlns:a16="http://schemas.microsoft.com/office/drawing/2014/main" id="{F4F0232A-1034-8D01-B02B-478C7483C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UCSD: Physics 121; 2012</a:t>
            </a:r>
          </a:p>
        </p:txBody>
      </p:sp>
      <p:sp>
        <p:nvSpPr>
          <p:cNvPr id="25604" name="Slide Number Placeholder 6">
            <a:extLst>
              <a:ext uri="{FF2B5EF4-FFF2-40B4-BE49-F238E27FC236}">
                <a16:creationId xmlns:a16="http://schemas.microsoft.com/office/drawing/2014/main" id="{649DE1DE-BBB7-3A4E-0C2E-E64940102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23BA579-D13B-4572-9058-7892D277D1F8}" type="slidenum">
              <a:rPr lang="en-US" altLang="en-US" sz="1400"/>
              <a:pPr/>
              <a:t>5</a:t>
            </a:fld>
            <a:endParaRPr lang="en-US" altLang="en-US" sz="1400"/>
          </a:p>
        </p:txBody>
      </p:sp>
      <p:sp>
        <p:nvSpPr>
          <p:cNvPr id="73730" name="Rectangle 2">
            <a:extLst>
              <a:ext uri="{FF2B5EF4-FFF2-40B4-BE49-F238E27FC236}">
                <a16:creationId xmlns:a16="http://schemas.microsoft.com/office/drawing/2014/main" id="{606B139A-5E2E-2D50-FAB0-959288516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Real Batteries: Output Impedance</a:t>
            </a:r>
          </a:p>
        </p:txBody>
      </p:sp>
      <p:sp>
        <p:nvSpPr>
          <p:cNvPr id="73732" name="Rectangle 4">
            <a:extLst>
              <a:ext uri="{FF2B5EF4-FFF2-40B4-BE49-F238E27FC236}">
                <a16:creationId xmlns:a16="http://schemas.microsoft.com/office/drawing/2014/main" id="{CABAA53B-B57B-CD2E-531C-99C4E0F6A3D5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3048000" y="1219200"/>
            <a:ext cx="6096000" cy="5029200"/>
          </a:xfrm>
        </p:spPr>
        <p:txBody>
          <a:bodyPr/>
          <a:lstStyle/>
          <a:p>
            <a:pPr eaLnBrk="1" hangingPunct="1"/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A power supply (battery) is characterized by a </a:t>
            </a:r>
            <a:r>
              <a:rPr lang="en-US" altLang="en-US" sz="2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voltage</a:t>
            </a:r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 (</a:t>
            </a:r>
            <a:r>
              <a:rPr lang="en-US" altLang="en-US" sz="2000" i="1">
                <a:effectLst>
                  <a:outerShdw blurRad="38100" dist="38100" dir="2700000" algn="tl">
                    <a:srgbClr val="C0C0C0"/>
                  </a:outerShdw>
                </a:effectLst>
              </a:rPr>
              <a:t>V</a:t>
            </a:r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) and an </a:t>
            </a:r>
            <a:r>
              <a:rPr lang="en-US" altLang="en-US" sz="200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output impedance</a:t>
            </a:r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 (</a:t>
            </a:r>
            <a:r>
              <a:rPr lang="en-US" altLang="en-US" sz="2000" i="1">
                <a:effectLst>
                  <a:outerShdw blurRad="38100" dist="38100" dir="2700000" algn="tl">
                    <a:srgbClr val="C0C0C0"/>
                  </a:outerShdw>
                </a:effectLst>
              </a:rPr>
              <a:t>R</a:t>
            </a:r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</a:p>
          <a:p>
            <a:pPr lvl="1" eaLnBrk="1" hangingPunct="1"/>
            <a:r>
              <a:rPr lang="en-US" altLang="en-US" sz="1800"/>
              <a:t>sometimes called </a:t>
            </a:r>
            <a:r>
              <a:rPr lang="en-US" altLang="en-US" sz="1800" i="1">
                <a:solidFill>
                  <a:schemeClr val="accent2"/>
                </a:solidFill>
              </a:rPr>
              <a:t>source impedance</a:t>
            </a:r>
            <a:endParaRPr lang="en-US" altLang="en-US" sz="1800"/>
          </a:p>
          <a:p>
            <a:pPr eaLnBrk="1" hangingPunct="1"/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Hooking up to load: </a:t>
            </a:r>
            <a:r>
              <a:rPr lang="en-US" altLang="en-US" sz="2000" i="1">
                <a:effectLst>
                  <a:outerShdw blurRad="38100" dist="38100" dir="2700000" algn="tl">
                    <a:srgbClr val="C0C0C0"/>
                  </a:outerShdw>
                </a:effectLst>
              </a:rPr>
              <a:t>R</a:t>
            </a:r>
            <a:r>
              <a:rPr lang="en-US" altLang="en-US" sz="2000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load</a:t>
            </a:r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, we form a voltage divider, so that the voltage applied by the battery terminal is actually </a:t>
            </a:r>
            <a:r>
              <a:rPr lang="en-US" altLang="en-US" sz="2000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out</a:t>
            </a:r>
            <a:r>
              <a:rPr lang="en-US" altLang="en-US" sz="2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= </a:t>
            </a:r>
            <a:r>
              <a:rPr lang="en-US" altLang="en-US" sz="2000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V</a:t>
            </a:r>
            <a:r>
              <a:rPr lang="en-US" altLang="en-US" sz="2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altLang="en-US" sz="2000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</a:t>
            </a:r>
            <a:r>
              <a:rPr lang="en-US" altLang="en-US" sz="2000" baseline="-25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load</a:t>
            </a:r>
            <a:r>
              <a:rPr lang="en-US" altLang="en-US" sz="2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/(</a:t>
            </a:r>
            <a:r>
              <a:rPr lang="en-US" altLang="en-US" sz="2000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</a:t>
            </a:r>
            <a:r>
              <a:rPr lang="en-US" altLang="en-US" sz="2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 sz="2000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</a:t>
            </a:r>
            <a:r>
              <a:rPr lang="en-US" altLang="en-US" sz="2000" baseline="-25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load</a:t>
            </a:r>
            <a:r>
              <a:rPr lang="en-US" altLang="en-US" sz="2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))</a:t>
            </a:r>
          </a:p>
          <a:p>
            <a:pPr lvl="1" eaLnBrk="1" hangingPunct="1"/>
            <a:r>
              <a:rPr lang="en-US" altLang="en-US" sz="1800"/>
              <a:t>thus the smaller R is, the “</a:t>
            </a:r>
            <a:r>
              <a:rPr lang="en-US" altLang="en-US" sz="1800">
                <a:solidFill>
                  <a:schemeClr val="folHlink"/>
                </a:solidFill>
              </a:rPr>
              <a:t>stiffer</a:t>
            </a:r>
            <a:r>
              <a:rPr lang="en-US" altLang="en-US" sz="1800"/>
              <a:t>” the power supply</a:t>
            </a:r>
          </a:p>
          <a:p>
            <a:pPr lvl="1" eaLnBrk="1" hangingPunct="1"/>
            <a:r>
              <a:rPr lang="en-US" altLang="en-US" sz="1800"/>
              <a:t>when V</a:t>
            </a:r>
            <a:r>
              <a:rPr lang="en-US" altLang="en-US" sz="1800" baseline="-25000"/>
              <a:t>out</a:t>
            </a:r>
            <a:r>
              <a:rPr lang="en-US" altLang="en-US" sz="1800"/>
              <a:t> sags with higher load current, we call this “</a:t>
            </a:r>
            <a:r>
              <a:rPr lang="en-US" altLang="en-US" sz="1800">
                <a:solidFill>
                  <a:schemeClr val="folHlink"/>
                </a:solidFill>
              </a:rPr>
              <a:t>droop</a:t>
            </a:r>
            <a:r>
              <a:rPr lang="en-US" altLang="en-US" sz="1800"/>
              <a:t>”</a:t>
            </a:r>
          </a:p>
          <a:p>
            <a:pPr eaLnBrk="1" hangingPunct="1"/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Example: If 10.0 V power supply droops by 1% (0.1 V) when loaded to 1 Amp (10 </a:t>
            </a:r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 load):</a:t>
            </a:r>
            <a:endParaRPr lang="en-US" altLang="en-US" sz="200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lvl="1" eaLnBrk="1" hangingPunct="1"/>
            <a:r>
              <a:rPr lang="en-US" altLang="en-US" sz="1800"/>
              <a:t>internal resistance is 0.1 </a:t>
            </a:r>
            <a:r>
              <a:rPr lang="en-US" altLang="en-US" sz="1800">
                <a:sym typeface="Symbol" panose="05050102010706020507" pitchFamily="18" charset="2"/>
              </a:rPr>
              <a:t></a:t>
            </a:r>
          </a:p>
          <a:p>
            <a:pPr lvl="1" eaLnBrk="1" hangingPunct="1"/>
            <a:r>
              <a:rPr lang="en-US" altLang="en-US" sz="1800">
                <a:sym typeface="Symbol" panose="05050102010706020507" pitchFamily="18" charset="2"/>
              </a:rPr>
              <a:t>called </a:t>
            </a:r>
            <a:r>
              <a:rPr lang="en-US" altLang="en-US" sz="1800" i="1">
                <a:sym typeface="Symbol" panose="05050102010706020507" pitchFamily="18" charset="2"/>
              </a:rPr>
              <a:t>output impedance</a:t>
            </a:r>
            <a:r>
              <a:rPr lang="en-US" altLang="en-US" sz="1800">
                <a:sym typeface="Symbol" panose="05050102010706020507" pitchFamily="18" charset="2"/>
              </a:rPr>
              <a:t> or </a:t>
            </a:r>
            <a:r>
              <a:rPr lang="en-US" altLang="en-US" sz="1800" i="1">
                <a:sym typeface="Symbol" panose="05050102010706020507" pitchFamily="18" charset="2"/>
              </a:rPr>
              <a:t>source impedance</a:t>
            </a:r>
            <a:endParaRPr lang="en-US" altLang="en-US" sz="1800"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en-US" sz="1800">
                <a:sym typeface="Symbol" panose="05050102010706020507" pitchFamily="18" charset="2"/>
              </a:rPr>
              <a:t>may vary with load, though (not a real resistor)</a:t>
            </a:r>
          </a:p>
        </p:txBody>
      </p:sp>
      <p:pic>
        <p:nvPicPr>
          <p:cNvPr id="25607" name="Picture 5" descr="battery">
            <a:extLst>
              <a:ext uri="{FF2B5EF4-FFF2-40B4-BE49-F238E27FC236}">
                <a16:creationId xmlns:a16="http://schemas.microsoft.com/office/drawing/2014/main" id="{DDBFBF39-4C45-06F1-5916-9577596FFB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971800"/>
            <a:ext cx="1244600" cy="124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8" name="Line 7">
            <a:extLst>
              <a:ext uri="{FF2B5EF4-FFF2-40B4-BE49-F238E27FC236}">
                <a16:creationId xmlns:a16="http://schemas.microsoft.com/office/drawing/2014/main" id="{D24320C1-04F7-59DD-F842-8151C14501F9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3505200"/>
            <a:ext cx="609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09" name="Line 8">
            <a:extLst>
              <a:ext uri="{FF2B5EF4-FFF2-40B4-BE49-F238E27FC236}">
                <a16:creationId xmlns:a16="http://schemas.microsoft.com/office/drawing/2014/main" id="{967BF396-FE24-0416-5A2B-9016CF6F2A93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3657600"/>
            <a:ext cx="304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10" name="Line 9">
            <a:extLst>
              <a:ext uri="{FF2B5EF4-FFF2-40B4-BE49-F238E27FC236}">
                <a16:creationId xmlns:a16="http://schemas.microsoft.com/office/drawing/2014/main" id="{A684129A-3E33-232D-3F3B-FCE2C41AE6F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3657600"/>
            <a:ext cx="0" cy="914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611" name="Freeform 10">
            <a:extLst>
              <a:ext uri="{FF2B5EF4-FFF2-40B4-BE49-F238E27FC236}">
                <a16:creationId xmlns:a16="http://schemas.microsoft.com/office/drawing/2014/main" id="{0270AACC-44F7-7E97-9347-50DBC035EE34}"/>
              </a:ext>
            </a:extLst>
          </p:cNvPr>
          <p:cNvSpPr>
            <a:spLocks/>
          </p:cNvSpPr>
          <p:nvPr/>
        </p:nvSpPr>
        <p:spPr bwMode="auto">
          <a:xfrm>
            <a:off x="2286000" y="2743200"/>
            <a:ext cx="152400" cy="762000"/>
          </a:xfrm>
          <a:custGeom>
            <a:avLst/>
            <a:gdLst>
              <a:gd name="T0" fmla="*/ 120967500 w 96"/>
              <a:gd name="T1" fmla="*/ 0 h 480"/>
              <a:gd name="T2" fmla="*/ 120967500 w 96"/>
              <a:gd name="T3" fmla="*/ 241935000 h 480"/>
              <a:gd name="T4" fmla="*/ 241935000 w 96"/>
              <a:gd name="T5" fmla="*/ 362902500 h 480"/>
              <a:gd name="T6" fmla="*/ 0 w 96"/>
              <a:gd name="T7" fmla="*/ 483870000 h 480"/>
              <a:gd name="T8" fmla="*/ 241935000 w 96"/>
              <a:gd name="T9" fmla="*/ 604837500 h 480"/>
              <a:gd name="T10" fmla="*/ 0 w 96"/>
              <a:gd name="T11" fmla="*/ 725805000 h 480"/>
              <a:gd name="T12" fmla="*/ 241935000 w 96"/>
              <a:gd name="T13" fmla="*/ 846772500 h 480"/>
              <a:gd name="T14" fmla="*/ 0 w 96"/>
              <a:gd name="T15" fmla="*/ 967740000 h 480"/>
              <a:gd name="T16" fmla="*/ 120967500 w 96"/>
              <a:gd name="T17" fmla="*/ 1088707500 h 480"/>
              <a:gd name="T18" fmla="*/ 120967500 w 96"/>
              <a:gd name="T19" fmla="*/ 1209675000 h 48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96"/>
              <a:gd name="T31" fmla="*/ 0 h 480"/>
              <a:gd name="T32" fmla="*/ 96 w 96"/>
              <a:gd name="T33" fmla="*/ 480 h 48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96" h="480">
                <a:moveTo>
                  <a:pt x="48" y="0"/>
                </a:moveTo>
                <a:lnTo>
                  <a:pt x="48" y="96"/>
                </a:lnTo>
                <a:lnTo>
                  <a:pt x="96" y="144"/>
                </a:lnTo>
                <a:lnTo>
                  <a:pt x="0" y="192"/>
                </a:lnTo>
                <a:lnTo>
                  <a:pt x="96" y="240"/>
                </a:lnTo>
                <a:lnTo>
                  <a:pt x="0" y="288"/>
                </a:lnTo>
                <a:lnTo>
                  <a:pt x="96" y="336"/>
                </a:lnTo>
                <a:lnTo>
                  <a:pt x="0" y="384"/>
                </a:lnTo>
                <a:lnTo>
                  <a:pt x="48" y="432"/>
                </a:lnTo>
                <a:lnTo>
                  <a:pt x="48" y="480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5612" name="AutoShape 11">
            <a:extLst>
              <a:ext uri="{FF2B5EF4-FFF2-40B4-BE49-F238E27FC236}">
                <a16:creationId xmlns:a16="http://schemas.microsoft.com/office/drawing/2014/main" id="{67891578-DE66-D069-F112-D0702FA7D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3505200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5613" name="Text Box 12">
            <a:extLst>
              <a:ext uri="{FF2B5EF4-FFF2-40B4-BE49-F238E27FC236}">
                <a16:creationId xmlns:a16="http://schemas.microsoft.com/office/drawing/2014/main" id="{638A247B-1942-91CA-B683-6EB54040A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1125" y="3471863"/>
            <a:ext cx="336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i="1">
                <a:solidFill>
                  <a:srgbClr val="000000"/>
                </a:solidFill>
              </a:rPr>
              <a:t>V</a:t>
            </a:r>
            <a:endParaRPr lang="en-US" altLang="en-US" sz="1800"/>
          </a:p>
        </p:txBody>
      </p:sp>
      <p:sp>
        <p:nvSpPr>
          <p:cNvPr id="25614" name="Text Box 13">
            <a:extLst>
              <a:ext uri="{FF2B5EF4-FFF2-40B4-BE49-F238E27FC236}">
                <a16:creationId xmlns:a16="http://schemas.microsoft.com/office/drawing/2014/main" id="{79203033-9811-43CF-B633-9990BB27E2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2971800"/>
            <a:ext cx="34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i="1">
                <a:solidFill>
                  <a:srgbClr val="000000"/>
                </a:solidFill>
              </a:rPr>
              <a:t>R</a:t>
            </a:r>
            <a:endParaRPr lang="en-US" altLang="en-US" sz="1800"/>
          </a:p>
        </p:txBody>
      </p:sp>
      <p:sp>
        <p:nvSpPr>
          <p:cNvPr id="73742" name="Text Box 14">
            <a:extLst>
              <a:ext uri="{FF2B5EF4-FFF2-40B4-BE49-F238E27FC236}">
                <a16:creationId xmlns:a16="http://schemas.microsoft.com/office/drawing/2014/main" id="{73D0B67A-1921-1648-9BA0-E0641BAE45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52975"/>
            <a:ext cx="253365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solidFill>
                  <a:srgbClr val="000000"/>
                </a:solidFill>
              </a:rPr>
              <a:t>D-cell example: 6A</a:t>
            </a:r>
          </a:p>
          <a:p>
            <a:r>
              <a:rPr lang="en-US" altLang="en-US" sz="1800">
                <a:solidFill>
                  <a:srgbClr val="000000"/>
                </a:solidFill>
              </a:rPr>
              <a:t>out of 1.5 V battery</a:t>
            </a:r>
          </a:p>
          <a:p>
            <a:r>
              <a:rPr lang="en-US" altLang="en-US" sz="1800">
                <a:solidFill>
                  <a:srgbClr val="000000"/>
                </a:solidFill>
              </a:rPr>
              <a:t>indicates 0.25 </a:t>
            </a:r>
            <a:r>
              <a:rPr lang="en-US" altLang="en-US" sz="1800">
                <a:solidFill>
                  <a:srgbClr val="000000"/>
                </a:solidFill>
                <a:sym typeface="Symbol" panose="05050102010706020507" pitchFamily="18" charset="2"/>
              </a:rPr>
              <a:t> output</a:t>
            </a:r>
          </a:p>
          <a:p>
            <a:r>
              <a:rPr lang="en-US" altLang="en-US" sz="1800">
                <a:solidFill>
                  <a:srgbClr val="000000"/>
                </a:solidFill>
                <a:sym typeface="Symbol" panose="05050102010706020507" pitchFamily="18" charset="2"/>
              </a:rPr>
              <a:t>impedance</a:t>
            </a:r>
            <a:endParaRPr lang="en-US" altLang="en-US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Date Placeholder 3">
            <a:extLst>
              <a:ext uri="{FF2B5EF4-FFF2-40B4-BE49-F238E27FC236}">
                <a16:creationId xmlns:a16="http://schemas.microsoft.com/office/drawing/2014/main" id="{37D01C69-7E6B-7CD8-A388-EFCB4D48EDA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Winter 2012</a:t>
            </a:r>
          </a:p>
        </p:txBody>
      </p:sp>
      <p:sp>
        <p:nvSpPr>
          <p:cNvPr id="27651" name="Footer Placeholder 4">
            <a:extLst>
              <a:ext uri="{FF2B5EF4-FFF2-40B4-BE49-F238E27FC236}">
                <a16:creationId xmlns:a16="http://schemas.microsoft.com/office/drawing/2014/main" id="{66587D44-E929-0D55-0932-F19038075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UCSD: Physics 121; 2012</a:t>
            </a:r>
          </a:p>
        </p:txBody>
      </p:sp>
      <p:sp>
        <p:nvSpPr>
          <p:cNvPr id="27652" name="Slide Number Placeholder 5">
            <a:extLst>
              <a:ext uri="{FF2B5EF4-FFF2-40B4-BE49-F238E27FC236}">
                <a16:creationId xmlns:a16="http://schemas.microsoft.com/office/drawing/2014/main" id="{8F5F7A18-EF8F-1655-69F1-E0222166C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1AA5E8F-B622-415E-B4E7-645FB929C3E0}" type="slidenum">
              <a:rPr lang="en-US" altLang="en-US" sz="1400"/>
              <a:pPr/>
              <a:t>6</a:t>
            </a:fld>
            <a:endParaRPr lang="en-US" altLang="en-US" sz="1400"/>
          </a:p>
        </p:txBody>
      </p:sp>
      <p:sp>
        <p:nvSpPr>
          <p:cNvPr id="89090" name="Rectangle 2">
            <a:extLst>
              <a:ext uri="{FF2B5EF4-FFF2-40B4-BE49-F238E27FC236}">
                <a16:creationId xmlns:a16="http://schemas.microsoft.com/office/drawing/2014/main" id="{C948B2C1-1C10-4349-1329-EC27C8EEA1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Power Supplies and Regulation</a:t>
            </a:r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5DA9F2C4-4809-3056-32A1-47577F93DD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7467600" cy="5029200"/>
          </a:xfrm>
        </p:spPr>
        <p:txBody>
          <a:bodyPr/>
          <a:lstStyle/>
          <a:p>
            <a:pPr eaLnBrk="1" hangingPunct="1"/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A power supply typically starts with a transformer</a:t>
            </a:r>
          </a:p>
          <a:p>
            <a:pPr lvl="1" eaLnBrk="1" hangingPunct="1"/>
            <a:r>
              <a:rPr lang="en-US" altLang="en-US" sz="1800"/>
              <a:t>to knock down the 340 V peak-to-peak (120 V AC) to something reasonable/manageable</a:t>
            </a:r>
          </a:p>
          <a:p>
            <a:pPr eaLnBrk="1" hangingPunct="1"/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We will be using a </a:t>
            </a:r>
            <a:r>
              <a:rPr lang="en-US" altLang="en-US" sz="2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center-tap</a:t>
            </a:r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 transformer</a:t>
            </a:r>
          </a:p>
          <a:p>
            <a:pPr eaLnBrk="1" hangingPunct="1"/>
            <a:endParaRPr lang="en-US" altLang="en-US" sz="200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/>
            <a:endParaRPr lang="en-US" altLang="en-US" sz="200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/>
            <a:endParaRPr lang="en-US" altLang="en-US" sz="200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/>
            <a:endParaRPr lang="en-US" altLang="en-US" sz="200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/>
            <a:endParaRPr lang="en-US" altLang="en-US" sz="200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lvl="1" eaLnBrk="1" hangingPunct="1"/>
            <a:r>
              <a:rPr lang="en-US" altLang="en-US" sz="1800">
                <a:solidFill>
                  <a:schemeClr val="accent2"/>
                </a:solidFill>
              </a:rPr>
              <a:t>(A’ </a:t>
            </a:r>
            <a:r>
              <a:rPr lang="en-US" altLang="en-US" sz="1800">
                <a:solidFill>
                  <a:schemeClr val="accent2"/>
                </a:solidFill>
                <a:sym typeface="Symbol" panose="05050102010706020507" pitchFamily="18" charset="2"/>
              </a:rPr>
              <a:t> B’) = (winding ratio)(A  B)</a:t>
            </a:r>
          </a:p>
          <a:p>
            <a:pPr marL="1085850" lvl="2" eaLnBrk="1" hangingPunct="1"/>
            <a:r>
              <a:rPr lang="en-US" altLang="en-US" sz="1600"/>
              <a:t>when A &gt; B, so is A’ &gt; B’</a:t>
            </a:r>
          </a:p>
          <a:p>
            <a:pPr lvl="1" eaLnBrk="1" hangingPunct="1"/>
            <a:r>
              <a:rPr lang="en-US" altLang="en-US" sz="1800"/>
              <a:t>geometry of center tap (CT) guarantees it is </a:t>
            </a:r>
            <a:r>
              <a:rPr lang="en-US" altLang="en-US" sz="1800">
                <a:solidFill>
                  <a:schemeClr val="folHlink"/>
                </a:solidFill>
              </a:rPr>
              <a:t>midway</a:t>
            </a:r>
            <a:r>
              <a:rPr lang="en-US" altLang="en-US" sz="1800"/>
              <a:t> between A’ and B’ (frequently tie this to ground so that A’ = </a:t>
            </a:r>
            <a:r>
              <a:rPr lang="en-US" altLang="en-US" sz="1800">
                <a:sym typeface="Symbol" panose="05050102010706020507" pitchFamily="18" charset="2"/>
              </a:rPr>
              <a:t>B’</a:t>
            </a:r>
            <a:r>
              <a:rPr lang="en-US" altLang="en-US" sz="1800"/>
              <a:t>)</a:t>
            </a:r>
          </a:p>
          <a:p>
            <a:pPr lvl="1" eaLnBrk="1" hangingPunct="1"/>
            <a:r>
              <a:rPr lang="en-US" altLang="en-US" sz="1800"/>
              <a:t>note that secondary side </a:t>
            </a:r>
            <a:r>
              <a:rPr lang="en-US" altLang="en-US" sz="1800">
                <a:solidFill>
                  <a:schemeClr val="hlink"/>
                </a:solidFill>
              </a:rPr>
              <a:t>floats</a:t>
            </a:r>
            <a:r>
              <a:rPr lang="en-US" altLang="en-US" sz="1800"/>
              <a:t>: no ground reference built-in</a:t>
            </a:r>
          </a:p>
        </p:txBody>
      </p:sp>
      <p:grpSp>
        <p:nvGrpSpPr>
          <p:cNvPr id="27655" name="Group 42">
            <a:extLst>
              <a:ext uri="{FF2B5EF4-FFF2-40B4-BE49-F238E27FC236}">
                <a16:creationId xmlns:a16="http://schemas.microsoft.com/office/drawing/2014/main" id="{7BB2D8FE-10C7-3DCC-7338-98039BD5690A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2590800"/>
            <a:ext cx="2530475" cy="1662113"/>
            <a:chOff x="1872" y="1632"/>
            <a:chExt cx="1594" cy="1047"/>
          </a:xfrm>
        </p:grpSpPr>
        <p:grpSp>
          <p:nvGrpSpPr>
            <p:cNvPr id="27658" name="Group 38">
              <a:extLst>
                <a:ext uri="{FF2B5EF4-FFF2-40B4-BE49-F238E27FC236}">
                  <a16:creationId xmlns:a16="http://schemas.microsoft.com/office/drawing/2014/main" id="{2ADE445F-C50C-2ED6-F316-81F5AD113E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22" y="1767"/>
              <a:ext cx="1056" cy="768"/>
              <a:chOff x="3264" y="2496"/>
              <a:chExt cx="1056" cy="768"/>
            </a:xfrm>
          </p:grpSpPr>
          <p:grpSp>
            <p:nvGrpSpPr>
              <p:cNvPr id="27664" name="Group 6">
                <a:extLst>
                  <a:ext uri="{FF2B5EF4-FFF2-40B4-BE49-F238E27FC236}">
                    <a16:creationId xmlns:a16="http://schemas.microsoft.com/office/drawing/2014/main" id="{86EA208C-0348-BDCD-F5A0-69A0736AF6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40" y="2496"/>
                <a:ext cx="96" cy="192"/>
                <a:chOff x="3840" y="2496"/>
                <a:chExt cx="96" cy="192"/>
              </a:xfrm>
            </p:grpSpPr>
            <p:sp>
              <p:nvSpPr>
                <p:cNvPr id="27691" name="Arc 4">
                  <a:extLst>
                    <a:ext uri="{FF2B5EF4-FFF2-40B4-BE49-F238E27FC236}">
                      <a16:creationId xmlns:a16="http://schemas.microsoft.com/office/drawing/2014/main" id="{70814913-CCAC-3F66-F3AE-DC03164858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840" y="2496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7692" name="Arc 5">
                  <a:extLst>
                    <a:ext uri="{FF2B5EF4-FFF2-40B4-BE49-F238E27FC236}">
                      <a16:creationId xmlns:a16="http://schemas.microsoft.com/office/drawing/2014/main" id="{EC442184-7CCB-0961-FBE8-E02FE5A0BC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3840" y="2592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grpSp>
            <p:nvGrpSpPr>
              <p:cNvPr id="27665" name="Group 7">
                <a:extLst>
                  <a:ext uri="{FF2B5EF4-FFF2-40B4-BE49-F238E27FC236}">
                    <a16:creationId xmlns:a16="http://schemas.microsoft.com/office/drawing/2014/main" id="{E24F7FDE-49F3-383E-8831-CA833406F6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40" y="2688"/>
                <a:ext cx="96" cy="192"/>
                <a:chOff x="3840" y="2496"/>
                <a:chExt cx="96" cy="192"/>
              </a:xfrm>
            </p:grpSpPr>
            <p:sp>
              <p:nvSpPr>
                <p:cNvPr id="27689" name="Arc 8">
                  <a:extLst>
                    <a:ext uri="{FF2B5EF4-FFF2-40B4-BE49-F238E27FC236}">
                      <a16:creationId xmlns:a16="http://schemas.microsoft.com/office/drawing/2014/main" id="{27058F78-1A38-D531-CC16-B2F773A6FE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840" y="2496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7690" name="Arc 9">
                  <a:extLst>
                    <a:ext uri="{FF2B5EF4-FFF2-40B4-BE49-F238E27FC236}">
                      <a16:creationId xmlns:a16="http://schemas.microsoft.com/office/drawing/2014/main" id="{6BBAD1B4-C66F-0455-4CCF-71AB94024E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3840" y="2592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grpSp>
            <p:nvGrpSpPr>
              <p:cNvPr id="27666" name="Group 10">
                <a:extLst>
                  <a:ext uri="{FF2B5EF4-FFF2-40B4-BE49-F238E27FC236}">
                    <a16:creationId xmlns:a16="http://schemas.microsoft.com/office/drawing/2014/main" id="{98BCD1A8-1A5B-10FD-0D7F-7E74314390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40" y="2880"/>
                <a:ext cx="96" cy="192"/>
                <a:chOff x="3840" y="2496"/>
                <a:chExt cx="96" cy="192"/>
              </a:xfrm>
            </p:grpSpPr>
            <p:sp>
              <p:nvSpPr>
                <p:cNvPr id="27687" name="Arc 11">
                  <a:extLst>
                    <a:ext uri="{FF2B5EF4-FFF2-40B4-BE49-F238E27FC236}">
                      <a16:creationId xmlns:a16="http://schemas.microsoft.com/office/drawing/2014/main" id="{93B10FF4-521C-A424-1878-8C5D0D415A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840" y="2496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7688" name="Arc 12">
                  <a:extLst>
                    <a:ext uri="{FF2B5EF4-FFF2-40B4-BE49-F238E27FC236}">
                      <a16:creationId xmlns:a16="http://schemas.microsoft.com/office/drawing/2014/main" id="{711B1822-D76B-F479-C3FB-D8DEB485677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3840" y="2592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grpSp>
            <p:nvGrpSpPr>
              <p:cNvPr id="27667" name="Group 13">
                <a:extLst>
                  <a:ext uri="{FF2B5EF4-FFF2-40B4-BE49-F238E27FC236}">
                    <a16:creationId xmlns:a16="http://schemas.microsoft.com/office/drawing/2014/main" id="{3B722188-E65F-84A6-C5AB-D16A44BA11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40" y="3072"/>
                <a:ext cx="96" cy="192"/>
                <a:chOff x="3840" y="2496"/>
                <a:chExt cx="96" cy="192"/>
              </a:xfrm>
            </p:grpSpPr>
            <p:sp>
              <p:nvSpPr>
                <p:cNvPr id="27685" name="Arc 14">
                  <a:extLst>
                    <a:ext uri="{FF2B5EF4-FFF2-40B4-BE49-F238E27FC236}">
                      <a16:creationId xmlns:a16="http://schemas.microsoft.com/office/drawing/2014/main" id="{4C5C48F2-E4BB-A93E-FAAB-30FD3D986A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840" y="2496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7686" name="Arc 15">
                  <a:extLst>
                    <a:ext uri="{FF2B5EF4-FFF2-40B4-BE49-F238E27FC236}">
                      <a16:creationId xmlns:a16="http://schemas.microsoft.com/office/drawing/2014/main" id="{F6388BA9-23B0-0461-7FFF-B540996D9D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3840" y="2592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grpSp>
            <p:nvGrpSpPr>
              <p:cNvPr id="27668" name="Group 16">
                <a:extLst>
                  <a:ext uri="{FF2B5EF4-FFF2-40B4-BE49-F238E27FC236}">
                    <a16:creationId xmlns:a16="http://schemas.microsoft.com/office/drawing/2014/main" id="{A680A094-1B0C-F750-4EA7-670C8FD92D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3648" y="3072"/>
                <a:ext cx="96" cy="192"/>
                <a:chOff x="3840" y="2496"/>
                <a:chExt cx="96" cy="192"/>
              </a:xfrm>
            </p:grpSpPr>
            <p:sp>
              <p:nvSpPr>
                <p:cNvPr id="27683" name="Arc 17">
                  <a:extLst>
                    <a:ext uri="{FF2B5EF4-FFF2-40B4-BE49-F238E27FC236}">
                      <a16:creationId xmlns:a16="http://schemas.microsoft.com/office/drawing/2014/main" id="{D6E7509E-A951-C05E-7DDD-C7A6A3A582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840" y="2496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7684" name="Arc 18">
                  <a:extLst>
                    <a:ext uri="{FF2B5EF4-FFF2-40B4-BE49-F238E27FC236}">
                      <a16:creationId xmlns:a16="http://schemas.microsoft.com/office/drawing/2014/main" id="{E936B061-686F-0FE1-9002-32DD81717D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3840" y="2592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grpSp>
            <p:nvGrpSpPr>
              <p:cNvPr id="27669" name="Group 19">
                <a:extLst>
                  <a:ext uri="{FF2B5EF4-FFF2-40B4-BE49-F238E27FC236}">
                    <a16:creationId xmlns:a16="http://schemas.microsoft.com/office/drawing/2014/main" id="{542B5253-8698-78A9-9A59-324A55000A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3648" y="2496"/>
                <a:ext cx="96" cy="192"/>
                <a:chOff x="3840" y="2496"/>
                <a:chExt cx="96" cy="192"/>
              </a:xfrm>
            </p:grpSpPr>
            <p:sp>
              <p:nvSpPr>
                <p:cNvPr id="27681" name="Arc 20">
                  <a:extLst>
                    <a:ext uri="{FF2B5EF4-FFF2-40B4-BE49-F238E27FC236}">
                      <a16:creationId xmlns:a16="http://schemas.microsoft.com/office/drawing/2014/main" id="{60772A1A-F394-14B5-8CEF-4394EB55E71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840" y="2496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7682" name="Arc 21">
                  <a:extLst>
                    <a:ext uri="{FF2B5EF4-FFF2-40B4-BE49-F238E27FC236}">
                      <a16:creationId xmlns:a16="http://schemas.microsoft.com/office/drawing/2014/main" id="{AD6BCA2F-E82C-AF3A-99B6-66CBC8052B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3840" y="2592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grpSp>
            <p:nvGrpSpPr>
              <p:cNvPr id="27670" name="Group 22">
                <a:extLst>
                  <a:ext uri="{FF2B5EF4-FFF2-40B4-BE49-F238E27FC236}">
                    <a16:creationId xmlns:a16="http://schemas.microsoft.com/office/drawing/2014/main" id="{79BD5A9A-3C8B-8327-511E-42442DB0151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3648" y="2688"/>
                <a:ext cx="96" cy="192"/>
                <a:chOff x="3840" y="2496"/>
                <a:chExt cx="96" cy="192"/>
              </a:xfrm>
            </p:grpSpPr>
            <p:sp>
              <p:nvSpPr>
                <p:cNvPr id="27679" name="Arc 23">
                  <a:extLst>
                    <a:ext uri="{FF2B5EF4-FFF2-40B4-BE49-F238E27FC236}">
                      <a16:creationId xmlns:a16="http://schemas.microsoft.com/office/drawing/2014/main" id="{0F5319C5-1D55-CB14-DB04-92D5DDF9C2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840" y="2496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7680" name="Arc 24">
                  <a:extLst>
                    <a:ext uri="{FF2B5EF4-FFF2-40B4-BE49-F238E27FC236}">
                      <a16:creationId xmlns:a16="http://schemas.microsoft.com/office/drawing/2014/main" id="{AC51D5C2-3F6E-BD7B-A66E-DBF9F943A5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3840" y="2592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grpSp>
            <p:nvGrpSpPr>
              <p:cNvPr id="27671" name="Group 25">
                <a:extLst>
                  <a:ext uri="{FF2B5EF4-FFF2-40B4-BE49-F238E27FC236}">
                    <a16:creationId xmlns:a16="http://schemas.microsoft.com/office/drawing/2014/main" id="{6B01AEA4-2E26-7A6E-20A2-694148CC64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3648" y="2880"/>
                <a:ext cx="96" cy="192"/>
                <a:chOff x="3840" y="2496"/>
                <a:chExt cx="96" cy="192"/>
              </a:xfrm>
            </p:grpSpPr>
            <p:sp>
              <p:nvSpPr>
                <p:cNvPr id="27677" name="Arc 26">
                  <a:extLst>
                    <a:ext uri="{FF2B5EF4-FFF2-40B4-BE49-F238E27FC236}">
                      <a16:creationId xmlns:a16="http://schemas.microsoft.com/office/drawing/2014/main" id="{71AAB294-4F69-5889-0F66-EF8E6A77B2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840" y="2496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7678" name="Arc 27">
                  <a:extLst>
                    <a:ext uri="{FF2B5EF4-FFF2-40B4-BE49-F238E27FC236}">
                      <a16:creationId xmlns:a16="http://schemas.microsoft.com/office/drawing/2014/main" id="{D074084D-611D-7A8C-701F-6A6D3027FA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3840" y="2592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27672" name="Line 28">
                <a:extLst>
                  <a:ext uri="{FF2B5EF4-FFF2-40B4-BE49-F238E27FC236}">
                    <a16:creationId xmlns:a16="http://schemas.microsoft.com/office/drawing/2014/main" id="{4633ECCC-77F6-0F63-F1A2-5196813513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64" y="2496"/>
                <a:ext cx="38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7673" name="Line 29">
                <a:extLst>
                  <a:ext uri="{FF2B5EF4-FFF2-40B4-BE49-F238E27FC236}">
                    <a16:creationId xmlns:a16="http://schemas.microsoft.com/office/drawing/2014/main" id="{FEF4F6D0-8359-FD48-2099-2C77D22C9B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64" y="3264"/>
                <a:ext cx="38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7674" name="Line 30">
                <a:extLst>
                  <a:ext uri="{FF2B5EF4-FFF2-40B4-BE49-F238E27FC236}">
                    <a16:creationId xmlns:a16="http://schemas.microsoft.com/office/drawing/2014/main" id="{C11B1CB7-998A-321F-BDF0-5CDBCFC0C4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36" y="3264"/>
                <a:ext cx="38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7675" name="Line 31">
                <a:extLst>
                  <a:ext uri="{FF2B5EF4-FFF2-40B4-BE49-F238E27FC236}">
                    <a16:creationId xmlns:a16="http://schemas.microsoft.com/office/drawing/2014/main" id="{C753B994-60C4-334D-3CDB-8EB8D0B9F1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36" y="2880"/>
                <a:ext cx="38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7676" name="Line 32">
                <a:extLst>
                  <a:ext uri="{FF2B5EF4-FFF2-40B4-BE49-F238E27FC236}">
                    <a16:creationId xmlns:a16="http://schemas.microsoft.com/office/drawing/2014/main" id="{7968F220-EABC-CD79-79A2-4C5DA88E62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36" y="2496"/>
                <a:ext cx="38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27659" name="Text Box 33">
              <a:extLst>
                <a:ext uri="{FF2B5EF4-FFF2-40B4-BE49-F238E27FC236}">
                  <a16:creationId xmlns:a16="http://schemas.microsoft.com/office/drawing/2014/main" id="{7C826976-E132-DABE-D424-90F4CD6D9C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1650"/>
              <a:ext cx="2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</a:rPr>
                <a:t>A</a:t>
              </a:r>
            </a:p>
          </p:txBody>
        </p:sp>
        <p:sp>
          <p:nvSpPr>
            <p:cNvPr id="27660" name="Text Box 34">
              <a:extLst>
                <a:ext uri="{FF2B5EF4-FFF2-40B4-BE49-F238E27FC236}">
                  <a16:creationId xmlns:a16="http://schemas.microsoft.com/office/drawing/2014/main" id="{7F6FE662-68E0-567F-F2E8-913EFB80B0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2" y="2400"/>
              <a:ext cx="2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27661" name="Text Box 35">
              <a:extLst>
                <a:ext uri="{FF2B5EF4-FFF2-40B4-BE49-F238E27FC236}">
                  <a16:creationId xmlns:a16="http://schemas.microsoft.com/office/drawing/2014/main" id="{6B0E527D-570C-A48A-5218-EB2B3A929A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8" y="1632"/>
              <a:ext cx="24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</a:rPr>
                <a:t>A’</a:t>
              </a:r>
            </a:p>
          </p:txBody>
        </p:sp>
        <p:sp>
          <p:nvSpPr>
            <p:cNvPr id="27662" name="Text Box 36">
              <a:extLst>
                <a:ext uri="{FF2B5EF4-FFF2-40B4-BE49-F238E27FC236}">
                  <a16:creationId xmlns:a16="http://schemas.microsoft.com/office/drawing/2014/main" id="{899D380C-0ECF-2495-F0DD-AACBCF6C55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8" y="2055"/>
              <a:ext cx="30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</a:rPr>
                <a:t>CT</a:t>
              </a:r>
            </a:p>
          </p:txBody>
        </p:sp>
        <p:sp>
          <p:nvSpPr>
            <p:cNvPr id="27663" name="Text Box 37">
              <a:extLst>
                <a:ext uri="{FF2B5EF4-FFF2-40B4-BE49-F238E27FC236}">
                  <a16:creationId xmlns:a16="http://schemas.microsoft.com/office/drawing/2014/main" id="{6E2F13C4-1830-1FA6-9075-FE0A2B462F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8" y="2448"/>
              <a:ext cx="24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</a:rPr>
                <a:t>B’</a:t>
              </a:r>
            </a:p>
          </p:txBody>
        </p:sp>
      </p:grpSp>
      <p:sp>
        <p:nvSpPr>
          <p:cNvPr id="27656" name="Text Box 40">
            <a:extLst>
              <a:ext uri="{FF2B5EF4-FFF2-40B4-BE49-F238E27FC236}">
                <a16:creationId xmlns:a16="http://schemas.microsoft.com/office/drawing/2014/main" id="{731101E1-A19D-4E21-E5AD-27AB8CF3D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3200400"/>
            <a:ext cx="1060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solidFill>
                  <a:srgbClr val="000000"/>
                </a:solidFill>
              </a:rPr>
              <a:t>AC input</a:t>
            </a:r>
          </a:p>
        </p:txBody>
      </p:sp>
      <p:sp>
        <p:nvSpPr>
          <p:cNvPr id="27657" name="Text Box 41">
            <a:extLst>
              <a:ext uri="{FF2B5EF4-FFF2-40B4-BE49-F238E27FC236}">
                <a16:creationId xmlns:a16="http://schemas.microsoft.com/office/drawing/2014/main" id="{06417BC2-3522-6086-32CC-8179F23360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3276600"/>
            <a:ext cx="1200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solidFill>
                  <a:srgbClr val="000000"/>
                </a:solidFill>
              </a:rPr>
              <a:t>AC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Date Placeholder 3">
            <a:extLst>
              <a:ext uri="{FF2B5EF4-FFF2-40B4-BE49-F238E27FC236}">
                <a16:creationId xmlns:a16="http://schemas.microsoft.com/office/drawing/2014/main" id="{86AA14E0-16D1-A9FE-E4E5-05E4C21833F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Winter 2012</a:t>
            </a:r>
          </a:p>
        </p:txBody>
      </p:sp>
      <p:sp>
        <p:nvSpPr>
          <p:cNvPr id="29699" name="Footer Placeholder 4">
            <a:extLst>
              <a:ext uri="{FF2B5EF4-FFF2-40B4-BE49-F238E27FC236}">
                <a16:creationId xmlns:a16="http://schemas.microsoft.com/office/drawing/2014/main" id="{326FE346-AF08-97E7-06DD-FC98739DE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UCSD: Physics 121; 2012</a:t>
            </a:r>
          </a:p>
        </p:txBody>
      </p:sp>
      <p:sp>
        <p:nvSpPr>
          <p:cNvPr id="29700" name="Slide Number Placeholder 5">
            <a:extLst>
              <a:ext uri="{FF2B5EF4-FFF2-40B4-BE49-F238E27FC236}">
                <a16:creationId xmlns:a16="http://schemas.microsoft.com/office/drawing/2014/main" id="{660DE875-268E-814E-0A63-9E022AD15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11A966D-457B-46ED-B3E3-0C280C8E7154}" type="slidenum">
              <a:rPr lang="en-US" altLang="en-US" sz="1400"/>
              <a:pPr/>
              <a:t>7</a:t>
            </a:fld>
            <a:endParaRPr lang="en-US" altLang="en-US" sz="1400"/>
          </a:p>
        </p:txBody>
      </p:sp>
      <p:sp>
        <p:nvSpPr>
          <p:cNvPr id="74754" name="Rectangle 2">
            <a:extLst>
              <a:ext uri="{FF2B5EF4-FFF2-40B4-BE49-F238E27FC236}">
                <a16:creationId xmlns:a16="http://schemas.microsoft.com/office/drawing/2014/main" id="{4DF62A36-DAB6-45A5-E049-5C60CAB42C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762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Diodes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6AEEB167-0F0E-B8F4-C281-5B578DBC97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914400"/>
            <a:ext cx="7772400" cy="5029200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Diodes are essentially one-way current gates</a:t>
            </a:r>
          </a:p>
          <a:p>
            <a:pPr eaLnBrk="1" hangingPunct="1">
              <a:defRPr/>
            </a:pPr>
            <a:r>
              <a:rPr lang="en-US"/>
              <a:t>Symbolized by: </a:t>
            </a:r>
          </a:p>
          <a:p>
            <a:pPr eaLnBrk="1" hangingPunct="1">
              <a:defRPr/>
            </a:pPr>
            <a:r>
              <a:rPr lang="en-US"/>
              <a:t>Current vs. voltage graphs:</a:t>
            </a:r>
          </a:p>
        </p:txBody>
      </p:sp>
      <p:grpSp>
        <p:nvGrpSpPr>
          <p:cNvPr id="29703" name="Group 4">
            <a:extLst>
              <a:ext uri="{FF2B5EF4-FFF2-40B4-BE49-F238E27FC236}">
                <a16:creationId xmlns:a16="http://schemas.microsoft.com/office/drawing/2014/main" id="{259ED554-F776-0E1C-D4C9-52B41174E5E1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2743200"/>
            <a:ext cx="1446213" cy="1387475"/>
            <a:chOff x="384" y="1728"/>
            <a:chExt cx="911" cy="874"/>
          </a:xfrm>
        </p:grpSpPr>
        <p:sp>
          <p:nvSpPr>
            <p:cNvPr id="29764" name="Line 5">
              <a:extLst>
                <a:ext uri="{FF2B5EF4-FFF2-40B4-BE49-F238E27FC236}">
                  <a16:creationId xmlns:a16="http://schemas.microsoft.com/office/drawing/2014/main" id="{09893E80-F458-7D88-57AE-F3A85B0C8D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1728"/>
              <a:ext cx="0" cy="6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765" name="Line 6">
              <a:extLst>
                <a:ext uri="{FF2B5EF4-FFF2-40B4-BE49-F238E27FC236}">
                  <a16:creationId xmlns:a16="http://schemas.microsoft.com/office/drawing/2014/main" id="{B5D1A7CC-7F11-7A0D-8066-54BE4911C4F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12" y="2064"/>
              <a:ext cx="0" cy="6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766" name="Text Box 7">
              <a:extLst>
                <a:ext uri="{FF2B5EF4-FFF2-40B4-BE49-F238E27FC236}">
                  <a16:creationId xmlns:a16="http://schemas.microsoft.com/office/drawing/2014/main" id="{D5E9F253-6B54-A4BB-B8B8-4D17CD09BC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4" y="2390"/>
              <a:ext cx="20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</a:rPr>
                <a:t>V</a:t>
              </a:r>
            </a:p>
          </p:txBody>
        </p:sp>
        <p:sp>
          <p:nvSpPr>
            <p:cNvPr id="29767" name="Text Box 8">
              <a:extLst>
                <a:ext uri="{FF2B5EF4-FFF2-40B4-BE49-F238E27FC236}">
                  <a16:creationId xmlns:a16="http://schemas.microsoft.com/office/drawing/2014/main" id="{717EBDB0-4123-A496-E5E3-0ADB25A5C6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1920"/>
              <a:ext cx="15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</a:rPr>
                <a:t>I</a:t>
              </a:r>
            </a:p>
          </p:txBody>
        </p:sp>
      </p:grpSp>
      <p:grpSp>
        <p:nvGrpSpPr>
          <p:cNvPr id="29704" name="Group 9">
            <a:extLst>
              <a:ext uri="{FF2B5EF4-FFF2-40B4-BE49-F238E27FC236}">
                <a16:creationId xmlns:a16="http://schemas.microsoft.com/office/drawing/2014/main" id="{89855E72-5C39-119F-1E07-D74820BFD494}"/>
              </a:ext>
            </a:extLst>
          </p:cNvPr>
          <p:cNvGrpSpPr>
            <a:grpSpLocks/>
          </p:cNvGrpSpPr>
          <p:nvPr/>
        </p:nvGrpSpPr>
        <p:grpSpPr bwMode="auto">
          <a:xfrm>
            <a:off x="2668588" y="2743200"/>
            <a:ext cx="1446212" cy="1387475"/>
            <a:chOff x="384" y="1728"/>
            <a:chExt cx="911" cy="874"/>
          </a:xfrm>
        </p:grpSpPr>
        <p:sp>
          <p:nvSpPr>
            <p:cNvPr id="29760" name="Line 10">
              <a:extLst>
                <a:ext uri="{FF2B5EF4-FFF2-40B4-BE49-F238E27FC236}">
                  <a16:creationId xmlns:a16="http://schemas.microsoft.com/office/drawing/2014/main" id="{ACB7B9EF-A2D4-A283-4606-7871680115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1728"/>
              <a:ext cx="0" cy="6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761" name="Line 11">
              <a:extLst>
                <a:ext uri="{FF2B5EF4-FFF2-40B4-BE49-F238E27FC236}">
                  <a16:creationId xmlns:a16="http://schemas.microsoft.com/office/drawing/2014/main" id="{F2EEADAC-4D84-C9A3-196B-15BF0EE7F52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12" y="2064"/>
              <a:ext cx="0" cy="6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762" name="Text Box 12">
              <a:extLst>
                <a:ext uri="{FF2B5EF4-FFF2-40B4-BE49-F238E27FC236}">
                  <a16:creationId xmlns:a16="http://schemas.microsoft.com/office/drawing/2014/main" id="{D94F1ED5-8EFD-2695-4BB4-084BDE11F8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4" y="2390"/>
              <a:ext cx="20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</a:rPr>
                <a:t>V</a:t>
              </a:r>
            </a:p>
          </p:txBody>
        </p:sp>
        <p:sp>
          <p:nvSpPr>
            <p:cNvPr id="29763" name="Text Box 13">
              <a:extLst>
                <a:ext uri="{FF2B5EF4-FFF2-40B4-BE49-F238E27FC236}">
                  <a16:creationId xmlns:a16="http://schemas.microsoft.com/office/drawing/2014/main" id="{46B573AB-80D2-F607-7F1B-1C80F89C3E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1920"/>
              <a:ext cx="15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</a:rPr>
                <a:t>I</a:t>
              </a:r>
            </a:p>
          </p:txBody>
        </p:sp>
      </p:grpSp>
      <p:grpSp>
        <p:nvGrpSpPr>
          <p:cNvPr id="29705" name="Group 14">
            <a:extLst>
              <a:ext uri="{FF2B5EF4-FFF2-40B4-BE49-F238E27FC236}">
                <a16:creationId xmlns:a16="http://schemas.microsoft.com/office/drawing/2014/main" id="{30ADFCC7-6CFF-322A-A5FA-D4C46C1C08A6}"/>
              </a:ext>
            </a:extLst>
          </p:cNvPr>
          <p:cNvGrpSpPr>
            <a:grpSpLocks/>
          </p:cNvGrpSpPr>
          <p:nvPr/>
        </p:nvGrpSpPr>
        <p:grpSpPr bwMode="auto">
          <a:xfrm>
            <a:off x="4649788" y="2743200"/>
            <a:ext cx="1446212" cy="1387475"/>
            <a:chOff x="384" y="1728"/>
            <a:chExt cx="911" cy="874"/>
          </a:xfrm>
        </p:grpSpPr>
        <p:sp>
          <p:nvSpPr>
            <p:cNvPr id="29756" name="Line 15">
              <a:extLst>
                <a:ext uri="{FF2B5EF4-FFF2-40B4-BE49-F238E27FC236}">
                  <a16:creationId xmlns:a16="http://schemas.microsoft.com/office/drawing/2014/main" id="{957784C7-DD9B-3350-46DE-CF638DF36A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1728"/>
              <a:ext cx="0" cy="6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757" name="Line 16">
              <a:extLst>
                <a:ext uri="{FF2B5EF4-FFF2-40B4-BE49-F238E27FC236}">
                  <a16:creationId xmlns:a16="http://schemas.microsoft.com/office/drawing/2014/main" id="{6939F4DA-331D-3409-ED8E-299A52A8B40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12" y="2064"/>
              <a:ext cx="0" cy="6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758" name="Text Box 17">
              <a:extLst>
                <a:ext uri="{FF2B5EF4-FFF2-40B4-BE49-F238E27FC236}">
                  <a16:creationId xmlns:a16="http://schemas.microsoft.com/office/drawing/2014/main" id="{EC1F08B7-6D47-1797-4E1F-C4B6991BD3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4" y="2390"/>
              <a:ext cx="20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</a:rPr>
                <a:t>V</a:t>
              </a:r>
            </a:p>
          </p:txBody>
        </p:sp>
        <p:sp>
          <p:nvSpPr>
            <p:cNvPr id="29759" name="Text Box 18">
              <a:extLst>
                <a:ext uri="{FF2B5EF4-FFF2-40B4-BE49-F238E27FC236}">
                  <a16:creationId xmlns:a16="http://schemas.microsoft.com/office/drawing/2014/main" id="{1273A77B-4C79-D70E-FDF4-65FD290927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1920"/>
              <a:ext cx="15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</a:rPr>
                <a:t>I</a:t>
              </a:r>
            </a:p>
          </p:txBody>
        </p:sp>
      </p:grpSp>
      <p:grpSp>
        <p:nvGrpSpPr>
          <p:cNvPr id="29706" name="Group 19">
            <a:extLst>
              <a:ext uri="{FF2B5EF4-FFF2-40B4-BE49-F238E27FC236}">
                <a16:creationId xmlns:a16="http://schemas.microsoft.com/office/drawing/2014/main" id="{964C0F89-0F2D-9DDB-A07B-7B07B7DD3DE6}"/>
              </a:ext>
            </a:extLst>
          </p:cNvPr>
          <p:cNvGrpSpPr>
            <a:grpSpLocks/>
          </p:cNvGrpSpPr>
          <p:nvPr/>
        </p:nvGrpSpPr>
        <p:grpSpPr bwMode="auto">
          <a:xfrm>
            <a:off x="6707188" y="2743200"/>
            <a:ext cx="1446212" cy="1387475"/>
            <a:chOff x="384" y="1728"/>
            <a:chExt cx="911" cy="874"/>
          </a:xfrm>
        </p:grpSpPr>
        <p:sp>
          <p:nvSpPr>
            <p:cNvPr id="29752" name="Line 20">
              <a:extLst>
                <a:ext uri="{FF2B5EF4-FFF2-40B4-BE49-F238E27FC236}">
                  <a16:creationId xmlns:a16="http://schemas.microsoft.com/office/drawing/2014/main" id="{BBCBD512-B3F7-5838-EEAD-D58993C069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1728"/>
              <a:ext cx="0" cy="6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753" name="Line 21">
              <a:extLst>
                <a:ext uri="{FF2B5EF4-FFF2-40B4-BE49-F238E27FC236}">
                  <a16:creationId xmlns:a16="http://schemas.microsoft.com/office/drawing/2014/main" id="{C2D340D0-D197-C0B0-9ED3-F0C7BA0FE68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12" y="2064"/>
              <a:ext cx="0" cy="6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754" name="Text Box 22">
              <a:extLst>
                <a:ext uri="{FF2B5EF4-FFF2-40B4-BE49-F238E27FC236}">
                  <a16:creationId xmlns:a16="http://schemas.microsoft.com/office/drawing/2014/main" id="{34ED6637-469F-D2B4-D616-B74A2E1F11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4" y="2390"/>
              <a:ext cx="20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</a:rPr>
                <a:t>V</a:t>
              </a:r>
            </a:p>
          </p:txBody>
        </p:sp>
        <p:sp>
          <p:nvSpPr>
            <p:cNvPr id="29755" name="Text Box 23">
              <a:extLst>
                <a:ext uri="{FF2B5EF4-FFF2-40B4-BE49-F238E27FC236}">
                  <a16:creationId xmlns:a16="http://schemas.microsoft.com/office/drawing/2014/main" id="{619BA53F-48F3-FB91-0DA5-2C41EB10A3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1920"/>
              <a:ext cx="15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</a:rPr>
                <a:t>I</a:t>
              </a:r>
            </a:p>
          </p:txBody>
        </p:sp>
      </p:grpSp>
      <p:sp>
        <p:nvSpPr>
          <p:cNvPr id="29707" name="Line 24">
            <a:extLst>
              <a:ext uri="{FF2B5EF4-FFF2-40B4-BE49-F238E27FC236}">
                <a16:creationId xmlns:a16="http://schemas.microsoft.com/office/drawing/2014/main" id="{82B00263-8A3E-A18B-0F02-A029FEBB42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800" y="2819400"/>
            <a:ext cx="1219200" cy="12192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08" name="Line 26">
            <a:extLst>
              <a:ext uri="{FF2B5EF4-FFF2-40B4-BE49-F238E27FC236}">
                <a16:creationId xmlns:a16="http://schemas.microsoft.com/office/drawing/2014/main" id="{6E8451D3-4A53-BE3E-3567-309868BEC5D2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3810000"/>
            <a:ext cx="762000" cy="0"/>
          </a:xfrm>
          <a:prstGeom prst="line">
            <a:avLst/>
          </a:prstGeom>
          <a:noFill/>
          <a:ln w="2222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09" name="Line 27">
            <a:extLst>
              <a:ext uri="{FF2B5EF4-FFF2-40B4-BE49-F238E27FC236}">
                <a16:creationId xmlns:a16="http://schemas.microsoft.com/office/drawing/2014/main" id="{D8170C9D-E5C2-8E61-11C0-E283301837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57800" y="2819400"/>
            <a:ext cx="0" cy="990600"/>
          </a:xfrm>
          <a:prstGeom prst="line">
            <a:avLst/>
          </a:prstGeom>
          <a:noFill/>
          <a:ln w="2222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29710" name="Group 28">
            <a:extLst>
              <a:ext uri="{FF2B5EF4-FFF2-40B4-BE49-F238E27FC236}">
                <a16:creationId xmlns:a16="http://schemas.microsoft.com/office/drawing/2014/main" id="{BD466049-EA75-B21C-1D83-4AEF2D02710C}"/>
              </a:ext>
            </a:extLst>
          </p:cNvPr>
          <p:cNvGrpSpPr>
            <a:grpSpLocks/>
          </p:cNvGrpSpPr>
          <p:nvPr/>
        </p:nvGrpSpPr>
        <p:grpSpPr bwMode="auto">
          <a:xfrm>
            <a:off x="6662738" y="2895600"/>
            <a:ext cx="381000" cy="914400"/>
            <a:chOff x="4224" y="1824"/>
            <a:chExt cx="240" cy="576"/>
          </a:xfrm>
        </p:grpSpPr>
        <p:sp>
          <p:nvSpPr>
            <p:cNvPr id="29750" name="Line 29">
              <a:extLst>
                <a:ext uri="{FF2B5EF4-FFF2-40B4-BE49-F238E27FC236}">
                  <a16:creationId xmlns:a16="http://schemas.microsoft.com/office/drawing/2014/main" id="{EB876EB8-E5C4-67C7-1152-E6141B31FB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2400"/>
              <a:ext cx="240" cy="0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751" name="Line 30">
              <a:extLst>
                <a:ext uri="{FF2B5EF4-FFF2-40B4-BE49-F238E27FC236}">
                  <a16:creationId xmlns:a16="http://schemas.microsoft.com/office/drawing/2014/main" id="{0198CE06-17DC-CC9E-7007-6F26F6D15C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64" y="1824"/>
              <a:ext cx="0" cy="576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29711" name="Text Box 31">
            <a:extLst>
              <a:ext uri="{FF2B5EF4-FFF2-40B4-BE49-F238E27FC236}">
                <a16:creationId xmlns:a16="http://schemas.microsoft.com/office/drawing/2014/main" id="{46E44BC8-4ABF-A2B5-6559-7403B01A08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9350" y="3897313"/>
            <a:ext cx="6000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400">
                <a:solidFill>
                  <a:schemeClr val="hlink"/>
                </a:solidFill>
              </a:rPr>
              <a:t>0.6 V</a:t>
            </a:r>
            <a:endParaRPr lang="en-US" altLang="en-US" sz="1400"/>
          </a:p>
        </p:txBody>
      </p:sp>
      <p:sp>
        <p:nvSpPr>
          <p:cNvPr id="29712" name="Text Box 32">
            <a:extLst>
              <a:ext uri="{FF2B5EF4-FFF2-40B4-BE49-F238E27FC236}">
                <a16:creationId xmlns:a16="http://schemas.microsoft.com/office/drawing/2014/main" id="{8AFA3EC5-5F5A-DEA4-F89C-B9ECBA7AF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129088"/>
            <a:ext cx="1479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solidFill>
                  <a:schemeClr val="accent2"/>
                </a:solidFill>
              </a:rPr>
              <a:t>plain resistor</a:t>
            </a:r>
          </a:p>
        </p:txBody>
      </p:sp>
      <p:sp>
        <p:nvSpPr>
          <p:cNvPr id="29713" name="Text Box 33">
            <a:extLst>
              <a:ext uri="{FF2B5EF4-FFF2-40B4-BE49-F238E27FC236}">
                <a16:creationId xmlns:a16="http://schemas.microsoft.com/office/drawing/2014/main" id="{A88BE859-FB34-1CDB-17C3-E3F25D295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4129088"/>
            <a:ext cx="742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solidFill>
                  <a:schemeClr val="accent2"/>
                </a:solidFill>
              </a:rPr>
              <a:t>diode</a:t>
            </a:r>
          </a:p>
        </p:txBody>
      </p:sp>
      <p:sp>
        <p:nvSpPr>
          <p:cNvPr id="29714" name="Text Box 34">
            <a:extLst>
              <a:ext uri="{FF2B5EF4-FFF2-40B4-BE49-F238E27FC236}">
                <a16:creationId xmlns:a16="http://schemas.microsoft.com/office/drawing/2014/main" id="{657928E3-F1A1-9037-AD3E-C4F0C6D97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4129088"/>
            <a:ext cx="17097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solidFill>
                  <a:schemeClr val="accent2"/>
                </a:solidFill>
              </a:rPr>
              <a:t>idealized diode</a:t>
            </a:r>
          </a:p>
        </p:txBody>
      </p:sp>
      <p:sp>
        <p:nvSpPr>
          <p:cNvPr id="29715" name="Text Box 35">
            <a:extLst>
              <a:ext uri="{FF2B5EF4-FFF2-40B4-BE49-F238E27FC236}">
                <a16:creationId xmlns:a16="http://schemas.microsoft.com/office/drawing/2014/main" id="{EEBDDA63-D382-5CB0-80B9-E22014E005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3663" y="4129088"/>
            <a:ext cx="22939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solidFill>
                  <a:schemeClr val="tx2"/>
                </a:solidFill>
              </a:rPr>
              <a:t>WAY</a:t>
            </a:r>
            <a:r>
              <a:rPr lang="en-US" altLang="en-US" sz="1800">
                <a:solidFill>
                  <a:schemeClr val="accent2"/>
                </a:solidFill>
              </a:rPr>
              <a:t> idealized diode</a:t>
            </a:r>
          </a:p>
        </p:txBody>
      </p:sp>
      <p:sp>
        <p:nvSpPr>
          <p:cNvPr id="29716" name="Line 36">
            <a:extLst>
              <a:ext uri="{FF2B5EF4-FFF2-40B4-BE49-F238E27FC236}">
                <a16:creationId xmlns:a16="http://schemas.microsoft.com/office/drawing/2014/main" id="{64BF3245-D6AE-7E9E-E2C8-C84921A7385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" y="6019800"/>
            <a:ext cx="1524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17" name="Line 37">
            <a:extLst>
              <a:ext uri="{FF2B5EF4-FFF2-40B4-BE49-F238E27FC236}">
                <a16:creationId xmlns:a16="http://schemas.microsoft.com/office/drawing/2014/main" id="{1CE4B84C-E817-41C4-CA85-4D37784AFB2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" y="4800600"/>
            <a:ext cx="1524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29718" name="Group 38">
            <a:extLst>
              <a:ext uri="{FF2B5EF4-FFF2-40B4-BE49-F238E27FC236}">
                <a16:creationId xmlns:a16="http://schemas.microsoft.com/office/drawing/2014/main" id="{B7CEDD33-CCCF-404D-586C-6F8275EC1C64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533400" y="4800600"/>
            <a:ext cx="593725" cy="1219200"/>
            <a:chOff x="336" y="3024"/>
            <a:chExt cx="374" cy="768"/>
          </a:xfrm>
        </p:grpSpPr>
        <p:sp>
          <p:nvSpPr>
            <p:cNvPr id="29746" name="Line 39">
              <a:extLst>
                <a:ext uri="{FF2B5EF4-FFF2-40B4-BE49-F238E27FC236}">
                  <a16:creationId xmlns:a16="http://schemas.microsoft.com/office/drawing/2014/main" id="{C0DB1C3B-E7F6-5509-4A5D-45E9EEBFDF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0" y="3456"/>
              <a:ext cx="18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747" name="Line 40">
              <a:extLst>
                <a:ext uri="{FF2B5EF4-FFF2-40B4-BE49-F238E27FC236}">
                  <a16:creationId xmlns:a16="http://schemas.microsoft.com/office/drawing/2014/main" id="{77EF0062-E9A3-CE04-B1BF-0735CCACBD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8" y="3456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748" name="Line 41">
              <a:extLst>
                <a:ext uri="{FF2B5EF4-FFF2-40B4-BE49-F238E27FC236}">
                  <a16:creationId xmlns:a16="http://schemas.microsoft.com/office/drawing/2014/main" id="{B56ADD27-8C18-9CBF-E03D-C63DBF0734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6" y="3312"/>
              <a:ext cx="37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749" name="Line 42">
              <a:extLst>
                <a:ext uri="{FF2B5EF4-FFF2-40B4-BE49-F238E27FC236}">
                  <a16:creationId xmlns:a16="http://schemas.microsoft.com/office/drawing/2014/main" id="{33EA0154-9140-23A9-5301-DB5738DC06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3024"/>
              <a:ext cx="0" cy="2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29719" name="Group 43">
            <a:extLst>
              <a:ext uri="{FF2B5EF4-FFF2-40B4-BE49-F238E27FC236}">
                <a16:creationId xmlns:a16="http://schemas.microsoft.com/office/drawing/2014/main" id="{2F5483DB-3F13-942D-4A2E-7CD362795CC5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2247900" y="4800600"/>
            <a:ext cx="228600" cy="1219200"/>
            <a:chOff x="1416" y="3024"/>
            <a:chExt cx="144" cy="768"/>
          </a:xfrm>
        </p:grpSpPr>
        <p:sp>
          <p:nvSpPr>
            <p:cNvPr id="29743" name="Line 44">
              <a:extLst>
                <a:ext uri="{FF2B5EF4-FFF2-40B4-BE49-F238E27FC236}">
                  <a16:creationId xmlns:a16="http://schemas.microsoft.com/office/drawing/2014/main" id="{770039EC-7198-DBBF-339D-861C399384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3024"/>
              <a:ext cx="0" cy="7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744" name="AutoShape 45">
              <a:extLst>
                <a:ext uri="{FF2B5EF4-FFF2-40B4-BE49-F238E27FC236}">
                  <a16:creationId xmlns:a16="http://schemas.microsoft.com/office/drawing/2014/main" id="{7C2BF931-F256-F070-8050-207C1861C3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6" y="3360"/>
              <a:ext cx="144" cy="96"/>
            </a:xfrm>
            <a:prstGeom prst="triangle">
              <a:avLst>
                <a:gd name="adj" fmla="val 50000"/>
              </a:avLst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9745" name="Line 46">
              <a:extLst>
                <a:ext uri="{FF2B5EF4-FFF2-40B4-BE49-F238E27FC236}">
                  <a16:creationId xmlns:a16="http://schemas.microsoft.com/office/drawing/2014/main" id="{0C7CA0FC-82FE-36B0-A333-FEC6A683F1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6" y="3360"/>
              <a:ext cx="14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29720" name="Line 47">
            <a:extLst>
              <a:ext uri="{FF2B5EF4-FFF2-40B4-BE49-F238E27FC236}">
                <a16:creationId xmlns:a16="http://schemas.microsoft.com/office/drawing/2014/main" id="{E458BE7D-4BB1-246E-19C6-92EEC7D0C5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75200" y="5486400"/>
            <a:ext cx="2921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21" name="Line 48">
            <a:extLst>
              <a:ext uri="{FF2B5EF4-FFF2-40B4-BE49-F238E27FC236}">
                <a16:creationId xmlns:a16="http://schemas.microsoft.com/office/drawing/2014/main" id="{F98A976D-B17C-1F68-5B40-AE8DA0FC4148}"/>
              </a:ext>
            </a:extLst>
          </p:cNvPr>
          <p:cNvSpPr>
            <a:spLocks noChangeShapeType="1"/>
          </p:cNvSpPr>
          <p:nvPr/>
        </p:nvSpPr>
        <p:spPr bwMode="auto">
          <a:xfrm>
            <a:off x="4914900" y="548640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22" name="Line 49">
            <a:extLst>
              <a:ext uri="{FF2B5EF4-FFF2-40B4-BE49-F238E27FC236}">
                <a16:creationId xmlns:a16="http://schemas.microsoft.com/office/drawing/2014/main" id="{1CCA4308-F1E1-FC76-1A2F-EBE39F9118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14900" y="6019800"/>
            <a:ext cx="1524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23" name="Line 50">
            <a:extLst>
              <a:ext uri="{FF2B5EF4-FFF2-40B4-BE49-F238E27FC236}">
                <a16:creationId xmlns:a16="http://schemas.microsoft.com/office/drawing/2014/main" id="{A373281D-2B10-F50F-8C9F-4E982ED99A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14900" y="4800600"/>
            <a:ext cx="1524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24" name="Line 51">
            <a:extLst>
              <a:ext uri="{FF2B5EF4-FFF2-40B4-BE49-F238E27FC236}">
                <a16:creationId xmlns:a16="http://schemas.microsoft.com/office/drawing/2014/main" id="{C442C57F-0EBD-38B5-7381-041A780DC971}"/>
              </a:ext>
            </a:extLst>
          </p:cNvPr>
          <p:cNvSpPr>
            <a:spLocks noChangeShapeType="1"/>
          </p:cNvSpPr>
          <p:nvPr/>
        </p:nvSpPr>
        <p:spPr bwMode="auto">
          <a:xfrm>
            <a:off x="4610100" y="5257800"/>
            <a:ext cx="5937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725" name="Line 52">
            <a:extLst>
              <a:ext uri="{FF2B5EF4-FFF2-40B4-BE49-F238E27FC236}">
                <a16:creationId xmlns:a16="http://schemas.microsoft.com/office/drawing/2014/main" id="{D4C87F1C-F4AD-E67D-0756-F8D765C5C99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14900" y="4800600"/>
            <a:ext cx="0" cy="457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29726" name="Group 53">
            <a:extLst>
              <a:ext uri="{FF2B5EF4-FFF2-40B4-BE49-F238E27FC236}">
                <a16:creationId xmlns:a16="http://schemas.microsoft.com/office/drawing/2014/main" id="{AF5AD555-947B-3BEE-3B78-287789F49594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6324600" y="4800600"/>
            <a:ext cx="228600" cy="1219200"/>
            <a:chOff x="1416" y="3024"/>
            <a:chExt cx="144" cy="768"/>
          </a:xfrm>
        </p:grpSpPr>
        <p:sp>
          <p:nvSpPr>
            <p:cNvPr id="29740" name="Line 54">
              <a:extLst>
                <a:ext uri="{FF2B5EF4-FFF2-40B4-BE49-F238E27FC236}">
                  <a16:creationId xmlns:a16="http://schemas.microsoft.com/office/drawing/2014/main" id="{5E9ECE31-ED6D-95BE-01CF-746114EFDA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3024"/>
              <a:ext cx="0" cy="7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741" name="AutoShape 55">
              <a:extLst>
                <a:ext uri="{FF2B5EF4-FFF2-40B4-BE49-F238E27FC236}">
                  <a16:creationId xmlns:a16="http://schemas.microsoft.com/office/drawing/2014/main" id="{075D7E2B-54EC-169E-CBCA-A62D5A4D3A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6" y="3360"/>
              <a:ext cx="144" cy="96"/>
            </a:xfrm>
            <a:prstGeom prst="triangle">
              <a:avLst>
                <a:gd name="adj" fmla="val 50000"/>
              </a:avLst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9742" name="Line 56">
              <a:extLst>
                <a:ext uri="{FF2B5EF4-FFF2-40B4-BE49-F238E27FC236}">
                  <a16:creationId xmlns:a16="http://schemas.microsoft.com/office/drawing/2014/main" id="{B959D04A-C812-E8DB-CBA5-27CE922EDC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6" y="3360"/>
              <a:ext cx="14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29727" name="Text Box 57">
            <a:extLst>
              <a:ext uri="{FF2B5EF4-FFF2-40B4-BE49-F238E27FC236}">
                <a16:creationId xmlns:a16="http://schemas.microsoft.com/office/drawing/2014/main" id="{5198BA1B-E25A-D612-75D7-EC399D1355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950" y="6030913"/>
            <a:ext cx="1976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2000">
                <a:solidFill>
                  <a:schemeClr val="hlink"/>
                </a:solidFill>
              </a:rPr>
              <a:t>no current flows</a:t>
            </a:r>
          </a:p>
        </p:txBody>
      </p:sp>
      <p:sp>
        <p:nvSpPr>
          <p:cNvPr id="29728" name="Text Box 58">
            <a:extLst>
              <a:ext uri="{FF2B5EF4-FFF2-40B4-BE49-F238E27FC236}">
                <a16:creationId xmlns:a16="http://schemas.microsoft.com/office/drawing/2014/main" id="{745241AC-0CE5-16AA-F892-E2C8493AAB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5375" y="6019800"/>
            <a:ext cx="1624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2000">
                <a:solidFill>
                  <a:schemeClr val="hlink"/>
                </a:solidFill>
              </a:rPr>
              <a:t>current flows</a:t>
            </a:r>
          </a:p>
        </p:txBody>
      </p:sp>
      <p:sp>
        <p:nvSpPr>
          <p:cNvPr id="29729" name="Text Box 59">
            <a:extLst>
              <a:ext uri="{FF2B5EF4-FFF2-40B4-BE49-F238E27FC236}">
                <a16:creationId xmlns:a16="http://schemas.microsoft.com/office/drawing/2014/main" id="{FE2CFA44-1C19-5480-1565-6A34F7E9E5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0725" y="4784725"/>
            <a:ext cx="2036763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>
                <a:solidFill>
                  <a:schemeClr val="hlink"/>
                </a:solidFill>
              </a:rPr>
              <a:t>the direction the</a:t>
            </a:r>
          </a:p>
          <a:p>
            <a:r>
              <a:rPr lang="en-US" altLang="en-US" sz="1600">
                <a:solidFill>
                  <a:schemeClr val="hlink"/>
                </a:solidFill>
              </a:rPr>
              <a:t>arrow points in the</a:t>
            </a:r>
          </a:p>
          <a:p>
            <a:r>
              <a:rPr lang="en-US" altLang="en-US" sz="1600">
                <a:solidFill>
                  <a:schemeClr val="hlink"/>
                </a:solidFill>
              </a:rPr>
              <a:t>diode symbol is the</a:t>
            </a:r>
          </a:p>
          <a:p>
            <a:r>
              <a:rPr lang="en-US" altLang="en-US" sz="1600">
                <a:solidFill>
                  <a:schemeClr val="hlink"/>
                </a:solidFill>
              </a:rPr>
              <a:t>direction that current</a:t>
            </a:r>
          </a:p>
          <a:p>
            <a:r>
              <a:rPr lang="en-US" altLang="en-US" sz="1600" i="1">
                <a:solidFill>
                  <a:schemeClr val="hlink"/>
                </a:solidFill>
              </a:rPr>
              <a:t>will</a:t>
            </a:r>
            <a:r>
              <a:rPr lang="en-US" altLang="en-US" sz="1600">
                <a:solidFill>
                  <a:schemeClr val="hlink"/>
                </a:solidFill>
              </a:rPr>
              <a:t> flow</a:t>
            </a:r>
          </a:p>
        </p:txBody>
      </p:sp>
      <p:sp>
        <p:nvSpPr>
          <p:cNvPr id="29730" name="AutoShape 60">
            <a:extLst>
              <a:ext uri="{FF2B5EF4-FFF2-40B4-BE49-F238E27FC236}">
                <a16:creationId xmlns:a16="http://schemas.microsoft.com/office/drawing/2014/main" id="{E58A5F08-89A8-B560-A6D3-CD084B4E35ED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066800" y="5410200"/>
            <a:ext cx="1066800" cy="533400"/>
          </a:xfrm>
          <a:custGeom>
            <a:avLst/>
            <a:gdLst>
              <a:gd name="T0" fmla="*/ 1128224714 w 21600"/>
              <a:gd name="T1" fmla="*/ 1430623 h 21600"/>
              <a:gd name="T2" fmla="*/ 120592257 w 21600"/>
              <a:gd name="T3" fmla="*/ 162622572 h 21600"/>
              <a:gd name="T4" fmla="*/ 1160391253 w 21600"/>
              <a:gd name="T5" fmla="*/ 31353054 h 21600"/>
              <a:gd name="T6" fmla="*/ 2147483647 w 21600"/>
              <a:gd name="T7" fmla="*/ 109117959 h 21600"/>
              <a:gd name="T8" fmla="*/ 2147483647 w 21600"/>
              <a:gd name="T9" fmla="*/ 177591727 h 21600"/>
              <a:gd name="T10" fmla="*/ 2009481376 w 21600"/>
              <a:gd name="T11" fmla="*/ 138467775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9284" y="8485"/>
                </a:moveTo>
                <a:cubicBezTo>
                  <a:pt x="18241" y="4659"/>
                  <a:pt x="14765" y="2004"/>
                  <a:pt x="10800" y="2004"/>
                </a:cubicBezTo>
                <a:cubicBezTo>
                  <a:pt x="5942" y="2005"/>
                  <a:pt x="2005" y="5942"/>
                  <a:pt x="2005" y="10800"/>
                </a:cubicBezTo>
                <a:lnTo>
                  <a:pt x="-1" y="10799"/>
                </a:lnTo>
                <a:cubicBezTo>
                  <a:pt x="0" y="4835"/>
                  <a:pt x="4835" y="0"/>
                  <a:pt x="10800" y="0"/>
                </a:cubicBezTo>
                <a:cubicBezTo>
                  <a:pt x="15669" y="-1"/>
                  <a:pt x="19937" y="3259"/>
                  <a:pt x="21219" y="7957"/>
                </a:cubicBezTo>
                <a:lnTo>
                  <a:pt x="23823" y="7246"/>
                </a:lnTo>
                <a:lnTo>
                  <a:pt x="21226" y="11793"/>
                </a:lnTo>
                <a:lnTo>
                  <a:pt x="16680" y="9195"/>
                </a:lnTo>
                <a:lnTo>
                  <a:pt x="19284" y="8485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9731" name="AutoShape 61">
            <a:extLst>
              <a:ext uri="{FF2B5EF4-FFF2-40B4-BE49-F238E27FC236}">
                <a16:creationId xmlns:a16="http://schemas.microsoft.com/office/drawing/2014/main" id="{A12A583D-1E41-731C-B1AA-DA87CB64A2E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219200" y="5181600"/>
            <a:ext cx="762000" cy="762000"/>
          </a:xfrm>
          <a:custGeom>
            <a:avLst/>
            <a:gdLst>
              <a:gd name="T0" fmla="*/ 474162720 w 21600"/>
              <a:gd name="T1" fmla="*/ 0 h 21600"/>
              <a:gd name="T2" fmla="*/ 138868714 w 21600"/>
              <a:gd name="T3" fmla="*/ 138868714 h 21600"/>
              <a:gd name="T4" fmla="*/ 0 w 21600"/>
              <a:gd name="T5" fmla="*/ 474162720 h 21600"/>
              <a:gd name="T6" fmla="*/ 138868714 w 21600"/>
              <a:gd name="T7" fmla="*/ 809456760 h 21600"/>
              <a:gd name="T8" fmla="*/ 474162720 w 21600"/>
              <a:gd name="T9" fmla="*/ 948325475 h 21600"/>
              <a:gd name="T10" fmla="*/ 809456760 w 21600"/>
              <a:gd name="T11" fmla="*/ 809456760 h 21600"/>
              <a:gd name="T12" fmla="*/ 948325475 w 21600"/>
              <a:gd name="T13" fmla="*/ 474162720 h 21600"/>
              <a:gd name="T14" fmla="*/ 809456760 w 21600"/>
              <a:gd name="T15" fmla="*/ 138868714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401" y="15493"/>
                </a:moveTo>
                <a:cubicBezTo>
                  <a:pt x="18376" y="14122"/>
                  <a:pt x="18900" y="12482"/>
                  <a:pt x="18900" y="10800"/>
                </a:cubicBezTo>
                <a:cubicBezTo>
                  <a:pt x="18900" y="6326"/>
                  <a:pt x="15273" y="2700"/>
                  <a:pt x="10800" y="2700"/>
                </a:cubicBezTo>
                <a:cubicBezTo>
                  <a:pt x="9117" y="2699"/>
                  <a:pt x="7477" y="3223"/>
                  <a:pt x="6106" y="4198"/>
                </a:cubicBezTo>
                <a:close/>
                <a:moveTo>
                  <a:pt x="4198" y="6106"/>
                </a:moveTo>
                <a:cubicBezTo>
                  <a:pt x="3223" y="7477"/>
                  <a:pt x="2699" y="9117"/>
                  <a:pt x="2699" y="10799"/>
                </a:cubicBezTo>
                <a:cubicBezTo>
                  <a:pt x="2700" y="15273"/>
                  <a:pt x="6326" y="18900"/>
                  <a:pt x="10800" y="18900"/>
                </a:cubicBezTo>
                <a:cubicBezTo>
                  <a:pt x="12482" y="18900"/>
                  <a:pt x="14122" y="18376"/>
                  <a:pt x="15493" y="17401"/>
                </a:cubicBezTo>
                <a:close/>
              </a:path>
            </a:pathLst>
          </a:custGeom>
          <a:solidFill>
            <a:schemeClr val="hlink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9732" name="AutoShape 62">
            <a:extLst>
              <a:ext uri="{FF2B5EF4-FFF2-40B4-BE49-F238E27FC236}">
                <a16:creationId xmlns:a16="http://schemas.microsoft.com/office/drawing/2014/main" id="{B65C9500-4E9C-13D7-04A7-11AAC6550F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4876800"/>
            <a:ext cx="1066800" cy="533400"/>
          </a:xfrm>
          <a:custGeom>
            <a:avLst/>
            <a:gdLst>
              <a:gd name="T0" fmla="*/ 1128224714 w 21600"/>
              <a:gd name="T1" fmla="*/ 1430623 h 21600"/>
              <a:gd name="T2" fmla="*/ 120592257 w 21600"/>
              <a:gd name="T3" fmla="*/ 162622572 h 21600"/>
              <a:gd name="T4" fmla="*/ 1160391253 w 21600"/>
              <a:gd name="T5" fmla="*/ 31353054 h 21600"/>
              <a:gd name="T6" fmla="*/ 2147483647 w 21600"/>
              <a:gd name="T7" fmla="*/ 109117959 h 21600"/>
              <a:gd name="T8" fmla="*/ 2147483647 w 21600"/>
              <a:gd name="T9" fmla="*/ 177591727 h 21600"/>
              <a:gd name="T10" fmla="*/ 2009481376 w 21600"/>
              <a:gd name="T11" fmla="*/ 138467775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9284" y="8485"/>
                </a:moveTo>
                <a:cubicBezTo>
                  <a:pt x="18241" y="4659"/>
                  <a:pt x="14765" y="2004"/>
                  <a:pt x="10800" y="2004"/>
                </a:cubicBezTo>
                <a:cubicBezTo>
                  <a:pt x="5942" y="2005"/>
                  <a:pt x="2005" y="5942"/>
                  <a:pt x="2005" y="10800"/>
                </a:cubicBezTo>
                <a:lnTo>
                  <a:pt x="-1" y="10799"/>
                </a:lnTo>
                <a:cubicBezTo>
                  <a:pt x="0" y="4835"/>
                  <a:pt x="4835" y="0"/>
                  <a:pt x="10800" y="0"/>
                </a:cubicBezTo>
                <a:cubicBezTo>
                  <a:pt x="15669" y="-1"/>
                  <a:pt x="19937" y="3259"/>
                  <a:pt x="21219" y="7957"/>
                </a:cubicBezTo>
                <a:lnTo>
                  <a:pt x="23823" y="7246"/>
                </a:lnTo>
                <a:lnTo>
                  <a:pt x="21226" y="11793"/>
                </a:lnTo>
                <a:lnTo>
                  <a:pt x="16680" y="9195"/>
                </a:lnTo>
                <a:lnTo>
                  <a:pt x="19284" y="8485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29733" name="Group 63">
            <a:extLst>
              <a:ext uri="{FF2B5EF4-FFF2-40B4-BE49-F238E27FC236}">
                <a16:creationId xmlns:a16="http://schemas.microsoft.com/office/drawing/2014/main" id="{EC665A98-D3C7-A945-80D9-7912FCDBB56A}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4000500" y="1028700"/>
            <a:ext cx="228600" cy="1219200"/>
            <a:chOff x="1416" y="3024"/>
            <a:chExt cx="144" cy="768"/>
          </a:xfrm>
        </p:grpSpPr>
        <p:sp>
          <p:nvSpPr>
            <p:cNvPr id="29737" name="Line 64">
              <a:extLst>
                <a:ext uri="{FF2B5EF4-FFF2-40B4-BE49-F238E27FC236}">
                  <a16:creationId xmlns:a16="http://schemas.microsoft.com/office/drawing/2014/main" id="{16AE629E-CCB4-CE20-9B27-5787BA89B6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3024"/>
              <a:ext cx="0" cy="76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738" name="AutoShape 65">
              <a:extLst>
                <a:ext uri="{FF2B5EF4-FFF2-40B4-BE49-F238E27FC236}">
                  <a16:creationId xmlns:a16="http://schemas.microsoft.com/office/drawing/2014/main" id="{95C48BB1-6832-3532-88AD-24BCB69E8C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6" y="3360"/>
              <a:ext cx="144" cy="96"/>
            </a:xfrm>
            <a:prstGeom prst="triangle">
              <a:avLst>
                <a:gd name="adj" fmla="val 50000"/>
              </a:avLst>
            </a:prstGeom>
            <a:solidFill>
              <a:srgbClr val="000000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9739" name="Line 66">
              <a:extLst>
                <a:ext uri="{FF2B5EF4-FFF2-40B4-BE49-F238E27FC236}">
                  <a16:creationId xmlns:a16="http://schemas.microsoft.com/office/drawing/2014/main" id="{DB4FF31D-2427-35A7-9ED3-DD15BE6082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6" y="3360"/>
              <a:ext cx="14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pic>
        <p:nvPicPr>
          <p:cNvPr id="29734" name="Picture 67" descr="diode">
            <a:extLst>
              <a:ext uri="{FF2B5EF4-FFF2-40B4-BE49-F238E27FC236}">
                <a16:creationId xmlns:a16="http://schemas.microsoft.com/office/drawing/2014/main" id="{8474956C-AEA4-86A1-DF65-8944F8FA99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5791200" y="1371600"/>
            <a:ext cx="1790700" cy="118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35" name="Text Box 68">
            <a:extLst>
              <a:ext uri="{FF2B5EF4-FFF2-40B4-BE49-F238E27FC236}">
                <a16:creationId xmlns:a16="http://schemas.microsoft.com/office/drawing/2014/main" id="{AF60AEE2-0298-BAB4-42D6-248E907C7D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2663825"/>
            <a:ext cx="2116138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>
                <a:solidFill>
                  <a:schemeClr val="accent2"/>
                </a:solidFill>
              </a:rPr>
              <a:t>acts just like a wire</a:t>
            </a:r>
          </a:p>
          <a:p>
            <a:r>
              <a:rPr lang="en-US" altLang="en-US" sz="1600">
                <a:solidFill>
                  <a:schemeClr val="accent2"/>
                </a:solidFill>
              </a:rPr>
              <a:t>(will support arbitrary</a:t>
            </a:r>
          </a:p>
          <a:p>
            <a:r>
              <a:rPr lang="en-US" altLang="en-US" sz="1600">
                <a:solidFill>
                  <a:schemeClr val="accent2"/>
                </a:solidFill>
              </a:rPr>
              <a:t>current) provided that</a:t>
            </a:r>
          </a:p>
          <a:p>
            <a:r>
              <a:rPr lang="en-US" altLang="en-US" sz="1600">
                <a:solidFill>
                  <a:schemeClr val="accent2"/>
                </a:solidFill>
              </a:rPr>
              <a:t>voltage is positive</a:t>
            </a:r>
          </a:p>
        </p:txBody>
      </p:sp>
      <p:sp>
        <p:nvSpPr>
          <p:cNvPr id="29736" name="Freeform 70">
            <a:extLst>
              <a:ext uri="{FF2B5EF4-FFF2-40B4-BE49-F238E27FC236}">
                <a16:creationId xmlns:a16="http://schemas.microsoft.com/office/drawing/2014/main" id="{E0F05AC8-2824-9F89-93A7-08B62A91CF05}"/>
              </a:ext>
            </a:extLst>
          </p:cNvPr>
          <p:cNvSpPr>
            <a:spLocks/>
          </p:cNvSpPr>
          <p:nvPr/>
        </p:nvSpPr>
        <p:spPr bwMode="auto">
          <a:xfrm>
            <a:off x="2492375" y="2711450"/>
            <a:ext cx="939800" cy="1120775"/>
          </a:xfrm>
          <a:custGeom>
            <a:avLst/>
            <a:gdLst>
              <a:gd name="T0" fmla="*/ 0 w 592"/>
              <a:gd name="T1" fmla="*/ 1779230313 h 706"/>
              <a:gd name="T2" fmla="*/ 292338125 w 592"/>
              <a:gd name="T3" fmla="*/ 1774190000 h 706"/>
              <a:gd name="T4" fmla="*/ 589716563 w 592"/>
              <a:gd name="T5" fmla="*/ 1769149688 h 706"/>
              <a:gd name="T6" fmla="*/ 796369375 w 592"/>
              <a:gd name="T7" fmla="*/ 1748988438 h 706"/>
              <a:gd name="T8" fmla="*/ 1003022188 w 592"/>
              <a:gd name="T9" fmla="*/ 1723786875 h 706"/>
              <a:gd name="T10" fmla="*/ 1149191250 w 592"/>
              <a:gd name="T11" fmla="*/ 1693545000 h 706"/>
              <a:gd name="T12" fmla="*/ 1214715313 w 592"/>
              <a:gd name="T13" fmla="*/ 1622980625 h 706"/>
              <a:gd name="T14" fmla="*/ 1320561875 w 592"/>
              <a:gd name="T15" fmla="*/ 1431448750 h 706"/>
              <a:gd name="T16" fmla="*/ 1391126250 w 592"/>
              <a:gd name="T17" fmla="*/ 1058465625 h 706"/>
              <a:gd name="T18" fmla="*/ 1461690625 w 592"/>
              <a:gd name="T19" fmla="*/ 529232813 h 706"/>
              <a:gd name="T20" fmla="*/ 1491932500 w 592"/>
              <a:gd name="T21" fmla="*/ 0 h 70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592"/>
              <a:gd name="T34" fmla="*/ 0 h 706"/>
              <a:gd name="T35" fmla="*/ 592 w 592"/>
              <a:gd name="T36" fmla="*/ 706 h 70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592" h="706">
                <a:moveTo>
                  <a:pt x="0" y="706"/>
                </a:moveTo>
                <a:cubicBezTo>
                  <a:pt x="38" y="705"/>
                  <a:pt x="77" y="705"/>
                  <a:pt x="116" y="704"/>
                </a:cubicBezTo>
                <a:cubicBezTo>
                  <a:pt x="155" y="703"/>
                  <a:pt x="201" y="704"/>
                  <a:pt x="234" y="702"/>
                </a:cubicBezTo>
                <a:cubicBezTo>
                  <a:pt x="267" y="700"/>
                  <a:pt x="289" y="697"/>
                  <a:pt x="316" y="694"/>
                </a:cubicBezTo>
                <a:cubicBezTo>
                  <a:pt x="343" y="691"/>
                  <a:pt x="375" y="688"/>
                  <a:pt x="398" y="684"/>
                </a:cubicBezTo>
                <a:cubicBezTo>
                  <a:pt x="421" y="680"/>
                  <a:pt x="442" y="679"/>
                  <a:pt x="456" y="672"/>
                </a:cubicBezTo>
                <a:cubicBezTo>
                  <a:pt x="470" y="665"/>
                  <a:pt x="471" y="661"/>
                  <a:pt x="482" y="644"/>
                </a:cubicBezTo>
                <a:cubicBezTo>
                  <a:pt x="493" y="627"/>
                  <a:pt x="512" y="605"/>
                  <a:pt x="524" y="568"/>
                </a:cubicBezTo>
                <a:cubicBezTo>
                  <a:pt x="536" y="531"/>
                  <a:pt x="543" y="480"/>
                  <a:pt x="552" y="420"/>
                </a:cubicBezTo>
                <a:cubicBezTo>
                  <a:pt x="561" y="360"/>
                  <a:pt x="573" y="280"/>
                  <a:pt x="580" y="210"/>
                </a:cubicBezTo>
                <a:cubicBezTo>
                  <a:pt x="587" y="140"/>
                  <a:pt x="589" y="70"/>
                  <a:pt x="592" y="0"/>
                </a:cubicBezTo>
              </a:path>
            </a:pathLst>
          </a:custGeom>
          <a:noFill/>
          <a:ln w="2222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Date Placeholder 3">
            <a:extLst>
              <a:ext uri="{FF2B5EF4-FFF2-40B4-BE49-F238E27FC236}">
                <a16:creationId xmlns:a16="http://schemas.microsoft.com/office/drawing/2014/main" id="{458C1C01-E093-92DC-D136-10F4C08F8DB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Winter 2012</a:t>
            </a:r>
          </a:p>
        </p:txBody>
      </p:sp>
      <p:sp>
        <p:nvSpPr>
          <p:cNvPr id="31747" name="Footer Placeholder 4">
            <a:extLst>
              <a:ext uri="{FF2B5EF4-FFF2-40B4-BE49-F238E27FC236}">
                <a16:creationId xmlns:a16="http://schemas.microsoft.com/office/drawing/2014/main" id="{73E985A4-4CFE-3981-EFFF-B3B30AA2F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UCSD: Physics 121; 2012</a:t>
            </a:r>
          </a:p>
        </p:txBody>
      </p:sp>
      <p:sp>
        <p:nvSpPr>
          <p:cNvPr id="31748" name="Slide Number Placeholder 5">
            <a:extLst>
              <a:ext uri="{FF2B5EF4-FFF2-40B4-BE49-F238E27FC236}">
                <a16:creationId xmlns:a16="http://schemas.microsoft.com/office/drawing/2014/main" id="{263DAAB4-B760-B833-F02A-29F5F3813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56F3389-9DF8-46BD-8275-C8DE067AF706}" type="slidenum">
              <a:rPr lang="en-US" altLang="en-US" sz="1400"/>
              <a:pPr/>
              <a:t>8</a:t>
            </a:fld>
            <a:endParaRPr lang="en-US" altLang="en-US" sz="1400"/>
          </a:p>
        </p:txBody>
      </p:sp>
      <p:sp>
        <p:nvSpPr>
          <p:cNvPr id="76802" name="Rectangle 2">
            <a:extLst>
              <a:ext uri="{FF2B5EF4-FFF2-40B4-BE49-F238E27FC236}">
                <a16:creationId xmlns:a16="http://schemas.microsoft.com/office/drawing/2014/main" id="{6DA2D461-8C9C-6970-D7E5-D921726251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Diode Makeup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5DFE39F2-DCD9-3521-16FF-DD487DE1E9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Diodes are made of semiconductors (usually silicon)</a:t>
            </a:r>
          </a:p>
          <a:p>
            <a:pPr eaLnBrk="1" hangingPunct="1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Essentially a stack of </a:t>
            </a:r>
            <a:r>
              <a:rPr lang="en-US" altLang="en-US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-doped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and </a:t>
            </a:r>
            <a:r>
              <a:rPr lang="en-US" altLang="en-US" i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en-US" altLang="en-US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-doped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silicon to form a </a:t>
            </a:r>
            <a:r>
              <a:rPr lang="en-US" altLang="en-US" i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p-n junction</a:t>
            </a:r>
            <a:endParaRPr lang="en-US" altLang="en-US" i="1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lvl="1" eaLnBrk="1" hangingPunct="1"/>
            <a:r>
              <a:rPr lang="en-US" altLang="en-US"/>
              <a:t>doping means deliberate impurities that contribute extra electrons (</a:t>
            </a:r>
            <a:r>
              <a:rPr lang="en-US" altLang="en-US" i="1">
                <a:solidFill>
                  <a:schemeClr val="hlink"/>
                </a:solidFill>
              </a:rPr>
              <a:t>n</a:t>
            </a:r>
            <a:r>
              <a:rPr lang="en-US" altLang="en-US">
                <a:solidFill>
                  <a:schemeClr val="hlink"/>
                </a:solidFill>
              </a:rPr>
              <a:t>-doped</a:t>
            </a:r>
            <a:r>
              <a:rPr lang="en-US" altLang="en-US"/>
              <a:t>) or “holes” for electrons (</a:t>
            </a:r>
            <a:r>
              <a:rPr lang="en-US" altLang="en-US" i="1">
                <a:solidFill>
                  <a:schemeClr val="accent2"/>
                </a:solidFill>
              </a:rPr>
              <a:t>p</a:t>
            </a:r>
            <a:r>
              <a:rPr lang="en-US" altLang="en-US">
                <a:solidFill>
                  <a:schemeClr val="accent2"/>
                </a:solidFill>
              </a:rPr>
              <a:t>-doped</a:t>
            </a:r>
            <a:r>
              <a:rPr lang="en-US" altLang="en-US"/>
              <a:t>)</a:t>
            </a:r>
          </a:p>
          <a:p>
            <a:pPr eaLnBrk="1" hangingPunct="1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Transistors are </a:t>
            </a:r>
            <a:r>
              <a:rPr lang="en-US" altLang="en-US" i="1">
                <a:effectLst>
                  <a:outerShdw blurRad="38100" dist="38100" dir="2700000" algn="tl">
                    <a:srgbClr val="C0C0C0"/>
                  </a:outerShdw>
                </a:effectLst>
              </a:rPr>
              <a:t>n-p-n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or </a:t>
            </a:r>
            <a:r>
              <a:rPr lang="en-US" altLang="en-US" i="1">
                <a:effectLst>
                  <a:outerShdw blurRad="38100" dist="38100" dir="2700000" algn="tl">
                    <a:srgbClr val="C0C0C0"/>
                  </a:outerShdw>
                </a:effectLst>
              </a:rPr>
              <a:t>p-n-p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arrangements of semiconductors</a:t>
            </a:r>
          </a:p>
        </p:txBody>
      </p:sp>
      <p:sp>
        <p:nvSpPr>
          <p:cNvPr id="31751" name="Rectangle 4">
            <a:extLst>
              <a:ext uri="{FF2B5EF4-FFF2-40B4-BE49-F238E27FC236}">
                <a16:creationId xmlns:a16="http://schemas.microsoft.com/office/drawing/2014/main" id="{C305C615-7E6E-5E77-D595-3DF0CE3BF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4572000"/>
            <a:ext cx="1905000" cy="1219200"/>
          </a:xfrm>
          <a:prstGeom prst="rect">
            <a:avLst/>
          </a:prstGeom>
          <a:solidFill>
            <a:schemeClr val="accent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i="1">
                <a:solidFill>
                  <a:schemeClr val="folHlink"/>
                </a:solidFill>
              </a:rPr>
              <a:t>p</a:t>
            </a:r>
            <a:r>
              <a:rPr lang="en-US" altLang="en-US">
                <a:solidFill>
                  <a:schemeClr val="folHlink"/>
                </a:solidFill>
              </a:rPr>
              <a:t>-type</a:t>
            </a:r>
            <a:endParaRPr lang="en-US" altLang="en-US"/>
          </a:p>
        </p:txBody>
      </p:sp>
      <p:sp>
        <p:nvSpPr>
          <p:cNvPr id="31752" name="Rectangle 5">
            <a:extLst>
              <a:ext uri="{FF2B5EF4-FFF2-40B4-BE49-F238E27FC236}">
                <a16:creationId xmlns:a16="http://schemas.microsoft.com/office/drawing/2014/main" id="{DBBDAE12-2B65-0D27-D27E-61AD1B95F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572000"/>
            <a:ext cx="1905000" cy="1219200"/>
          </a:xfrm>
          <a:prstGeom prst="rect">
            <a:avLst/>
          </a:prstGeom>
          <a:solidFill>
            <a:schemeClr val="hlink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i="1">
                <a:solidFill>
                  <a:srgbClr val="000000"/>
                </a:solidFill>
              </a:rPr>
              <a:t>n</a:t>
            </a:r>
            <a:r>
              <a:rPr lang="en-US" altLang="en-US">
                <a:solidFill>
                  <a:srgbClr val="000000"/>
                </a:solidFill>
              </a:rPr>
              <a:t>-type</a:t>
            </a:r>
            <a:endParaRPr lang="en-US" altLang="en-US"/>
          </a:p>
        </p:txBody>
      </p:sp>
      <p:sp>
        <p:nvSpPr>
          <p:cNvPr id="31753" name="Line 6">
            <a:extLst>
              <a:ext uri="{FF2B5EF4-FFF2-40B4-BE49-F238E27FC236}">
                <a16:creationId xmlns:a16="http://schemas.microsoft.com/office/drawing/2014/main" id="{A1E2A05D-0C30-77FF-609E-5233536E47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19200" y="5181600"/>
            <a:ext cx="1143000" cy="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754" name="Line 7">
            <a:extLst>
              <a:ext uri="{FF2B5EF4-FFF2-40B4-BE49-F238E27FC236}">
                <a16:creationId xmlns:a16="http://schemas.microsoft.com/office/drawing/2014/main" id="{C2F6DC5F-DD87-3686-F16B-F8DD8474A2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72200" y="5181600"/>
            <a:ext cx="1143000" cy="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31755" name="Group 8">
            <a:extLst>
              <a:ext uri="{FF2B5EF4-FFF2-40B4-BE49-F238E27FC236}">
                <a16:creationId xmlns:a16="http://schemas.microsoft.com/office/drawing/2014/main" id="{230A70CF-1AC2-7DE8-BD0D-9D0B94D01330}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4152900" y="3695700"/>
            <a:ext cx="228600" cy="1219200"/>
            <a:chOff x="1416" y="3024"/>
            <a:chExt cx="144" cy="768"/>
          </a:xfrm>
        </p:grpSpPr>
        <p:sp>
          <p:nvSpPr>
            <p:cNvPr id="31756" name="Line 9">
              <a:extLst>
                <a:ext uri="{FF2B5EF4-FFF2-40B4-BE49-F238E27FC236}">
                  <a16:creationId xmlns:a16="http://schemas.microsoft.com/office/drawing/2014/main" id="{B07B6EF6-F288-8BCA-D8F7-D5F27C6716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3024"/>
              <a:ext cx="0" cy="768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1757" name="AutoShape 10">
              <a:extLst>
                <a:ext uri="{FF2B5EF4-FFF2-40B4-BE49-F238E27FC236}">
                  <a16:creationId xmlns:a16="http://schemas.microsoft.com/office/drawing/2014/main" id="{8C085918-1A1C-C4AE-B909-AC93B837C7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6" y="3360"/>
              <a:ext cx="144" cy="96"/>
            </a:xfrm>
            <a:prstGeom prst="triangle">
              <a:avLst>
                <a:gd name="adj" fmla="val 50000"/>
              </a:avLst>
            </a:prstGeom>
            <a:solidFill>
              <a:srgbClr val="000000"/>
            </a:solidFill>
            <a:ln w="317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758" name="Line 11">
              <a:extLst>
                <a:ext uri="{FF2B5EF4-FFF2-40B4-BE49-F238E27FC236}">
                  <a16:creationId xmlns:a16="http://schemas.microsoft.com/office/drawing/2014/main" id="{997A69CC-30AB-BDE0-CB09-1B06870636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6" y="3360"/>
              <a:ext cx="144" cy="0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Date Placeholder 3">
            <a:extLst>
              <a:ext uri="{FF2B5EF4-FFF2-40B4-BE49-F238E27FC236}">
                <a16:creationId xmlns:a16="http://schemas.microsoft.com/office/drawing/2014/main" id="{5897227B-3354-4D24-4BB9-2ACEB895565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Winter 2012</a:t>
            </a:r>
          </a:p>
        </p:txBody>
      </p:sp>
      <p:sp>
        <p:nvSpPr>
          <p:cNvPr id="33795" name="Footer Placeholder 4">
            <a:extLst>
              <a:ext uri="{FF2B5EF4-FFF2-40B4-BE49-F238E27FC236}">
                <a16:creationId xmlns:a16="http://schemas.microsoft.com/office/drawing/2014/main" id="{01568633-18FF-7D1C-74AE-6C98A41BB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UCSD: Physics 121; 2012</a:t>
            </a:r>
          </a:p>
        </p:txBody>
      </p:sp>
      <p:sp>
        <p:nvSpPr>
          <p:cNvPr id="33796" name="Slide Number Placeholder 5">
            <a:extLst>
              <a:ext uri="{FF2B5EF4-FFF2-40B4-BE49-F238E27FC236}">
                <a16:creationId xmlns:a16="http://schemas.microsoft.com/office/drawing/2014/main" id="{4426C123-A94C-17C1-DAF8-46B4FE3B6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489913D-6B9B-4624-B902-A7B8AD33F26F}" type="slidenum">
              <a:rPr lang="en-US" altLang="en-US" sz="1400"/>
              <a:pPr/>
              <a:t>9</a:t>
            </a:fld>
            <a:endParaRPr lang="en-US" altLang="en-US" sz="1400"/>
          </a:p>
        </p:txBody>
      </p:sp>
      <p:sp>
        <p:nvSpPr>
          <p:cNvPr id="78850" name="Rectangle 2">
            <a:extLst>
              <a:ext uri="{FF2B5EF4-FFF2-40B4-BE49-F238E27FC236}">
                <a16:creationId xmlns:a16="http://schemas.microsoft.com/office/drawing/2014/main" id="{0BF4CBB7-38D2-0ADB-8C31-D46EDDE0D5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LEDs: Light-Emitting Diodes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090627F1-7715-2F19-8B55-BA75DE5ECC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7772400" cy="2895600"/>
          </a:xfrm>
        </p:spPr>
        <p:txBody>
          <a:bodyPr/>
          <a:lstStyle/>
          <a:p>
            <a:pPr eaLnBrk="1" hangingPunct="1"/>
            <a:r>
              <a:rPr lang="en-US" altLang="en-US" sz="1800">
                <a:effectLst>
                  <a:outerShdw blurRad="38100" dist="38100" dir="2700000" algn="tl">
                    <a:srgbClr val="C0C0C0"/>
                  </a:outerShdw>
                </a:effectLst>
              </a:rPr>
              <a:t>Main difference is material is more exotic than silicon used in ordinary diodes/transistors</a:t>
            </a:r>
          </a:p>
          <a:p>
            <a:pPr lvl="1" eaLnBrk="1" hangingPunct="1"/>
            <a:r>
              <a:rPr lang="en-US" altLang="en-US" sz="1600"/>
              <a:t>typically 2-volt drop instead of 0.6 V drop</a:t>
            </a:r>
          </a:p>
          <a:p>
            <a:pPr eaLnBrk="1" hangingPunct="1"/>
            <a:r>
              <a:rPr lang="en-US" altLang="en-US" sz="1800">
                <a:effectLst>
                  <a:outerShdw blurRad="38100" dist="38100" dir="2700000" algn="tl">
                    <a:srgbClr val="C0C0C0"/>
                  </a:outerShdw>
                </a:effectLst>
              </a:rPr>
              <a:t>When electron flows through LED, loses energy by emitting a </a:t>
            </a:r>
            <a:r>
              <a:rPr lang="en-US" altLang="en-US" sz="180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photon</a:t>
            </a:r>
            <a:r>
              <a:rPr lang="en-US" altLang="en-US" sz="1800">
                <a:effectLst>
                  <a:outerShdw blurRad="38100" dist="38100" dir="2700000" algn="tl">
                    <a:srgbClr val="C0C0C0"/>
                  </a:outerShdw>
                </a:effectLst>
              </a:rPr>
              <a:t> of light rather than vibrating lattice (heat)</a:t>
            </a:r>
          </a:p>
          <a:p>
            <a:pPr eaLnBrk="1" hangingPunct="1"/>
            <a:r>
              <a:rPr lang="en-US" altLang="en-US" sz="1800">
                <a:effectLst>
                  <a:outerShdw blurRad="38100" dist="38100" dir="2700000" algn="tl">
                    <a:srgbClr val="C0C0C0"/>
                  </a:outerShdw>
                </a:effectLst>
              </a:rPr>
              <a:t>LED efficiency is 30% (compare to incandescent bulb at 10%)</a:t>
            </a:r>
          </a:p>
          <a:p>
            <a:pPr eaLnBrk="1" hangingPunct="1"/>
            <a:r>
              <a:rPr lang="en-US" altLang="en-US" sz="1800">
                <a:effectLst>
                  <a:outerShdw blurRad="38100" dist="38100" dir="2700000" algn="tl">
                    <a:srgbClr val="C0C0C0"/>
                  </a:outerShdw>
                </a:effectLst>
              </a:rPr>
              <a:t>Must supply current-limiting resistor in series: </a:t>
            </a:r>
          </a:p>
          <a:p>
            <a:pPr lvl="1" eaLnBrk="1" hangingPunct="1"/>
            <a:r>
              <a:rPr lang="en-US" altLang="en-US" sz="1600"/>
              <a:t>figure on </a:t>
            </a:r>
            <a:r>
              <a:rPr lang="en-US" altLang="en-US" sz="1600">
                <a:solidFill>
                  <a:schemeClr val="accent2"/>
                </a:solidFill>
              </a:rPr>
              <a:t>2 V drop</a:t>
            </a:r>
            <a:r>
              <a:rPr lang="en-US" altLang="en-US" sz="1600"/>
              <a:t> across LED; aim for </a:t>
            </a:r>
            <a:r>
              <a:rPr lang="en-US" altLang="en-US" sz="1600">
                <a:solidFill>
                  <a:schemeClr val="accent2"/>
                </a:solidFill>
              </a:rPr>
              <a:t>1–10 mA</a:t>
            </a:r>
            <a:r>
              <a:rPr lang="en-US" altLang="en-US" sz="1600"/>
              <a:t> of current</a:t>
            </a:r>
          </a:p>
        </p:txBody>
      </p:sp>
      <p:pic>
        <p:nvPicPr>
          <p:cNvPr id="33799" name="Picture 4" descr="Led">
            <a:extLst>
              <a:ext uri="{FF2B5EF4-FFF2-40B4-BE49-F238E27FC236}">
                <a16:creationId xmlns:a16="http://schemas.microsoft.com/office/drawing/2014/main" id="{69A2202A-3E2E-BB0B-B3D5-0AF39D7191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4038600"/>
            <a:ext cx="3367088" cy="2525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800" name="Picture 5" descr="led-1">
            <a:extLst>
              <a:ext uri="{FF2B5EF4-FFF2-40B4-BE49-F238E27FC236}">
                <a16:creationId xmlns:a16="http://schemas.microsoft.com/office/drawing/2014/main" id="{2055244F-85B2-2D47-4F84-E9F2F7F401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4495800"/>
            <a:ext cx="2597150" cy="192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Date Placeholder 3">
            <a:extLst>
              <a:ext uri="{FF2B5EF4-FFF2-40B4-BE49-F238E27FC236}">
                <a16:creationId xmlns:a16="http://schemas.microsoft.com/office/drawing/2014/main" id="{7B6E44B6-875A-73A0-3A34-E6A406048DE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Winter 2012</a:t>
            </a:r>
          </a:p>
        </p:txBody>
      </p:sp>
      <p:sp>
        <p:nvSpPr>
          <p:cNvPr id="35843" name="Footer Placeholder 4">
            <a:extLst>
              <a:ext uri="{FF2B5EF4-FFF2-40B4-BE49-F238E27FC236}">
                <a16:creationId xmlns:a16="http://schemas.microsoft.com/office/drawing/2014/main" id="{8589ADC1-FAEF-DCC4-909C-4A230C003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UCSD: Physics 121; 2012</a:t>
            </a:r>
          </a:p>
        </p:txBody>
      </p:sp>
      <p:sp>
        <p:nvSpPr>
          <p:cNvPr id="35844" name="Slide Number Placeholder 5">
            <a:extLst>
              <a:ext uri="{FF2B5EF4-FFF2-40B4-BE49-F238E27FC236}">
                <a16:creationId xmlns:a16="http://schemas.microsoft.com/office/drawing/2014/main" id="{6836D011-673A-BF92-59D7-539E1A067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CB3F0E4-A294-4730-8280-B8D660ADC7BE}" type="slidenum">
              <a:rPr lang="en-US" altLang="en-US" sz="1400"/>
              <a:pPr/>
              <a:t>10</a:t>
            </a:fld>
            <a:endParaRPr lang="en-US" altLang="en-US" sz="1400"/>
          </a:p>
        </p:txBody>
      </p:sp>
      <p:sp>
        <p:nvSpPr>
          <p:cNvPr id="80898" name="Rectangle 2">
            <a:extLst>
              <a:ext uri="{FF2B5EF4-FFF2-40B4-BE49-F238E27FC236}">
                <a16:creationId xmlns:a16="http://schemas.microsoft.com/office/drawing/2014/main" id="{45B416E6-8D89-B0D0-31EB-23B91555E4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Getting DC back out of AC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823AF948-C69E-A16C-D5A7-07E9EA78D2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990600"/>
            <a:ext cx="7772400" cy="5029200"/>
          </a:xfrm>
        </p:spPr>
        <p:txBody>
          <a:bodyPr/>
          <a:lstStyle/>
          <a:p>
            <a:pPr eaLnBrk="1" hangingPunct="1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AC provides a means for us to </a:t>
            </a:r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distribute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electrical power, but most devices actually </a:t>
            </a:r>
            <a:r>
              <a:rPr lang="en-US" altLang="en-US" i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want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DC</a:t>
            </a:r>
          </a:p>
          <a:p>
            <a:pPr lvl="1" eaLnBrk="1" hangingPunct="1"/>
            <a:r>
              <a:rPr lang="en-US" altLang="en-US"/>
              <a:t>bulbs, toasters, heaters, fans don’t care: plug straight in</a:t>
            </a:r>
          </a:p>
          <a:p>
            <a:pPr lvl="1" eaLnBrk="1" hangingPunct="1"/>
            <a:r>
              <a:rPr lang="en-US" altLang="en-US"/>
              <a:t>sophisticated devices care because they have </a:t>
            </a:r>
            <a:r>
              <a:rPr lang="en-US" altLang="en-US">
                <a:solidFill>
                  <a:schemeClr val="accent2"/>
                </a:solidFill>
              </a:rPr>
              <a:t>diodes</a:t>
            </a:r>
            <a:r>
              <a:rPr lang="en-US" altLang="en-US"/>
              <a:t> and </a:t>
            </a:r>
            <a:r>
              <a:rPr lang="en-US" altLang="en-US">
                <a:solidFill>
                  <a:schemeClr val="accent2"/>
                </a:solidFill>
              </a:rPr>
              <a:t>transistors</a:t>
            </a:r>
            <a:r>
              <a:rPr lang="en-US" altLang="en-US"/>
              <a:t> that require a certain </a:t>
            </a:r>
            <a:r>
              <a:rPr lang="en-US" altLang="en-US">
                <a:solidFill>
                  <a:schemeClr val="folHlink"/>
                </a:solidFill>
              </a:rPr>
              <a:t>polarity</a:t>
            </a:r>
            <a:endParaRPr lang="en-US" altLang="en-US"/>
          </a:p>
          <a:p>
            <a:pPr lvl="2" eaLnBrk="1" hangingPunct="1"/>
            <a:r>
              <a:rPr lang="en-US" altLang="en-US"/>
              <a:t>rather than oscillating polarity derived from AC</a:t>
            </a:r>
          </a:p>
          <a:p>
            <a:pPr lvl="2" eaLnBrk="1" hangingPunct="1"/>
            <a:r>
              <a:rPr lang="en-US" altLang="en-US"/>
              <a:t>this is why battery orientation matters in most electronics</a:t>
            </a:r>
          </a:p>
          <a:p>
            <a:pPr eaLnBrk="1" hangingPunct="1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Use diodes to “rectify” AC signal</a:t>
            </a:r>
          </a:p>
          <a:p>
            <a:pPr eaLnBrk="1" hangingPunct="1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Simplest (half-wave) rectifier uses one diode:</a:t>
            </a:r>
          </a:p>
        </p:txBody>
      </p:sp>
      <p:grpSp>
        <p:nvGrpSpPr>
          <p:cNvPr id="35847" name="Group 4">
            <a:extLst>
              <a:ext uri="{FF2B5EF4-FFF2-40B4-BE49-F238E27FC236}">
                <a16:creationId xmlns:a16="http://schemas.microsoft.com/office/drawing/2014/main" id="{966B0416-7C16-CD86-D8C8-4CB372C082E1}"/>
              </a:ext>
            </a:extLst>
          </p:cNvPr>
          <p:cNvGrpSpPr>
            <a:grpSpLocks/>
          </p:cNvGrpSpPr>
          <p:nvPr/>
        </p:nvGrpSpPr>
        <p:grpSpPr bwMode="auto">
          <a:xfrm>
            <a:off x="1489075" y="4762500"/>
            <a:ext cx="1482725" cy="1257300"/>
            <a:chOff x="794" y="3000"/>
            <a:chExt cx="934" cy="792"/>
          </a:xfrm>
        </p:grpSpPr>
        <p:grpSp>
          <p:nvGrpSpPr>
            <p:cNvPr id="35868" name="Group 5">
              <a:extLst>
                <a:ext uri="{FF2B5EF4-FFF2-40B4-BE49-F238E27FC236}">
                  <a16:creationId xmlns:a16="http://schemas.microsoft.com/office/drawing/2014/main" id="{72098D24-AB5F-1EA4-210E-5DC8615B60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4" y="3312"/>
              <a:ext cx="240" cy="240"/>
              <a:chOff x="768" y="3312"/>
              <a:chExt cx="240" cy="240"/>
            </a:xfrm>
          </p:grpSpPr>
          <p:sp>
            <p:nvSpPr>
              <p:cNvPr id="35886" name="Oval 6">
                <a:extLst>
                  <a:ext uri="{FF2B5EF4-FFF2-40B4-BE49-F238E27FC236}">
                    <a16:creationId xmlns:a16="http://schemas.microsoft.com/office/drawing/2014/main" id="{329A0657-7C06-A9C2-BB24-748599E5B6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331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5887" name="Freeform 7">
                <a:extLst>
                  <a:ext uri="{FF2B5EF4-FFF2-40B4-BE49-F238E27FC236}">
                    <a16:creationId xmlns:a16="http://schemas.microsoft.com/office/drawing/2014/main" id="{F24C3AA4-1F1A-32B2-5BF0-8CB1E9505E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4" y="3385"/>
                <a:ext cx="192" cy="96"/>
              </a:xfrm>
              <a:custGeom>
                <a:avLst/>
                <a:gdLst>
                  <a:gd name="T0" fmla="*/ 0 w 192"/>
                  <a:gd name="T1" fmla="*/ 48 h 96"/>
                  <a:gd name="T2" fmla="*/ 48 w 192"/>
                  <a:gd name="T3" fmla="*/ 0 h 96"/>
                  <a:gd name="T4" fmla="*/ 96 w 192"/>
                  <a:gd name="T5" fmla="*/ 48 h 96"/>
                  <a:gd name="T6" fmla="*/ 144 w 192"/>
                  <a:gd name="T7" fmla="*/ 96 h 96"/>
                  <a:gd name="T8" fmla="*/ 192 w 192"/>
                  <a:gd name="T9" fmla="*/ 48 h 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"/>
                  <a:gd name="T16" fmla="*/ 0 h 96"/>
                  <a:gd name="T17" fmla="*/ 192 w 192"/>
                  <a:gd name="T18" fmla="*/ 96 h 9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" h="96">
                    <a:moveTo>
                      <a:pt x="0" y="48"/>
                    </a:moveTo>
                    <a:cubicBezTo>
                      <a:pt x="16" y="24"/>
                      <a:pt x="32" y="0"/>
                      <a:pt x="48" y="0"/>
                    </a:cubicBezTo>
                    <a:cubicBezTo>
                      <a:pt x="64" y="0"/>
                      <a:pt x="80" y="32"/>
                      <a:pt x="96" y="48"/>
                    </a:cubicBezTo>
                    <a:cubicBezTo>
                      <a:pt x="112" y="64"/>
                      <a:pt x="128" y="96"/>
                      <a:pt x="144" y="96"/>
                    </a:cubicBezTo>
                    <a:cubicBezTo>
                      <a:pt x="160" y="96"/>
                      <a:pt x="184" y="56"/>
                      <a:pt x="192" y="48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35869" name="Line 8">
              <a:extLst>
                <a:ext uri="{FF2B5EF4-FFF2-40B4-BE49-F238E27FC236}">
                  <a16:creationId xmlns:a16="http://schemas.microsoft.com/office/drawing/2014/main" id="{64099810-E3CD-5A96-32A3-A7C5E25ED7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12" y="3072"/>
              <a:ext cx="0" cy="24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5870" name="Line 9">
              <a:extLst>
                <a:ext uri="{FF2B5EF4-FFF2-40B4-BE49-F238E27FC236}">
                  <a16:creationId xmlns:a16="http://schemas.microsoft.com/office/drawing/2014/main" id="{38EC5CC9-BF69-7594-DFA4-8DB741599C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12" y="3552"/>
              <a:ext cx="0" cy="24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35871" name="Group 10">
              <a:extLst>
                <a:ext uri="{FF2B5EF4-FFF2-40B4-BE49-F238E27FC236}">
                  <a16:creationId xmlns:a16="http://schemas.microsoft.com/office/drawing/2014/main" id="{5145F583-B772-FD16-C6E5-51D634B12F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3264"/>
              <a:ext cx="96" cy="336"/>
              <a:chOff x="1104" y="3264"/>
              <a:chExt cx="96" cy="336"/>
            </a:xfrm>
          </p:grpSpPr>
          <p:sp>
            <p:nvSpPr>
              <p:cNvPr id="35879" name="Line 11">
                <a:extLst>
                  <a:ext uri="{FF2B5EF4-FFF2-40B4-BE49-F238E27FC236}">
                    <a16:creationId xmlns:a16="http://schemas.microsoft.com/office/drawing/2014/main" id="{94E31BD9-F79A-7BD6-1F9E-ED233541A2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3264"/>
                <a:ext cx="48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5880" name="Line 12">
                <a:extLst>
                  <a:ext uri="{FF2B5EF4-FFF2-40B4-BE49-F238E27FC236}">
                    <a16:creationId xmlns:a16="http://schemas.microsoft.com/office/drawing/2014/main" id="{CBE088F2-B7C0-BA4E-E82E-ED3FA5FCF8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04" y="3312"/>
                <a:ext cx="96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5881" name="Line 13">
                <a:extLst>
                  <a:ext uri="{FF2B5EF4-FFF2-40B4-BE49-F238E27FC236}">
                    <a16:creationId xmlns:a16="http://schemas.microsoft.com/office/drawing/2014/main" id="{5EEFCC57-9A6A-8CC5-8B6E-D6B36066A9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360"/>
                <a:ext cx="96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5882" name="Line 14">
                <a:extLst>
                  <a:ext uri="{FF2B5EF4-FFF2-40B4-BE49-F238E27FC236}">
                    <a16:creationId xmlns:a16="http://schemas.microsoft.com/office/drawing/2014/main" id="{ECB795A9-FD4C-3F62-FE9A-33ABCD3A3E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04" y="3408"/>
                <a:ext cx="96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5883" name="Line 15">
                <a:extLst>
                  <a:ext uri="{FF2B5EF4-FFF2-40B4-BE49-F238E27FC236}">
                    <a16:creationId xmlns:a16="http://schemas.microsoft.com/office/drawing/2014/main" id="{874CE2A7-6332-537A-08F7-721A018DBF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456"/>
                <a:ext cx="96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5884" name="Line 16">
                <a:extLst>
                  <a:ext uri="{FF2B5EF4-FFF2-40B4-BE49-F238E27FC236}">
                    <a16:creationId xmlns:a16="http://schemas.microsoft.com/office/drawing/2014/main" id="{C31CDA96-19B4-3367-953A-2E174DE5D0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04" y="3504"/>
                <a:ext cx="96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5885" name="Line 17">
                <a:extLst>
                  <a:ext uri="{FF2B5EF4-FFF2-40B4-BE49-F238E27FC236}">
                    <a16:creationId xmlns:a16="http://schemas.microsoft.com/office/drawing/2014/main" id="{BD77825E-F333-2162-DB84-FC2139ABFC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552"/>
                <a:ext cx="48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35872" name="Line 18">
              <a:extLst>
                <a:ext uri="{FF2B5EF4-FFF2-40B4-BE49-F238E27FC236}">
                  <a16:creationId xmlns:a16="http://schemas.microsoft.com/office/drawing/2014/main" id="{5CAFAD04-5CD8-0B31-1EEA-9B6D9153E8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0" y="3072"/>
              <a:ext cx="0" cy="19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5873" name="Line 19">
              <a:extLst>
                <a:ext uri="{FF2B5EF4-FFF2-40B4-BE49-F238E27FC236}">
                  <a16:creationId xmlns:a16="http://schemas.microsoft.com/office/drawing/2014/main" id="{9C2D2380-83E7-88D6-3DF4-F64F1C3E0C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600"/>
              <a:ext cx="0" cy="19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35874" name="Group 20">
              <a:extLst>
                <a:ext uri="{FF2B5EF4-FFF2-40B4-BE49-F238E27FC236}">
                  <a16:creationId xmlns:a16="http://schemas.microsoft.com/office/drawing/2014/main" id="{CD9CDD1C-DDB2-F590-1043-0DE3CFF32D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2" y="3000"/>
              <a:ext cx="768" cy="145"/>
              <a:chOff x="912" y="3023"/>
              <a:chExt cx="768" cy="145"/>
            </a:xfrm>
          </p:grpSpPr>
          <p:sp>
            <p:nvSpPr>
              <p:cNvPr id="35876" name="Line 21">
                <a:extLst>
                  <a:ext uri="{FF2B5EF4-FFF2-40B4-BE49-F238E27FC236}">
                    <a16:creationId xmlns:a16="http://schemas.microsoft.com/office/drawing/2014/main" id="{A223DC7E-259A-05DA-4CBE-369A0FA17C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1296" y="2712"/>
                <a:ext cx="0" cy="76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5877" name="AutoShape 22">
                <a:extLst>
                  <a:ext uri="{FF2B5EF4-FFF2-40B4-BE49-F238E27FC236}">
                    <a16:creationId xmlns:a16="http://schemas.microsoft.com/office/drawing/2014/main" id="{ABB560D9-506E-96D7-0338-2ABB8DE0AF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V="1">
                <a:off x="1224" y="3048"/>
                <a:ext cx="144" cy="96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 w="317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5878" name="Line 23">
                <a:extLst>
                  <a:ext uri="{FF2B5EF4-FFF2-40B4-BE49-F238E27FC236}">
                    <a16:creationId xmlns:a16="http://schemas.microsoft.com/office/drawing/2014/main" id="{0C83BB5F-4775-902D-DA82-07CEE5FBE4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1271" y="3095"/>
                <a:ext cx="144" cy="0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35875" name="Line 24">
              <a:extLst>
                <a:ext uri="{FF2B5EF4-FFF2-40B4-BE49-F238E27FC236}">
                  <a16:creationId xmlns:a16="http://schemas.microsoft.com/office/drawing/2014/main" id="{99935855-A9C3-D552-D4AD-99B94D4D48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3792"/>
              <a:ext cx="768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35848" name="Text Box 25">
            <a:extLst>
              <a:ext uri="{FF2B5EF4-FFF2-40B4-BE49-F238E27FC236}">
                <a16:creationId xmlns:a16="http://schemas.microsoft.com/office/drawing/2014/main" id="{7DD8F787-40EC-DAEA-E3BC-D25D6C1952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218113"/>
            <a:ext cx="1250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solidFill>
                  <a:schemeClr val="accent2"/>
                </a:solidFill>
              </a:rPr>
              <a:t>AC source</a:t>
            </a:r>
          </a:p>
        </p:txBody>
      </p:sp>
      <p:sp>
        <p:nvSpPr>
          <p:cNvPr id="35849" name="Text Box 26">
            <a:extLst>
              <a:ext uri="{FF2B5EF4-FFF2-40B4-BE49-F238E27FC236}">
                <a16:creationId xmlns:a16="http://schemas.microsoft.com/office/drawing/2014/main" id="{207A0873-21E0-343F-8516-8B9621278A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2450" y="5257800"/>
            <a:ext cx="615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solidFill>
                  <a:schemeClr val="accent2"/>
                </a:solidFill>
              </a:rPr>
              <a:t>load</a:t>
            </a:r>
          </a:p>
        </p:txBody>
      </p:sp>
      <p:sp>
        <p:nvSpPr>
          <p:cNvPr id="35850" name="Line 27">
            <a:extLst>
              <a:ext uri="{FF2B5EF4-FFF2-40B4-BE49-F238E27FC236}">
                <a16:creationId xmlns:a16="http://schemas.microsoft.com/office/drawing/2014/main" id="{E3AAEB3E-BFE2-32C4-781A-8B3631BE9DB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48768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51" name="Line 28">
            <a:extLst>
              <a:ext uri="{FF2B5EF4-FFF2-40B4-BE49-F238E27FC236}">
                <a16:creationId xmlns:a16="http://schemas.microsoft.com/office/drawing/2014/main" id="{D484C455-C3AB-E9CC-57CE-04DA1EB97AA7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5257800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35852" name="Group 29">
            <a:extLst>
              <a:ext uri="{FF2B5EF4-FFF2-40B4-BE49-F238E27FC236}">
                <a16:creationId xmlns:a16="http://schemas.microsoft.com/office/drawing/2014/main" id="{30E76C79-9720-DDBF-BBBA-CF8ABB2CCCCD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4876800"/>
            <a:ext cx="3048000" cy="762000"/>
            <a:chOff x="3312" y="3072"/>
            <a:chExt cx="1920" cy="480"/>
          </a:xfrm>
        </p:grpSpPr>
        <p:sp>
          <p:nvSpPr>
            <p:cNvPr id="35864" name="Freeform 30">
              <a:extLst>
                <a:ext uri="{FF2B5EF4-FFF2-40B4-BE49-F238E27FC236}">
                  <a16:creationId xmlns:a16="http://schemas.microsoft.com/office/drawing/2014/main" id="{074B8591-5CA1-8CB6-972A-99EA6AD7A80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792" y="3312"/>
              <a:ext cx="480" cy="240"/>
            </a:xfrm>
            <a:custGeom>
              <a:avLst/>
              <a:gdLst>
                <a:gd name="T0" fmla="*/ 0 w 480"/>
                <a:gd name="T1" fmla="*/ 240 h 240"/>
                <a:gd name="T2" fmla="*/ 240 w 480"/>
                <a:gd name="T3" fmla="*/ 0 h 240"/>
                <a:gd name="T4" fmla="*/ 480 w 480"/>
                <a:gd name="T5" fmla="*/ 240 h 240"/>
                <a:gd name="T6" fmla="*/ 0 60000 65536"/>
                <a:gd name="T7" fmla="*/ 0 60000 65536"/>
                <a:gd name="T8" fmla="*/ 0 60000 65536"/>
                <a:gd name="T9" fmla="*/ 0 w 480"/>
                <a:gd name="T10" fmla="*/ 0 h 240"/>
                <a:gd name="T11" fmla="*/ 480 w 480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240">
                  <a:moveTo>
                    <a:pt x="0" y="240"/>
                  </a:moveTo>
                  <a:cubicBezTo>
                    <a:pt x="80" y="120"/>
                    <a:pt x="160" y="0"/>
                    <a:pt x="240" y="0"/>
                  </a:cubicBezTo>
                  <a:cubicBezTo>
                    <a:pt x="320" y="0"/>
                    <a:pt x="400" y="120"/>
                    <a:pt x="480" y="240"/>
                  </a:cubicBezTo>
                </a:path>
              </a:pathLst>
            </a:custGeom>
            <a:noFill/>
            <a:ln w="1587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5865" name="Freeform 31">
              <a:extLst>
                <a:ext uri="{FF2B5EF4-FFF2-40B4-BE49-F238E27FC236}">
                  <a16:creationId xmlns:a16="http://schemas.microsoft.com/office/drawing/2014/main" id="{6AD0E0E5-98CA-913E-A7AB-EE3667A4F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3072"/>
              <a:ext cx="480" cy="240"/>
            </a:xfrm>
            <a:custGeom>
              <a:avLst/>
              <a:gdLst>
                <a:gd name="T0" fmla="*/ 0 w 480"/>
                <a:gd name="T1" fmla="*/ 240 h 240"/>
                <a:gd name="T2" fmla="*/ 240 w 480"/>
                <a:gd name="T3" fmla="*/ 0 h 240"/>
                <a:gd name="T4" fmla="*/ 480 w 480"/>
                <a:gd name="T5" fmla="*/ 240 h 240"/>
                <a:gd name="T6" fmla="*/ 0 60000 65536"/>
                <a:gd name="T7" fmla="*/ 0 60000 65536"/>
                <a:gd name="T8" fmla="*/ 0 60000 65536"/>
                <a:gd name="T9" fmla="*/ 0 w 480"/>
                <a:gd name="T10" fmla="*/ 0 h 240"/>
                <a:gd name="T11" fmla="*/ 480 w 480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240">
                  <a:moveTo>
                    <a:pt x="0" y="240"/>
                  </a:moveTo>
                  <a:cubicBezTo>
                    <a:pt x="80" y="120"/>
                    <a:pt x="160" y="0"/>
                    <a:pt x="240" y="0"/>
                  </a:cubicBezTo>
                  <a:cubicBezTo>
                    <a:pt x="320" y="0"/>
                    <a:pt x="400" y="120"/>
                    <a:pt x="480" y="240"/>
                  </a:cubicBezTo>
                </a:path>
              </a:pathLst>
            </a:custGeom>
            <a:noFill/>
            <a:ln w="1587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5866" name="Freeform 32">
              <a:extLst>
                <a:ext uri="{FF2B5EF4-FFF2-40B4-BE49-F238E27FC236}">
                  <a16:creationId xmlns:a16="http://schemas.microsoft.com/office/drawing/2014/main" id="{95178A39-A855-310D-2C90-ED6436CBEF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2" y="3072"/>
              <a:ext cx="480" cy="240"/>
            </a:xfrm>
            <a:custGeom>
              <a:avLst/>
              <a:gdLst>
                <a:gd name="T0" fmla="*/ 0 w 480"/>
                <a:gd name="T1" fmla="*/ 240 h 240"/>
                <a:gd name="T2" fmla="*/ 240 w 480"/>
                <a:gd name="T3" fmla="*/ 0 h 240"/>
                <a:gd name="T4" fmla="*/ 480 w 480"/>
                <a:gd name="T5" fmla="*/ 240 h 240"/>
                <a:gd name="T6" fmla="*/ 0 60000 65536"/>
                <a:gd name="T7" fmla="*/ 0 60000 65536"/>
                <a:gd name="T8" fmla="*/ 0 60000 65536"/>
                <a:gd name="T9" fmla="*/ 0 w 480"/>
                <a:gd name="T10" fmla="*/ 0 h 240"/>
                <a:gd name="T11" fmla="*/ 480 w 480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240">
                  <a:moveTo>
                    <a:pt x="0" y="240"/>
                  </a:moveTo>
                  <a:cubicBezTo>
                    <a:pt x="80" y="120"/>
                    <a:pt x="160" y="0"/>
                    <a:pt x="240" y="0"/>
                  </a:cubicBezTo>
                  <a:cubicBezTo>
                    <a:pt x="320" y="0"/>
                    <a:pt x="400" y="120"/>
                    <a:pt x="480" y="240"/>
                  </a:cubicBezTo>
                </a:path>
              </a:pathLst>
            </a:custGeom>
            <a:noFill/>
            <a:ln w="1587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5867" name="Freeform 33">
              <a:extLst>
                <a:ext uri="{FF2B5EF4-FFF2-40B4-BE49-F238E27FC236}">
                  <a16:creationId xmlns:a16="http://schemas.microsoft.com/office/drawing/2014/main" id="{BADA987A-500F-DD54-6F15-846F06D5136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752" y="3312"/>
              <a:ext cx="480" cy="240"/>
            </a:xfrm>
            <a:custGeom>
              <a:avLst/>
              <a:gdLst>
                <a:gd name="T0" fmla="*/ 0 w 480"/>
                <a:gd name="T1" fmla="*/ 240 h 240"/>
                <a:gd name="T2" fmla="*/ 240 w 480"/>
                <a:gd name="T3" fmla="*/ 0 h 240"/>
                <a:gd name="T4" fmla="*/ 480 w 480"/>
                <a:gd name="T5" fmla="*/ 240 h 240"/>
                <a:gd name="T6" fmla="*/ 0 60000 65536"/>
                <a:gd name="T7" fmla="*/ 0 60000 65536"/>
                <a:gd name="T8" fmla="*/ 0 60000 65536"/>
                <a:gd name="T9" fmla="*/ 0 w 480"/>
                <a:gd name="T10" fmla="*/ 0 h 240"/>
                <a:gd name="T11" fmla="*/ 480 w 480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240">
                  <a:moveTo>
                    <a:pt x="0" y="240"/>
                  </a:moveTo>
                  <a:cubicBezTo>
                    <a:pt x="80" y="120"/>
                    <a:pt x="160" y="0"/>
                    <a:pt x="240" y="0"/>
                  </a:cubicBezTo>
                  <a:cubicBezTo>
                    <a:pt x="320" y="0"/>
                    <a:pt x="400" y="120"/>
                    <a:pt x="480" y="240"/>
                  </a:cubicBezTo>
                </a:path>
              </a:pathLst>
            </a:custGeom>
            <a:noFill/>
            <a:ln w="1587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35853" name="Line 34">
            <a:extLst>
              <a:ext uri="{FF2B5EF4-FFF2-40B4-BE49-F238E27FC236}">
                <a16:creationId xmlns:a16="http://schemas.microsoft.com/office/drawing/2014/main" id="{D54846C8-4848-03F5-5E19-E2BC88DA393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58674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5854" name="Line 35">
            <a:extLst>
              <a:ext uri="{FF2B5EF4-FFF2-40B4-BE49-F238E27FC236}">
                <a16:creationId xmlns:a16="http://schemas.microsoft.com/office/drawing/2014/main" id="{52566C53-9CF7-3DC0-F08A-8955EF59B66E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6248400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35855" name="Group 36">
            <a:extLst>
              <a:ext uri="{FF2B5EF4-FFF2-40B4-BE49-F238E27FC236}">
                <a16:creationId xmlns:a16="http://schemas.microsoft.com/office/drawing/2014/main" id="{7975C4A1-09DD-57CB-F447-E6C6FD289D3A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5867400"/>
            <a:ext cx="3048000" cy="381000"/>
            <a:chOff x="3216" y="3408"/>
            <a:chExt cx="1920" cy="240"/>
          </a:xfrm>
        </p:grpSpPr>
        <p:sp>
          <p:nvSpPr>
            <p:cNvPr id="35859" name="Freeform 37">
              <a:extLst>
                <a:ext uri="{FF2B5EF4-FFF2-40B4-BE49-F238E27FC236}">
                  <a16:creationId xmlns:a16="http://schemas.microsoft.com/office/drawing/2014/main" id="{EC00791C-82F3-5EC5-90FA-64DF8A9873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3408"/>
              <a:ext cx="480" cy="240"/>
            </a:xfrm>
            <a:custGeom>
              <a:avLst/>
              <a:gdLst>
                <a:gd name="T0" fmla="*/ 0 w 480"/>
                <a:gd name="T1" fmla="*/ 240 h 240"/>
                <a:gd name="T2" fmla="*/ 240 w 480"/>
                <a:gd name="T3" fmla="*/ 0 h 240"/>
                <a:gd name="T4" fmla="*/ 480 w 480"/>
                <a:gd name="T5" fmla="*/ 240 h 240"/>
                <a:gd name="T6" fmla="*/ 0 60000 65536"/>
                <a:gd name="T7" fmla="*/ 0 60000 65536"/>
                <a:gd name="T8" fmla="*/ 0 60000 65536"/>
                <a:gd name="T9" fmla="*/ 0 w 480"/>
                <a:gd name="T10" fmla="*/ 0 h 240"/>
                <a:gd name="T11" fmla="*/ 480 w 480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240">
                  <a:moveTo>
                    <a:pt x="0" y="240"/>
                  </a:moveTo>
                  <a:cubicBezTo>
                    <a:pt x="80" y="120"/>
                    <a:pt x="160" y="0"/>
                    <a:pt x="240" y="0"/>
                  </a:cubicBezTo>
                  <a:cubicBezTo>
                    <a:pt x="320" y="0"/>
                    <a:pt x="400" y="120"/>
                    <a:pt x="480" y="240"/>
                  </a:cubicBez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5860" name="Freeform 38">
              <a:extLst>
                <a:ext uri="{FF2B5EF4-FFF2-40B4-BE49-F238E27FC236}">
                  <a16:creationId xmlns:a16="http://schemas.microsoft.com/office/drawing/2014/main" id="{52C08A7C-42E4-FEB9-2880-B833D86B3E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2" y="3408"/>
              <a:ext cx="480" cy="240"/>
            </a:xfrm>
            <a:custGeom>
              <a:avLst/>
              <a:gdLst>
                <a:gd name="T0" fmla="*/ 0 w 480"/>
                <a:gd name="T1" fmla="*/ 240 h 240"/>
                <a:gd name="T2" fmla="*/ 240 w 480"/>
                <a:gd name="T3" fmla="*/ 0 h 240"/>
                <a:gd name="T4" fmla="*/ 480 w 480"/>
                <a:gd name="T5" fmla="*/ 240 h 240"/>
                <a:gd name="T6" fmla="*/ 0 60000 65536"/>
                <a:gd name="T7" fmla="*/ 0 60000 65536"/>
                <a:gd name="T8" fmla="*/ 0 60000 65536"/>
                <a:gd name="T9" fmla="*/ 0 w 480"/>
                <a:gd name="T10" fmla="*/ 0 h 240"/>
                <a:gd name="T11" fmla="*/ 480 w 480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240">
                  <a:moveTo>
                    <a:pt x="0" y="240"/>
                  </a:moveTo>
                  <a:cubicBezTo>
                    <a:pt x="80" y="120"/>
                    <a:pt x="160" y="0"/>
                    <a:pt x="240" y="0"/>
                  </a:cubicBezTo>
                  <a:cubicBezTo>
                    <a:pt x="320" y="0"/>
                    <a:pt x="400" y="120"/>
                    <a:pt x="480" y="240"/>
                  </a:cubicBez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5861" name="Line 39">
              <a:extLst>
                <a:ext uri="{FF2B5EF4-FFF2-40B4-BE49-F238E27FC236}">
                  <a16:creationId xmlns:a16="http://schemas.microsoft.com/office/drawing/2014/main" id="{827D6C2F-1DFF-FA9D-9FE6-C2CCB5AC3C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3648"/>
              <a:ext cx="480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5862" name="Line 40">
              <a:extLst>
                <a:ext uri="{FF2B5EF4-FFF2-40B4-BE49-F238E27FC236}">
                  <a16:creationId xmlns:a16="http://schemas.microsoft.com/office/drawing/2014/main" id="{8DCB9230-4235-230E-250A-674E44B194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16" y="3648"/>
              <a:ext cx="96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5863" name="Line 41">
              <a:extLst>
                <a:ext uri="{FF2B5EF4-FFF2-40B4-BE49-F238E27FC236}">
                  <a16:creationId xmlns:a16="http://schemas.microsoft.com/office/drawing/2014/main" id="{B4847DB3-F606-1D29-3200-D6FF1A4623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3648"/>
              <a:ext cx="384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35856" name="Text Box 42">
            <a:extLst>
              <a:ext uri="{FF2B5EF4-FFF2-40B4-BE49-F238E27FC236}">
                <a16:creationId xmlns:a16="http://schemas.microsoft.com/office/drawing/2014/main" id="{3FE8C47E-E49B-D8D9-815C-F2CE2F32F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4050" y="4632325"/>
            <a:ext cx="13366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600">
                <a:solidFill>
                  <a:schemeClr val="hlink"/>
                </a:solidFill>
              </a:rPr>
              <a:t>input voltage</a:t>
            </a:r>
          </a:p>
        </p:txBody>
      </p:sp>
      <p:sp>
        <p:nvSpPr>
          <p:cNvPr id="35857" name="Text Box 43">
            <a:extLst>
              <a:ext uri="{FF2B5EF4-FFF2-40B4-BE49-F238E27FC236}">
                <a16:creationId xmlns:a16="http://schemas.microsoft.com/office/drawing/2014/main" id="{CEDFEB4A-2B09-994A-04D3-1F07A7343C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0988" y="6292850"/>
            <a:ext cx="20478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600">
                <a:solidFill>
                  <a:srgbClr val="000000"/>
                </a:solidFill>
              </a:rPr>
              <a:t>voltage seen by load</a:t>
            </a:r>
          </a:p>
        </p:txBody>
      </p:sp>
      <p:sp>
        <p:nvSpPr>
          <p:cNvPr id="35858" name="Text Box 44">
            <a:extLst>
              <a:ext uri="{FF2B5EF4-FFF2-40B4-BE49-F238E27FC236}">
                <a16:creationId xmlns:a16="http://schemas.microsoft.com/office/drawing/2014/main" id="{E6E4EBD0-16CE-7F44-469E-D38D0158F9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6208713"/>
            <a:ext cx="31575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solidFill>
                  <a:schemeClr val="folHlink"/>
                </a:solidFill>
              </a:rPr>
              <a:t>diode only conducts</a:t>
            </a:r>
          </a:p>
          <a:p>
            <a:r>
              <a:rPr lang="en-US" altLang="en-US" sz="1800">
                <a:solidFill>
                  <a:schemeClr val="folHlink"/>
                </a:solidFill>
              </a:rPr>
              <a:t>when input voltage is </a:t>
            </a:r>
            <a:r>
              <a:rPr lang="en-US" altLang="en-US" sz="1800">
                <a:solidFill>
                  <a:schemeClr val="accent2"/>
                </a:solidFill>
              </a:rPr>
              <a:t>positive</a:t>
            </a:r>
            <a:endParaRPr lang="en-US" altLang="en-US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Date Placeholder 3">
            <a:extLst>
              <a:ext uri="{FF2B5EF4-FFF2-40B4-BE49-F238E27FC236}">
                <a16:creationId xmlns:a16="http://schemas.microsoft.com/office/drawing/2014/main" id="{C98948DB-FC5C-44DE-D70D-F73D905BBC9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Winter 2012</a:t>
            </a:r>
          </a:p>
        </p:txBody>
      </p:sp>
      <p:sp>
        <p:nvSpPr>
          <p:cNvPr id="37891" name="Footer Placeholder 4">
            <a:extLst>
              <a:ext uri="{FF2B5EF4-FFF2-40B4-BE49-F238E27FC236}">
                <a16:creationId xmlns:a16="http://schemas.microsoft.com/office/drawing/2014/main" id="{EAE96742-4428-C445-D209-3F55E99C5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UCSD: Physics 121; 2012</a:t>
            </a:r>
          </a:p>
        </p:txBody>
      </p:sp>
      <p:sp>
        <p:nvSpPr>
          <p:cNvPr id="37892" name="Slide Number Placeholder 5">
            <a:extLst>
              <a:ext uri="{FF2B5EF4-FFF2-40B4-BE49-F238E27FC236}">
                <a16:creationId xmlns:a16="http://schemas.microsoft.com/office/drawing/2014/main" id="{5AB8FA74-51AF-0F09-F093-93F6F0B47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7954D01-0CC1-4431-9C37-CE3D1C38AA0B}" type="slidenum">
              <a:rPr lang="en-US" altLang="en-US" sz="1400"/>
              <a:pPr/>
              <a:t>11</a:t>
            </a:fld>
            <a:endParaRPr lang="en-US" altLang="en-US" sz="1400"/>
          </a:p>
        </p:txBody>
      </p:sp>
      <p:sp>
        <p:nvSpPr>
          <p:cNvPr id="82946" name="Rectangle 2">
            <a:extLst>
              <a:ext uri="{FF2B5EF4-FFF2-40B4-BE49-F238E27FC236}">
                <a16:creationId xmlns:a16="http://schemas.microsoft.com/office/drawing/2014/main" id="{5AE838D4-BF4C-12F8-2BD4-47C81607D1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Doing Better: Full-wave Diode Bridge</a:t>
            </a: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574CD9F6-AD82-98E2-7EAE-4741C0D041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The diode in the rectifying circuit simply prevented the negative swing of voltage from conducting</a:t>
            </a:r>
          </a:p>
          <a:p>
            <a:pPr lvl="1" eaLnBrk="1" hangingPunct="1"/>
            <a:r>
              <a:rPr lang="en-US" altLang="en-US"/>
              <a:t>but this wastes half the available cycle</a:t>
            </a:r>
          </a:p>
          <a:p>
            <a:pPr lvl="1" eaLnBrk="1" hangingPunct="1"/>
            <a:r>
              <a:rPr lang="en-US" altLang="en-US"/>
              <a:t>also very irregular (bumpy): far from a “good” DC source</a:t>
            </a:r>
          </a:p>
          <a:p>
            <a:pPr eaLnBrk="1" hangingPunct="1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By using </a:t>
            </a:r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four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diodes, you can recover the negative swing:</a:t>
            </a:r>
          </a:p>
          <a:p>
            <a:pPr eaLnBrk="1" hangingPunct="1">
              <a:buFontTx/>
              <a:buNone/>
            </a:pP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37895" name="Group 4">
            <a:extLst>
              <a:ext uri="{FF2B5EF4-FFF2-40B4-BE49-F238E27FC236}">
                <a16:creationId xmlns:a16="http://schemas.microsoft.com/office/drawing/2014/main" id="{34188EC3-9B5F-26D6-D915-1B99E9158A28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3962400"/>
            <a:ext cx="3543300" cy="2133600"/>
            <a:chOff x="1560" y="2496"/>
            <a:chExt cx="2232" cy="1344"/>
          </a:xfrm>
        </p:grpSpPr>
        <p:grpSp>
          <p:nvGrpSpPr>
            <p:cNvPr id="37924" name="Group 5">
              <a:extLst>
                <a:ext uri="{FF2B5EF4-FFF2-40B4-BE49-F238E27FC236}">
                  <a16:creationId xmlns:a16="http://schemas.microsoft.com/office/drawing/2014/main" id="{AC0F7D31-5798-98B7-F0B7-10FE09EC07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60" y="2976"/>
              <a:ext cx="240" cy="240"/>
              <a:chOff x="768" y="3312"/>
              <a:chExt cx="240" cy="240"/>
            </a:xfrm>
          </p:grpSpPr>
          <p:sp>
            <p:nvSpPr>
              <p:cNvPr id="37965" name="Oval 6">
                <a:extLst>
                  <a:ext uri="{FF2B5EF4-FFF2-40B4-BE49-F238E27FC236}">
                    <a16:creationId xmlns:a16="http://schemas.microsoft.com/office/drawing/2014/main" id="{CDDB567A-DE1B-843B-DCB1-BABA0DB510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331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7966" name="Freeform 7">
                <a:extLst>
                  <a:ext uri="{FF2B5EF4-FFF2-40B4-BE49-F238E27FC236}">
                    <a16:creationId xmlns:a16="http://schemas.microsoft.com/office/drawing/2014/main" id="{5940B762-9CAE-8CCA-52CD-B38F5BBF9E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4" y="3385"/>
                <a:ext cx="192" cy="96"/>
              </a:xfrm>
              <a:custGeom>
                <a:avLst/>
                <a:gdLst>
                  <a:gd name="T0" fmla="*/ 0 w 192"/>
                  <a:gd name="T1" fmla="*/ 48 h 96"/>
                  <a:gd name="T2" fmla="*/ 48 w 192"/>
                  <a:gd name="T3" fmla="*/ 0 h 96"/>
                  <a:gd name="T4" fmla="*/ 96 w 192"/>
                  <a:gd name="T5" fmla="*/ 48 h 96"/>
                  <a:gd name="T6" fmla="*/ 144 w 192"/>
                  <a:gd name="T7" fmla="*/ 96 h 96"/>
                  <a:gd name="T8" fmla="*/ 192 w 192"/>
                  <a:gd name="T9" fmla="*/ 48 h 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"/>
                  <a:gd name="T16" fmla="*/ 0 h 96"/>
                  <a:gd name="T17" fmla="*/ 192 w 192"/>
                  <a:gd name="T18" fmla="*/ 96 h 9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" h="96">
                    <a:moveTo>
                      <a:pt x="0" y="48"/>
                    </a:moveTo>
                    <a:cubicBezTo>
                      <a:pt x="16" y="24"/>
                      <a:pt x="32" y="0"/>
                      <a:pt x="48" y="0"/>
                    </a:cubicBezTo>
                    <a:cubicBezTo>
                      <a:pt x="64" y="0"/>
                      <a:pt x="80" y="32"/>
                      <a:pt x="96" y="48"/>
                    </a:cubicBezTo>
                    <a:cubicBezTo>
                      <a:pt x="112" y="64"/>
                      <a:pt x="128" y="96"/>
                      <a:pt x="144" y="96"/>
                    </a:cubicBezTo>
                    <a:cubicBezTo>
                      <a:pt x="160" y="96"/>
                      <a:pt x="184" y="56"/>
                      <a:pt x="192" y="48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37925" name="Group 8">
              <a:extLst>
                <a:ext uri="{FF2B5EF4-FFF2-40B4-BE49-F238E27FC236}">
                  <a16:creationId xmlns:a16="http://schemas.microsoft.com/office/drawing/2014/main" id="{F59EC061-296E-F869-5604-3E9D504B22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3312"/>
              <a:ext cx="96" cy="336"/>
              <a:chOff x="1104" y="3264"/>
              <a:chExt cx="96" cy="336"/>
            </a:xfrm>
          </p:grpSpPr>
          <p:sp>
            <p:nvSpPr>
              <p:cNvPr id="37958" name="Line 9">
                <a:extLst>
                  <a:ext uri="{FF2B5EF4-FFF2-40B4-BE49-F238E27FC236}">
                    <a16:creationId xmlns:a16="http://schemas.microsoft.com/office/drawing/2014/main" id="{8192BD35-9846-6DA7-7887-5B17554B65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3264"/>
                <a:ext cx="48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7959" name="Line 10">
                <a:extLst>
                  <a:ext uri="{FF2B5EF4-FFF2-40B4-BE49-F238E27FC236}">
                    <a16:creationId xmlns:a16="http://schemas.microsoft.com/office/drawing/2014/main" id="{DA157187-3DCB-E519-4697-19AA538EB3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04" y="3312"/>
                <a:ext cx="96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7960" name="Line 11">
                <a:extLst>
                  <a:ext uri="{FF2B5EF4-FFF2-40B4-BE49-F238E27FC236}">
                    <a16:creationId xmlns:a16="http://schemas.microsoft.com/office/drawing/2014/main" id="{3CCA8149-41D7-3C70-D743-0E1C691CB5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360"/>
                <a:ext cx="96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7961" name="Line 12">
                <a:extLst>
                  <a:ext uri="{FF2B5EF4-FFF2-40B4-BE49-F238E27FC236}">
                    <a16:creationId xmlns:a16="http://schemas.microsoft.com/office/drawing/2014/main" id="{E7FD27D6-D09A-F056-BBCB-2CE12A7BBA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04" y="3408"/>
                <a:ext cx="96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7962" name="Line 13">
                <a:extLst>
                  <a:ext uri="{FF2B5EF4-FFF2-40B4-BE49-F238E27FC236}">
                    <a16:creationId xmlns:a16="http://schemas.microsoft.com/office/drawing/2014/main" id="{A4B30E11-D543-1E95-C975-707870B8D7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456"/>
                <a:ext cx="96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7963" name="Line 14">
                <a:extLst>
                  <a:ext uri="{FF2B5EF4-FFF2-40B4-BE49-F238E27FC236}">
                    <a16:creationId xmlns:a16="http://schemas.microsoft.com/office/drawing/2014/main" id="{814EB3B6-58A6-0AF0-5305-B9182641A6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04" y="3504"/>
                <a:ext cx="96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7964" name="Line 15">
                <a:extLst>
                  <a:ext uri="{FF2B5EF4-FFF2-40B4-BE49-F238E27FC236}">
                    <a16:creationId xmlns:a16="http://schemas.microsoft.com/office/drawing/2014/main" id="{220C59E9-4FE5-9717-03EC-9B03846F7B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552"/>
                <a:ext cx="48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37926" name="Line 16">
              <a:extLst>
                <a:ext uri="{FF2B5EF4-FFF2-40B4-BE49-F238E27FC236}">
                  <a16:creationId xmlns:a16="http://schemas.microsoft.com/office/drawing/2014/main" id="{8439B14D-C6E5-4753-EEB7-CC492EDCAA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4" y="3120"/>
              <a:ext cx="0" cy="19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7927" name="Line 17">
              <a:extLst>
                <a:ext uri="{FF2B5EF4-FFF2-40B4-BE49-F238E27FC236}">
                  <a16:creationId xmlns:a16="http://schemas.microsoft.com/office/drawing/2014/main" id="{691BBD60-F6E5-478D-8121-A00E07170B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3648"/>
              <a:ext cx="0" cy="19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37928" name="Group 18">
              <a:extLst>
                <a:ext uri="{FF2B5EF4-FFF2-40B4-BE49-F238E27FC236}">
                  <a16:creationId xmlns:a16="http://schemas.microsoft.com/office/drawing/2014/main" id="{9E5DE8DF-DE6B-7A1A-4C66-6D031B82F327}"/>
                </a:ext>
              </a:extLst>
            </p:cNvPr>
            <p:cNvGrpSpPr>
              <a:grpSpLocks/>
            </p:cNvGrpSpPr>
            <p:nvPr/>
          </p:nvGrpSpPr>
          <p:grpSpPr bwMode="auto">
            <a:xfrm rot="2695030">
              <a:off x="2112" y="3311"/>
              <a:ext cx="768" cy="145"/>
              <a:chOff x="912" y="3023"/>
              <a:chExt cx="768" cy="145"/>
            </a:xfrm>
          </p:grpSpPr>
          <p:sp>
            <p:nvSpPr>
              <p:cNvPr id="37955" name="Line 19">
                <a:extLst>
                  <a:ext uri="{FF2B5EF4-FFF2-40B4-BE49-F238E27FC236}">
                    <a16:creationId xmlns:a16="http://schemas.microsoft.com/office/drawing/2014/main" id="{AD86B9C2-5A39-6155-14BF-AFB7B07FE9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1296" y="2712"/>
                <a:ext cx="0" cy="76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7956" name="AutoShape 20">
                <a:extLst>
                  <a:ext uri="{FF2B5EF4-FFF2-40B4-BE49-F238E27FC236}">
                    <a16:creationId xmlns:a16="http://schemas.microsoft.com/office/drawing/2014/main" id="{AD089DC0-0295-DA3C-8254-D4DDE252B7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V="1">
                <a:off x="1224" y="3048"/>
                <a:ext cx="144" cy="96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 w="317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7957" name="Line 21">
                <a:extLst>
                  <a:ext uri="{FF2B5EF4-FFF2-40B4-BE49-F238E27FC236}">
                    <a16:creationId xmlns:a16="http://schemas.microsoft.com/office/drawing/2014/main" id="{7E7234B3-7238-FA42-F0A5-6830F0CE77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1271" y="3095"/>
                <a:ext cx="144" cy="0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37929" name="Group 22">
              <a:extLst>
                <a:ext uri="{FF2B5EF4-FFF2-40B4-BE49-F238E27FC236}">
                  <a16:creationId xmlns:a16="http://schemas.microsoft.com/office/drawing/2014/main" id="{7FF41D6D-3474-F158-C7E7-E34CFA04DDE6}"/>
                </a:ext>
              </a:extLst>
            </p:cNvPr>
            <p:cNvGrpSpPr>
              <a:grpSpLocks/>
            </p:cNvGrpSpPr>
            <p:nvPr/>
          </p:nvGrpSpPr>
          <p:grpSpPr bwMode="auto">
            <a:xfrm rot="18904970" flipV="1">
              <a:off x="2112" y="2784"/>
              <a:ext cx="768" cy="145"/>
              <a:chOff x="912" y="3023"/>
              <a:chExt cx="768" cy="145"/>
            </a:xfrm>
          </p:grpSpPr>
          <p:sp>
            <p:nvSpPr>
              <p:cNvPr id="37952" name="Line 23">
                <a:extLst>
                  <a:ext uri="{FF2B5EF4-FFF2-40B4-BE49-F238E27FC236}">
                    <a16:creationId xmlns:a16="http://schemas.microsoft.com/office/drawing/2014/main" id="{6F019B02-3852-22DA-BE22-5CE98C231E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1296" y="2712"/>
                <a:ext cx="0" cy="76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7953" name="AutoShape 24">
                <a:extLst>
                  <a:ext uri="{FF2B5EF4-FFF2-40B4-BE49-F238E27FC236}">
                    <a16:creationId xmlns:a16="http://schemas.microsoft.com/office/drawing/2014/main" id="{53E08A48-FEB7-45E7-1390-64C4687B0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V="1">
                <a:off x="1224" y="3048"/>
                <a:ext cx="144" cy="96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 w="317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7954" name="Line 25">
                <a:extLst>
                  <a:ext uri="{FF2B5EF4-FFF2-40B4-BE49-F238E27FC236}">
                    <a16:creationId xmlns:a16="http://schemas.microsoft.com/office/drawing/2014/main" id="{56503944-4E53-95A7-5976-607D4A0132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1271" y="3095"/>
                <a:ext cx="144" cy="0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37930" name="Group 26">
              <a:extLst>
                <a:ext uri="{FF2B5EF4-FFF2-40B4-BE49-F238E27FC236}">
                  <a16:creationId xmlns:a16="http://schemas.microsoft.com/office/drawing/2014/main" id="{D4CE9AB9-29ED-B2C7-4DBF-FECC845DAC09}"/>
                </a:ext>
              </a:extLst>
            </p:cNvPr>
            <p:cNvGrpSpPr>
              <a:grpSpLocks/>
            </p:cNvGrpSpPr>
            <p:nvPr/>
          </p:nvGrpSpPr>
          <p:grpSpPr bwMode="auto">
            <a:xfrm rot="2695030">
              <a:off x="2640" y="2784"/>
              <a:ext cx="768" cy="145"/>
              <a:chOff x="912" y="3023"/>
              <a:chExt cx="768" cy="145"/>
            </a:xfrm>
          </p:grpSpPr>
          <p:sp>
            <p:nvSpPr>
              <p:cNvPr id="37949" name="Line 27">
                <a:extLst>
                  <a:ext uri="{FF2B5EF4-FFF2-40B4-BE49-F238E27FC236}">
                    <a16:creationId xmlns:a16="http://schemas.microsoft.com/office/drawing/2014/main" id="{93D83C46-3076-14D0-AAD2-C0C9929EB7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1296" y="2712"/>
                <a:ext cx="0" cy="76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7950" name="AutoShape 28">
                <a:extLst>
                  <a:ext uri="{FF2B5EF4-FFF2-40B4-BE49-F238E27FC236}">
                    <a16:creationId xmlns:a16="http://schemas.microsoft.com/office/drawing/2014/main" id="{2BE4CD6E-5F61-EB7E-16D9-CE993361BE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V="1">
                <a:off x="1224" y="3048"/>
                <a:ext cx="144" cy="96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 w="317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7951" name="Line 29">
                <a:extLst>
                  <a:ext uri="{FF2B5EF4-FFF2-40B4-BE49-F238E27FC236}">
                    <a16:creationId xmlns:a16="http://schemas.microsoft.com/office/drawing/2014/main" id="{CC5EF512-667A-522B-2A21-E3878F51D8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1271" y="3095"/>
                <a:ext cx="144" cy="0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37931" name="Group 30">
              <a:extLst>
                <a:ext uri="{FF2B5EF4-FFF2-40B4-BE49-F238E27FC236}">
                  <a16:creationId xmlns:a16="http://schemas.microsoft.com/office/drawing/2014/main" id="{CC36EDA1-E676-B60F-7E7B-64BB6377E6BF}"/>
                </a:ext>
              </a:extLst>
            </p:cNvPr>
            <p:cNvGrpSpPr>
              <a:grpSpLocks/>
            </p:cNvGrpSpPr>
            <p:nvPr/>
          </p:nvGrpSpPr>
          <p:grpSpPr bwMode="auto">
            <a:xfrm rot="18904970" flipV="1">
              <a:off x="2640" y="3311"/>
              <a:ext cx="768" cy="145"/>
              <a:chOff x="912" y="3023"/>
              <a:chExt cx="768" cy="145"/>
            </a:xfrm>
          </p:grpSpPr>
          <p:sp>
            <p:nvSpPr>
              <p:cNvPr id="37946" name="Line 31">
                <a:extLst>
                  <a:ext uri="{FF2B5EF4-FFF2-40B4-BE49-F238E27FC236}">
                    <a16:creationId xmlns:a16="http://schemas.microsoft.com/office/drawing/2014/main" id="{1C1B4502-4800-A016-13C9-57F9404089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1296" y="2712"/>
                <a:ext cx="0" cy="76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7947" name="AutoShape 32">
                <a:extLst>
                  <a:ext uri="{FF2B5EF4-FFF2-40B4-BE49-F238E27FC236}">
                    <a16:creationId xmlns:a16="http://schemas.microsoft.com/office/drawing/2014/main" id="{3840AE37-4391-90F0-C5FB-38A684DF0D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V="1">
                <a:off x="1224" y="3048"/>
                <a:ext cx="144" cy="96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 w="317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7948" name="Line 33">
                <a:extLst>
                  <a:ext uri="{FF2B5EF4-FFF2-40B4-BE49-F238E27FC236}">
                    <a16:creationId xmlns:a16="http://schemas.microsoft.com/office/drawing/2014/main" id="{2BDEA789-6182-3978-7863-76E8921D4F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1271" y="3095"/>
                <a:ext cx="144" cy="0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37932" name="Oval 34">
              <a:extLst>
                <a:ext uri="{FF2B5EF4-FFF2-40B4-BE49-F238E27FC236}">
                  <a16:creationId xmlns:a16="http://schemas.microsoft.com/office/drawing/2014/main" id="{CA49C90F-24FD-062C-6527-91CC4DC02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573"/>
              <a:ext cx="48" cy="48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7933" name="Oval 35">
              <a:extLst>
                <a:ext uri="{FF2B5EF4-FFF2-40B4-BE49-F238E27FC236}">
                  <a16:creationId xmlns:a16="http://schemas.microsoft.com/office/drawing/2014/main" id="{012ABFFC-524B-1F09-8DCF-601385A8B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3616"/>
              <a:ext cx="48" cy="48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7934" name="Oval 36">
              <a:extLst>
                <a:ext uri="{FF2B5EF4-FFF2-40B4-BE49-F238E27FC236}">
                  <a16:creationId xmlns:a16="http://schemas.microsoft.com/office/drawing/2014/main" id="{4D8AC68D-468C-D243-B2C6-DDAB005177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3092"/>
              <a:ext cx="48" cy="48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7935" name="Oval 37">
              <a:extLst>
                <a:ext uri="{FF2B5EF4-FFF2-40B4-BE49-F238E27FC236}">
                  <a16:creationId xmlns:a16="http://schemas.microsoft.com/office/drawing/2014/main" id="{F212780C-33B1-5C72-E951-1449D2346C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3092"/>
              <a:ext cx="48" cy="48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7936" name="Line 38">
              <a:extLst>
                <a:ext uri="{FF2B5EF4-FFF2-40B4-BE49-F238E27FC236}">
                  <a16:creationId xmlns:a16="http://schemas.microsoft.com/office/drawing/2014/main" id="{47EBBD63-1475-09B9-28AC-D2812D45CA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2496"/>
              <a:ext cx="0" cy="9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7937" name="Line 39">
              <a:extLst>
                <a:ext uri="{FF2B5EF4-FFF2-40B4-BE49-F238E27FC236}">
                  <a16:creationId xmlns:a16="http://schemas.microsoft.com/office/drawing/2014/main" id="{43D137EB-8EFD-81F6-DB17-D6F8A3E55E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80" y="2496"/>
              <a:ext cx="1056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7938" name="Line 40">
              <a:extLst>
                <a:ext uri="{FF2B5EF4-FFF2-40B4-BE49-F238E27FC236}">
                  <a16:creationId xmlns:a16="http://schemas.microsoft.com/office/drawing/2014/main" id="{98605F32-1876-2DB8-E33E-C8B97C6119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2496"/>
              <a:ext cx="0" cy="48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7939" name="Line 41">
              <a:extLst>
                <a:ext uri="{FF2B5EF4-FFF2-40B4-BE49-F238E27FC236}">
                  <a16:creationId xmlns:a16="http://schemas.microsoft.com/office/drawing/2014/main" id="{C1D091FA-3F01-7B33-2719-DDF9DFDD6F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216"/>
              <a:ext cx="0" cy="52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7940" name="Line 42">
              <a:extLst>
                <a:ext uri="{FF2B5EF4-FFF2-40B4-BE49-F238E27FC236}">
                  <a16:creationId xmlns:a16="http://schemas.microsoft.com/office/drawing/2014/main" id="{A7194F61-2803-19DE-1FC6-45D6769938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3648"/>
              <a:ext cx="0" cy="9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7941" name="Line 43">
              <a:extLst>
                <a:ext uri="{FF2B5EF4-FFF2-40B4-BE49-F238E27FC236}">
                  <a16:creationId xmlns:a16="http://schemas.microsoft.com/office/drawing/2014/main" id="{8C9C4232-0F86-D250-C8BB-2C6DFA1127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80" y="3744"/>
              <a:ext cx="1056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7942" name="Line 44">
              <a:extLst>
                <a:ext uri="{FF2B5EF4-FFF2-40B4-BE49-F238E27FC236}">
                  <a16:creationId xmlns:a16="http://schemas.microsoft.com/office/drawing/2014/main" id="{EA3460BB-5DBB-2E40-6D8F-2CFC4FBCE4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4" y="3120"/>
              <a:ext cx="144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7943" name="Line 45">
              <a:extLst>
                <a:ext uri="{FF2B5EF4-FFF2-40B4-BE49-F238E27FC236}">
                  <a16:creationId xmlns:a16="http://schemas.microsoft.com/office/drawing/2014/main" id="{988298D5-8F54-8688-9467-1037CB1398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3120"/>
              <a:ext cx="0" cy="72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7944" name="Line 46">
              <a:extLst>
                <a:ext uri="{FF2B5EF4-FFF2-40B4-BE49-F238E27FC236}">
                  <a16:creationId xmlns:a16="http://schemas.microsoft.com/office/drawing/2014/main" id="{031DBB87-85BA-DABE-004D-F5F7B48AD1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3840"/>
              <a:ext cx="1680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7945" name="Line 47">
              <a:extLst>
                <a:ext uri="{FF2B5EF4-FFF2-40B4-BE49-F238E27FC236}">
                  <a16:creationId xmlns:a16="http://schemas.microsoft.com/office/drawing/2014/main" id="{73AC3EA2-2719-D458-CFB3-0F1331F85A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0"/>
              <a:ext cx="432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37896" name="Text Box 48">
            <a:extLst>
              <a:ext uri="{FF2B5EF4-FFF2-40B4-BE49-F238E27FC236}">
                <a16:creationId xmlns:a16="http://schemas.microsoft.com/office/drawing/2014/main" id="{967A9019-5195-75E6-C748-D96B33689A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4325" y="4129088"/>
            <a:ext cx="336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000000"/>
                </a:solidFill>
              </a:rPr>
              <a:t>A</a:t>
            </a:r>
            <a:endParaRPr lang="en-US" altLang="en-US" sz="1800"/>
          </a:p>
        </p:txBody>
      </p:sp>
      <p:sp>
        <p:nvSpPr>
          <p:cNvPr id="37897" name="Text Box 49">
            <a:extLst>
              <a:ext uri="{FF2B5EF4-FFF2-40B4-BE49-F238E27FC236}">
                <a16:creationId xmlns:a16="http://schemas.microsoft.com/office/drawing/2014/main" id="{B12DD7CD-9E3A-8B86-E0D1-8A122DF494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3850" y="5334000"/>
            <a:ext cx="34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000000"/>
                </a:solidFill>
              </a:rPr>
              <a:t>C</a:t>
            </a:r>
            <a:endParaRPr lang="en-US" altLang="en-US" sz="1800"/>
          </a:p>
        </p:txBody>
      </p:sp>
      <p:sp>
        <p:nvSpPr>
          <p:cNvPr id="37898" name="Text Box 50">
            <a:extLst>
              <a:ext uri="{FF2B5EF4-FFF2-40B4-BE49-F238E27FC236}">
                <a16:creationId xmlns:a16="http://schemas.microsoft.com/office/drawing/2014/main" id="{61B2C5F2-1CB8-B759-44D2-C8317094C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0050" y="4129088"/>
            <a:ext cx="336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000000"/>
                </a:solidFill>
              </a:rPr>
              <a:t>B</a:t>
            </a:r>
            <a:endParaRPr lang="en-US" altLang="en-US" sz="1800"/>
          </a:p>
        </p:txBody>
      </p:sp>
      <p:sp>
        <p:nvSpPr>
          <p:cNvPr id="37899" name="Text Box 51">
            <a:extLst>
              <a:ext uri="{FF2B5EF4-FFF2-40B4-BE49-F238E27FC236}">
                <a16:creationId xmlns:a16="http://schemas.microsoft.com/office/drawing/2014/main" id="{4D618A35-F9F0-C154-9457-5606CCA740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3700" y="5410200"/>
            <a:ext cx="34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000000"/>
                </a:solidFill>
              </a:rPr>
              <a:t>D</a:t>
            </a:r>
            <a:endParaRPr lang="en-US" altLang="en-US" sz="1800"/>
          </a:p>
        </p:txBody>
      </p:sp>
      <p:sp>
        <p:nvSpPr>
          <p:cNvPr id="37900" name="Text Box 52">
            <a:extLst>
              <a:ext uri="{FF2B5EF4-FFF2-40B4-BE49-F238E27FC236}">
                <a16:creationId xmlns:a16="http://schemas.microsoft.com/office/drawing/2014/main" id="{D348F05D-59D8-56CA-3BC6-ABCD73319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343400"/>
            <a:ext cx="1250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solidFill>
                  <a:schemeClr val="accent2"/>
                </a:solidFill>
              </a:rPr>
              <a:t>AC source</a:t>
            </a:r>
          </a:p>
        </p:txBody>
      </p:sp>
      <p:sp>
        <p:nvSpPr>
          <p:cNvPr id="37901" name="Text Box 53">
            <a:extLst>
              <a:ext uri="{FF2B5EF4-FFF2-40B4-BE49-F238E27FC236}">
                <a16:creationId xmlns:a16="http://schemas.microsoft.com/office/drawing/2014/main" id="{497093A0-7900-7636-8691-A329F9A93A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8450" y="5257800"/>
            <a:ext cx="615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solidFill>
                  <a:schemeClr val="accent2"/>
                </a:solidFill>
              </a:rPr>
              <a:t>load</a:t>
            </a:r>
          </a:p>
        </p:txBody>
      </p:sp>
      <p:sp>
        <p:nvSpPr>
          <p:cNvPr id="37902" name="Line 54">
            <a:extLst>
              <a:ext uri="{FF2B5EF4-FFF2-40B4-BE49-F238E27FC236}">
                <a16:creationId xmlns:a16="http://schemas.microsoft.com/office/drawing/2014/main" id="{322B564C-F514-A6EE-653F-B2FEF68E982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4054475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03" name="Line 55">
            <a:extLst>
              <a:ext uri="{FF2B5EF4-FFF2-40B4-BE49-F238E27FC236}">
                <a16:creationId xmlns:a16="http://schemas.microsoft.com/office/drawing/2014/main" id="{AD515B23-87E9-D0C7-8451-C8BC015DFB4E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4435475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37904" name="Group 56">
            <a:extLst>
              <a:ext uri="{FF2B5EF4-FFF2-40B4-BE49-F238E27FC236}">
                <a16:creationId xmlns:a16="http://schemas.microsoft.com/office/drawing/2014/main" id="{02E2DD89-E310-E3F1-5982-007DEB8FB07C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4054475"/>
            <a:ext cx="3048000" cy="762000"/>
            <a:chOff x="3312" y="3072"/>
            <a:chExt cx="1920" cy="480"/>
          </a:xfrm>
        </p:grpSpPr>
        <p:sp>
          <p:nvSpPr>
            <p:cNvPr id="37920" name="Freeform 57">
              <a:extLst>
                <a:ext uri="{FF2B5EF4-FFF2-40B4-BE49-F238E27FC236}">
                  <a16:creationId xmlns:a16="http://schemas.microsoft.com/office/drawing/2014/main" id="{BADC3CA4-408D-3451-5783-3EC184E075A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792" y="3312"/>
              <a:ext cx="480" cy="240"/>
            </a:xfrm>
            <a:custGeom>
              <a:avLst/>
              <a:gdLst>
                <a:gd name="T0" fmla="*/ 0 w 480"/>
                <a:gd name="T1" fmla="*/ 240 h 240"/>
                <a:gd name="T2" fmla="*/ 240 w 480"/>
                <a:gd name="T3" fmla="*/ 0 h 240"/>
                <a:gd name="T4" fmla="*/ 480 w 480"/>
                <a:gd name="T5" fmla="*/ 240 h 240"/>
                <a:gd name="T6" fmla="*/ 0 60000 65536"/>
                <a:gd name="T7" fmla="*/ 0 60000 65536"/>
                <a:gd name="T8" fmla="*/ 0 60000 65536"/>
                <a:gd name="T9" fmla="*/ 0 w 480"/>
                <a:gd name="T10" fmla="*/ 0 h 240"/>
                <a:gd name="T11" fmla="*/ 480 w 480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240">
                  <a:moveTo>
                    <a:pt x="0" y="240"/>
                  </a:moveTo>
                  <a:cubicBezTo>
                    <a:pt x="80" y="120"/>
                    <a:pt x="160" y="0"/>
                    <a:pt x="240" y="0"/>
                  </a:cubicBezTo>
                  <a:cubicBezTo>
                    <a:pt x="320" y="0"/>
                    <a:pt x="400" y="120"/>
                    <a:pt x="480" y="240"/>
                  </a:cubicBezTo>
                </a:path>
              </a:pathLst>
            </a:custGeom>
            <a:noFill/>
            <a:ln w="1587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7921" name="Freeform 58">
              <a:extLst>
                <a:ext uri="{FF2B5EF4-FFF2-40B4-BE49-F238E27FC236}">
                  <a16:creationId xmlns:a16="http://schemas.microsoft.com/office/drawing/2014/main" id="{75AEE577-FD28-F733-53E7-95F3F7E7A1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3072"/>
              <a:ext cx="480" cy="240"/>
            </a:xfrm>
            <a:custGeom>
              <a:avLst/>
              <a:gdLst>
                <a:gd name="T0" fmla="*/ 0 w 480"/>
                <a:gd name="T1" fmla="*/ 240 h 240"/>
                <a:gd name="T2" fmla="*/ 240 w 480"/>
                <a:gd name="T3" fmla="*/ 0 h 240"/>
                <a:gd name="T4" fmla="*/ 480 w 480"/>
                <a:gd name="T5" fmla="*/ 240 h 240"/>
                <a:gd name="T6" fmla="*/ 0 60000 65536"/>
                <a:gd name="T7" fmla="*/ 0 60000 65536"/>
                <a:gd name="T8" fmla="*/ 0 60000 65536"/>
                <a:gd name="T9" fmla="*/ 0 w 480"/>
                <a:gd name="T10" fmla="*/ 0 h 240"/>
                <a:gd name="T11" fmla="*/ 480 w 480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240">
                  <a:moveTo>
                    <a:pt x="0" y="240"/>
                  </a:moveTo>
                  <a:cubicBezTo>
                    <a:pt x="80" y="120"/>
                    <a:pt x="160" y="0"/>
                    <a:pt x="240" y="0"/>
                  </a:cubicBezTo>
                  <a:cubicBezTo>
                    <a:pt x="320" y="0"/>
                    <a:pt x="400" y="120"/>
                    <a:pt x="480" y="240"/>
                  </a:cubicBezTo>
                </a:path>
              </a:pathLst>
            </a:custGeom>
            <a:noFill/>
            <a:ln w="1587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7922" name="Freeform 59">
              <a:extLst>
                <a:ext uri="{FF2B5EF4-FFF2-40B4-BE49-F238E27FC236}">
                  <a16:creationId xmlns:a16="http://schemas.microsoft.com/office/drawing/2014/main" id="{25DA1E09-3794-B58C-C83B-06277C5DA9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2" y="3072"/>
              <a:ext cx="480" cy="240"/>
            </a:xfrm>
            <a:custGeom>
              <a:avLst/>
              <a:gdLst>
                <a:gd name="T0" fmla="*/ 0 w 480"/>
                <a:gd name="T1" fmla="*/ 240 h 240"/>
                <a:gd name="T2" fmla="*/ 240 w 480"/>
                <a:gd name="T3" fmla="*/ 0 h 240"/>
                <a:gd name="T4" fmla="*/ 480 w 480"/>
                <a:gd name="T5" fmla="*/ 240 h 240"/>
                <a:gd name="T6" fmla="*/ 0 60000 65536"/>
                <a:gd name="T7" fmla="*/ 0 60000 65536"/>
                <a:gd name="T8" fmla="*/ 0 60000 65536"/>
                <a:gd name="T9" fmla="*/ 0 w 480"/>
                <a:gd name="T10" fmla="*/ 0 h 240"/>
                <a:gd name="T11" fmla="*/ 480 w 480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240">
                  <a:moveTo>
                    <a:pt x="0" y="240"/>
                  </a:moveTo>
                  <a:cubicBezTo>
                    <a:pt x="80" y="120"/>
                    <a:pt x="160" y="0"/>
                    <a:pt x="240" y="0"/>
                  </a:cubicBezTo>
                  <a:cubicBezTo>
                    <a:pt x="320" y="0"/>
                    <a:pt x="400" y="120"/>
                    <a:pt x="480" y="240"/>
                  </a:cubicBezTo>
                </a:path>
              </a:pathLst>
            </a:custGeom>
            <a:noFill/>
            <a:ln w="1587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7923" name="Freeform 60">
              <a:extLst>
                <a:ext uri="{FF2B5EF4-FFF2-40B4-BE49-F238E27FC236}">
                  <a16:creationId xmlns:a16="http://schemas.microsoft.com/office/drawing/2014/main" id="{10C4EAF8-D0B6-D9EC-1327-93233565BC2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752" y="3312"/>
              <a:ext cx="480" cy="240"/>
            </a:xfrm>
            <a:custGeom>
              <a:avLst/>
              <a:gdLst>
                <a:gd name="T0" fmla="*/ 0 w 480"/>
                <a:gd name="T1" fmla="*/ 240 h 240"/>
                <a:gd name="T2" fmla="*/ 240 w 480"/>
                <a:gd name="T3" fmla="*/ 0 h 240"/>
                <a:gd name="T4" fmla="*/ 480 w 480"/>
                <a:gd name="T5" fmla="*/ 240 h 240"/>
                <a:gd name="T6" fmla="*/ 0 60000 65536"/>
                <a:gd name="T7" fmla="*/ 0 60000 65536"/>
                <a:gd name="T8" fmla="*/ 0 60000 65536"/>
                <a:gd name="T9" fmla="*/ 0 w 480"/>
                <a:gd name="T10" fmla="*/ 0 h 240"/>
                <a:gd name="T11" fmla="*/ 480 w 480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240">
                  <a:moveTo>
                    <a:pt x="0" y="240"/>
                  </a:moveTo>
                  <a:cubicBezTo>
                    <a:pt x="80" y="120"/>
                    <a:pt x="160" y="0"/>
                    <a:pt x="240" y="0"/>
                  </a:cubicBezTo>
                  <a:cubicBezTo>
                    <a:pt x="320" y="0"/>
                    <a:pt x="400" y="120"/>
                    <a:pt x="480" y="240"/>
                  </a:cubicBezTo>
                </a:path>
              </a:pathLst>
            </a:custGeom>
            <a:noFill/>
            <a:ln w="1587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37905" name="Line 61">
            <a:extLst>
              <a:ext uri="{FF2B5EF4-FFF2-40B4-BE49-F238E27FC236}">
                <a16:creationId xmlns:a16="http://schemas.microsoft.com/office/drawing/2014/main" id="{468698D1-D497-1754-C9F1-420E7E3B234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5426075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06" name="Text Box 62">
            <a:extLst>
              <a:ext uri="{FF2B5EF4-FFF2-40B4-BE49-F238E27FC236}">
                <a16:creationId xmlns:a16="http://schemas.microsoft.com/office/drawing/2014/main" id="{07891372-E7EE-7310-D1A8-ADD5892DB0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4050" y="3810000"/>
            <a:ext cx="13366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600">
                <a:solidFill>
                  <a:schemeClr val="hlink"/>
                </a:solidFill>
              </a:rPr>
              <a:t>input voltage</a:t>
            </a:r>
          </a:p>
        </p:txBody>
      </p:sp>
      <p:sp>
        <p:nvSpPr>
          <p:cNvPr id="37907" name="Text Box 63">
            <a:extLst>
              <a:ext uri="{FF2B5EF4-FFF2-40B4-BE49-F238E27FC236}">
                <a16:creationId xmlns:a16="http://schemas.microsoft.com/office/drawing/2014/main" id="{E9376551-1A4D-4C97-88A9-5B619CBB15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0988" y="5851525"/>
            <a:ext cx="20478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600">
                <a:solidFill>
                  <a:srgbClr val="000000"/>
                </a:solidFill>
              </a:rPr>
              <a:t>voltage seen by load</a:t>
            </a:r>
          </a:p>
        </p:txBody>
      </p:sp>
      <p:grpSp>
        <p:nvGrpSpPr>
          <p:cNvPr id="37908" name="Group 64">
            <a:extLst>
              <a:ext uri="{FF2B5EF4-FFF2-40B4-BE49-F238E27FC236}">
                <a16:creationId xmlns:a16="http://schemas.microsoft.com/office/drawing/2014/main" id="{990628B2-31D6-F8B3-B1EE-647AC0A33FD4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5426075"/>
            <a:ext cx="3048000" cy="381000"/>
            <a:chOff x="3312" y="3696"/>
            <a:chExt cx="1920" cy="240"/>
          </a:xfrm>
        </p:grpSpPr>
        <p:sp>
          <p:nvSpPr>
            <p:cNvPr id="37915" name="Line 65">
              <a:extLst>
                <a:ext uri="{FF2B5EF4-FFF2-40B4-BE49-F238E27FC236}">
                  <a16:creationId xmlns:a16="http://schemas.microsoft.com/office/drawing/2014/main" id="{8FA5A578-3AB5-B591-F750-F59EE7922C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936"/>
              <a:ext cx="18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7916" name="Freeform 66">
              <a:extLst>
                <a:ext uri="{FF2B5EF4-FFF2-40B4-BE49-F238E27FC236}">
                  <a16:creationId xmlns:a16="http://schemas.microsoft.com/office/drawing/2014/main" id="{CC0F8765-8622-A125-8BCD-2E4B1BCBD0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3696"/>
              <a:ext cx="480" cy="240"/>
            </a:xfrm>
            <a:custGeom>
              <a:avLst/>
              <a:gdLst>
                <a:gd name="T0" fmla="*/ 0 w 480"/>
                <a:gd name="T1" fmla="*/ 240 h 240"/>
                <a:gd name="T2" fmla="*/ 240 w 480"/>
                <a:gd name="T3" fmla="*/ 0 h 240"/>
                <a:gd name="T4" fmla="*/ 480 w 480"/>
                <a:gd name="T5" fmla="*/ 240 h 240"/>
                <a:gd name="T6" fmla="*/ 0 60000 65536"/>
                <a:gd name="T7" fmla="*/ 0 60000 65536"/>
                <a:gd name="T8" fmla="*/ 0 60000 65536"/>
                <a:gd name="T9" fmla="*/ 0 w 480"/>
                <a:gd name="T10" fmla="*/ 0 h 240"/>
                <a:gd name="T11" fmla="*/ 480 w 480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240">
                  <a:moveTo>
                    <a:pt x="0" y="240"/>
                  </a:moveTo>
                  <a:cubicBezTo>
                    <a:pt x="80" y="120"/>
                    <a:pt x="160" y="0"/>
                    <a:pt x="240" y="0"/>
                  </a:cubicBezTo>
                  <a:cubicBezTo>
                    <a:pt x="320" y="0"/>
                    <a:pt x="400" y="120"/>
                    <a:pt x="480" y="240"/>
                  </a:cubicBez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7917" name="Freeform 67">
              <a:extLst>
                <a:ext uri="{FF2B5EF4-FFF2-40B4-BE49-F238E27FC236}">
                  <a16:creationId xmlns:a16="http://schemas.microsoft.com/office/drawing/2014/main" id="{8BE4212B-EE27-D40E-27D9-971CEE117C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2" y="3696"/>
              <a:ext cx="480" cy="240"/>
            </a:xfrm>
            <a:custGeom>
              <a:avLst/>
              <a:gdLst>
                <a:gd name="T0" fmla="*/ 0 w 480"/>
                <a:gd name="T1" fmla="*/ 240 h 240"/>
                <a:gd name="T2" fmla="*/ 240 w 480"/>
                <a:gd name="T3" fmla="*/ 0 h 240"/>
                <a:gd name="T4" fmla="*/ 480 w 480"/>
                <a:gd name="T5" fmla="*/ 240 h 240"/>
                <a:gd name="T6" fmla="*/ 0 60000 65536"/>
                <a:gd name="T7" fmla="*/ 0 60000 65536"/>
                <a:gd name="T8" fmla="*/ 0 60000 65536"/>
                <a:gd name="T9" fmla="*/ 0 w 480"/>
                <a:gd name="T10" fmla="*/ 0 h 240"/>
                <a:gd name="T11" fmla="*/ 480 w 480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240">
                  <a:moveTo>
                    <a:pt x="0" y="240"/>
                  </a:moveTo>
                  <a:cubicBezTo>
                    <a:pt x="80" y="120"/>
                    <a:pt x="160" y="0"/>
                    <a:pt x="240" y="0"/>
                  </a:cubicBezTo>
                  <a:cubicBezTo>
                    <a:pt x="320" y="0"/>
                    <a:pt x="400" y="120"/>
                    <a:pt x="480" y="240"/>
                  </a:cubicBez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7918" name="Freeform 68">
              <a:extLst>
                <a:ext uri="{FF2B5EF4-FFF2-40B4-BE49-F238E27FC236}">
                  <a16:creationId xmlns:a16="http://schemas.microsoft.com/office/drawing/2014/main" id="{BD2F872C-A5B3-0F7F-3EB9-94D5D28BCD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2" y="3696"/>
              <a:ext cx="480" cy="240"/>
            </a:xfrm>
            <a:custGeom>
              <a:avLst/>
              <a:gdLst>
                <a:gd name="T0" fmla="*/ 0 w 480"/>
                <a:gd name="T1" fmla="*/ 240 h 240"/>
                <a:gd name="T2" fmla="*/ 240 w 480"/>
                <a:gd name="T3" fmla="*/ 0 h 240"/>
                <a:gd name="T4" fmla="*/ 480 w 480"/>
                <a:gd name="T5" fmla="*/ 240 h 240"/>
                <a:gd name="T6" fmla="*/ 0 60000 65536"/>
                <a:gd name="T7" fmla="*/ 0 60000 65536"/>
                <a:gd name="T8" fmla="*/ 0 60000 65536"/>
                <a:gd name="T9" fmla="*/ 0 w 480"/>
                <a:gd name="T10" fmla="*/ 0 h 240"/>
                <a:gd name="T11" fmla="*/ 480 w 480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240">
                  <a:moveTo>
                    <a:pt x="0" y="240"/>
                  </a:moveTo>
                  <a:cubicBezTo>
                    <a:pt x="80" y="120"/>
                    <a:pt x="160" y="0"/>
                    <a:pt x="240" y="0"/>
                  </a:cubicBezTo>
                  <a:cubicBezTo>
                    <a:pt x="320" y="0"/>
                    <a:pt x="400" y="120"/>
                    <a:pt x="480" y="240"/>
                  </a:cubicBez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7919" name="Freeform 69">
              <a:extLst>
                <a:ext uri="{FF2B5EF4-FFF2-40B4-BE49-F238E27FC236}">
                  <a16:creationId xmlns:a16="http://schemas.microsoft.com/office/drawing/2014/main" id="{8696120F-F13B-88E3-545C-632DA07099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2" y="3696"/>
              <a:ext cx="480" cy="240"/>
            </a:xfrm>
            <a:custGeom>
              <a:avLst/>
              <a:gdLst>
                <a:gd name="T0" fmla="*/ 0 w 480"/>
                <a:gd name="T1" fmla="*/ 240 h 240"/>
                <a:gd name="T2" fmla="*/ 240 w 480"/>
                <a:gd name="T3" fmla="*/ 0 h 240"/>
                <a:gd name="T4" fmla="*/ 480 w 480"/>
                <a:gd name="T5" fmla="*/ 240 h 240"/>
                <a:gd name="T6" fmla="*/ 0 60000 65536"/>
                <a:gd name="T7" fmla="*/ 0 60000 65536"/>
                <a:gd name="T8" fmla="*/ 0 60000 65536"/>
                <a:gd name="T9" fmla="*/ 0 w 480"/>
                <a:gd name="T10" fmla="*/ 0 h 240"/>
                <a:gd name="T11" fmla="*/ 480 w 480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240">
                  <a:moveTo>
                    <a:pt x="0" y="240"/>
                  </a:moveTo>
                  <a:cubicBezTo>
                    <a:pt x="80" y="120"/>
                    <a:pt x="160" y="0"/>
                    <a:pt x="240" y="0"/>
                  </a:cubicBezTo>
                  <a:cubicBezTo>
                    <a:pt x="320" y="0"/>
                    <a:pt x="400" y="120"/>
                    <a:pt x="480" y="240"/>
                  </a:cubicBez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37909" name="Text Box 70">
            <a:extLst>
              <a:ext uri="{FF2B5EF4-FFF2-40B4-BE49-F238E27FC236}">
                <a16:creationId xmlns:a16="http://schemas.microsoft.com/office/drawing/2014/main" id="{76AC8EE1-FAE0-8A5C-7A4A-3FFB63555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8125" y="3363913"/>
            <a:ext cx="18081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>
                <a:solidFill>
                  <a:schemeClr val="accent2"/>
                </a:solidFill>
              </a:rPr>
              <a:t>B &amp; C conduct</a:t>
            </a:r>
          </a:p>
        </p:txBody>
      </p:sp>
      <p:sp>
        <p:nvSpPr>
          <p:cNvPr id="37910" name="Text Box 71">
            <a:extLst>
              <a:ext uri="{FF2B5EF4-FFF2-40B4-BE49-F238E27FC236}">
                <a16:creationId xmlns:a16="http://schemas.microsoft.com/office/drawing/2014/main" id="{3BF11DA8-29EA-0F41-A053-D3D82D198F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5238" y="4876800"/>
            <a:ext cx="1808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>
                <a:solidFill>
                  <a:schemeClr val="tx2"/>
                </a:solidFill>
              </a:rPr>
              <a:t>A &amp; D conduct</a:t>
            </a:r>
          </a:p>
        </p:txBody>
      </p:sp>
      <p:sp>
        <p:nvSpPr>
          <p:cNvPr id="37911" name="Line 72">
            <a:extLst>
              <a:ext uri="{FF2B5EF4-FFF2-40B4-BE49-F238E27FC236}">
                <a16:creationId xmlns:a16="http://schemas.microsoft.com/office/drawing/2014/main" id="{30D6DA4B-03E4-6BEA-0173-65284665CA1D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0" y="3733800"/>
            <a:ext cx="0" cy="228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12" name="Line 73">
            <a:extLst>
              <a:ext uri="{FF2B5EF4-FFF2-40B4-BE49-F238E27FC236}">
                <a16:creationId xmlns:a16="http://schemas.microsoft.com/office/drawing/2014/main" id="{1AD011B7-1EA7-CE0B-5C46-36C0E65E1F8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3733800"/>
            <a:ext cx="152400" cy="228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13" name="Line 74">
            <a:extLst>
              <a:ext uri="{FF2B5EF4-FFF2-40B4-BE49-F238E27FC236}">
                <a16:creationId xmlns:a16="http://schemas.microsoft.com/office/drawing/2014/main" id="{3C2AFAEA-B4B8-FA24-1EDD-31885295496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629400" y="4724400"/>
            <a:ext cx="152400" cy="2286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14" name="Line 75">
            <a:extLst>
              <a:ext uri="{FF2B5EF4-FFF2-40B4-BE49-F238E27FC236}">
                <a16:creationId xmlns:a16="http://schemas.microsoft.com/office/drawing/2014/main" id="{17DA7DD8-D3E1-6CF0-4625-DC8480EBB4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43800" y="4800600"/>
            <a:ext cx="228600" cy="1524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Date Placeholder 3">
            <a:extLst>
              <a:ext uri="{FF2B5EF4-FFF2-40B4-BE49-F238E27FC236}">
                <a16:creationId xmlns:a16="http://schemas.microsoft.com/office/drawing/2014/main" id="{858FB116-5872-D49F-048D-FD8C7785900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Winter 2012</a:t>
            </a:r>
          </a:p>
        </p:txBody>
      </p:sp>
      <p:sp>
        <p:nvSpPr>
          <p:cNvPr id="39939" name="Footer Placeholder 4">
            <a:extLst>
              <a:ext uri="{FF2B5EF4-FFF2-40B4-BE49-F238E27FC236}">
                <a16:creationId xmlns:a16="http://schemas.microsoft.com/office/drawing/2014/main" id="{C15279BF-2130-0F3E-0BD4-C42BC6BE6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UCSD: Physics 121; 2012</a:t>
            </a:r>
          </a:p>
        </p:txBody>
      </p:sp>
      <p:sp>
        <p:nvSpPr>
          <p:cNvPr id="39940" name="Slide Number Placeholder 5">
            <a:extLst>
              <a:ext uri="{FF2B5EF4-FFF2-40B4-BE49-F238E27FC236}">
                <a16:creationId xmlns:a16="http://schemas.microsoft.com/office/drawing/2014/main" id="{8525AD47-5175-D207-D417-4BA036B98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058CF9C-2661-477B-AA61-BAF06AA49651}" type="slidenum">
              <a:rPr lang="en-US" altLang="en-US" sz="1400"/>
              <a:pPr/>
              <a:t>12</a:t>
            </a:fld>
            <a:endParaRPr lang="en-US" altLang="en-US" sz="1400"/>
          </a:p>
        </p:txBody>
      </p:sp>
      <p:sp>
        <p:nvSpPr>
          <p:cNvPr id="90114" name="Rectangle 2">
            <a:extLst>
              <a:ext uri="{FF2B5EF4-FFF2-40B4-BE49-F238E27FC236}">
                <a16:creationId xmlns:a16="http://schemas.microsoft.com/office/drawing/2014/main" id="{F20700DB-87CC-CE79-010A-C3C761FEB7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762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Full-Wave Dual-Supply</a:t>
            </a:r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7AAEF4B6-AEBA-CAE4-C779-922BEE03D0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990600"/>
            <a:ext cx="7772400" cy="2209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/>
              <a:t>By grounding the center tap, we have two opposite AC sources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/>
              <a:t>the diode bridge now presents </a:t>
            </a:r>
            <a:r>
              <a:rPr lang="en-US">
                <a:solidFill>
                  <a:schemeClr val="accent2"/>
                </a:solidFill>
              </a:rPr>
              <a:t>+</a:t>
            </a:r>
            <a:r>
              <a:rPr lang="en-US"/>
              <a:t> and </a:t>
            </a:r>
            <a:r>
              <a:rPr lang="en-US">
                <a:solidFill>
                  <a:schemeClr val="hlink"/>
                </a:solidFill>
                <a:sym typeface="Symbol" charset="2"/>
              </a:rPr>
              <a:t></a:t>
            </a:r>
            <a:r>
              <a:rPr lang="en-US">
                <a:sym typeface="Symbol" charset="2"/>
              </a:rPr>
              <a:t> voltages relative to ground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>
                <a:sym typeface="Symbol" charset="2"/>
              </a:rPr>
              <a:t>each can be separately smoothed/regulated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/>
              <a:t>cutting out diodes A and D makes a half-wave rectifier</a:t>
            </a:r>
          </a:p>
        </p:txBody>
      </p:sp>
      <p:grpSp>
        <p:nvGrpSpPr>
          <p:cNvPr id="39943" name="Group 5">
            <a:extLst>
              <a:ext uri="{FF2B5EF4-FFF2-40B4-BE49-F238E27FC236}">
                <a16:creationId xmlns:a16="http://schemas.microsoft.com/office/drawing/2014/main" id="{8613DD5C-818D-A68F-C81B-783AB1426BD4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4191000"/>
            <a:ext cx="381000" cy="381000"/>
            <a:chOff x="768" y="3312"/>
            <a:chExt cx="240" cy="240"/>
          </a:xfrm>
        </p:grpSpPr>
        <p:sp>
          <p:nvSpPr>
            <p:cNvPr id="40060" name="Oval 6">
              <a:extLst>
                <a:ext uri="{FF2B5EF4-FFF2-40B4-BE49-F238E27FC236}">
                  <a16:creationId xmlns:a16="http://schemas.microsoft.com/office/drawing/2014/main" id="{811441D1-358C-DD3A-2AFB-38E5C28BD1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3312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0061" name="Freeform 7">
              <a:extLst>
                <a:ext uri="{FF2B5EF4-FFF2-40B4-BE49-F238E27FC236}">
                  <a16:creationId xmlns:a16="http://schemas.microsoft.com/office/drawing/2014/main" id="{2D7B74C8-0B4C-FC89-4D60-D0E8AD3E5C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" y="3385"/>
              <a:ext cx="192" cy="96"/>
            </a:xfrm>
            <a:custGeom>
              <a:avLst/>
              <a:gdLst>
                <a:gd name="T0" fmla="*/ 0 w 192"/>
                <a:gd name="T1" fmla="*/ 48 h 96"/>
                <a:gd name="T2" fmla="*/ 48 w 192"/>
                <a:gd name="T3" fmla="*/ 0 h 96"/>
                <a:gd name="T4" fmla="*/ 96 w 192"/>
                <a:gd name="T5" fmla="*/ 48 h 96"/>
                <a:gd name="T6" fmla="*/ 144 w 192"/>
                <a:gd name="T7" fmla="*/ 96 h 96"/>
                <a:gd name="T8" fmla="*/ 192 w 192"/>
                <a:gd name="T9" fmla="*/ 48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2"/>
                <a:gd name="T16" fmla="*/ 0 h 96"/>
                <a:gd name="T17" fmla="*/ 192 w 192"/>
                <a:gd name="T18" fmla="*/ 96 h 9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2" h="96">
                  <a:moveTo>
                    <a:pt x="0" y="48"/>
                  </a:moveTo>
                  <a:cubicBezTo>
                    <a:pt x="16" y="24"/>
                    <a:pt x="32" y="0"/>
                    <a:pt x="48" y="0"/>
                  </a:cubicBezTo>
                  <a:cubicBezTo>
                    <a:pt x="64" y="0"/>
                    <a:pt x="80" y="32"/>
                    <a:pt x="96" y="48"/>
                  </a:cubicBezTo>
                  <a:cubicBezTo>
                    <a:pt x="112" y="64"/>
                    <a:pt x="128" y="96"/>
                    <a:pt x="144" y="96"/>
                  </a:cubicBezTo>
                  <a:cubicBezTo>
                    <a:pt x="160" y="96"/>
                    <a:pt x="184" y="56"/>
                    <a:pt x="192" y="48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39944" name="Group 8">
            <a:extLst>
              <a:ext uri="{FF2B5EF4-FFF2-40B4-BE49-F238E27FC236}">
                <a16:creationId xmlns:a16="http://schemas.microsoft.com/office/drawing/2014/main" id="{A31E983A-128F-EEAD-DDC9-F93608B10E21}"/>
              </a:ext>
            </a:extLst>
          </p:cNvPr>
          <p:cNvGrpSpPr>
            <a:grpSpLocks/>
          </p:cNvGrpSpPr>
          <p:nvPr/>
        </p:nvGrpSpPr>
        <p:grpSpPr bwMode="auto">
          <a:xfrm>
            <a:off x="6210300" y="4800600"/>
            <a:ext cx="152400" cy="533400"/>
            <a:chOff x="1104" y="3264"/>
            <a:chExt cx="96" cy="336"/>
          </a:xfrm>
        </p:grpSpPr>
        <p:sp>
          <p:nvSpPr>
            <p:cNvPr id="40053" name="Line 9">
              <a:extLst>
                <a:ext uri="{FF2B5EF4-FFF2-40B4-BE49-F238E27FC236}">
                  <a16:creationId xmlns:a16="http://schemas.microsoft.com/office/drawing/2014/main" id="{D0F598EA-A093-C802-68C4-2E4641D8AD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3264"/>
              <a:ext cx="48" cy="4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0054" name="Line 10">
              <a:extLst>
                <a:ext uri="{FF2B5EF4-FFF2-40B4-BE49-F238E27FC236}">
                  <a16:creationId xmlns:a16="http://schemas.microsoft.com/office/drawing/2014/main" id="{CFC60CE6-5679-6240-FE31-CFCB1372CE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04" y="3312"/>
              <a:ext cx="96" cy="4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0055" name="Line 11">
              <a:extLst>
                <a:ext uri="{FF2B5EF4-FFF2-40B4-BE49-F238E27FC236}">
                  <a16:creationId xmlns:a16="http://schemas.microsoft.com/office/drawing/2014/main" id="{2CC2D2D0-6891-B95B-9358-4D2E1EAC6C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3360"/>
              <a:ext cx="96" cy="4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0056" name="Line 12">
              <a:extLst>
                <a:ext uri="{FF2B5EF4-FFF2-40B4-BE49-F238E27FC236}">
                  <a16:creationId xmlns:a16="http://schemas.microsoft.com/office/drawing/2014/main" id="{D918CCBC-2D60-B834-A290-3D288D2BB9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04" y="3408"/>
              <a:ext cx="96" cy="4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0057" name="Line 13">
              <a:extLst>
                <a:ext uri="{FF2B5EF4-FFF2-40B4-BE49-F238E27FC236}">
                  <a16:creationId xmlns:a16="http://schemas.microsoft.com/office/drawing/2014/main" id="{7F46EFB7-E4CD-31CE-CEB2-CDEAFEA268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3456"/>
              <a:ext cx="96" cy="4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0058" name="Line 14">
              <a:extLst>
                <a:ext uri="{FF2B5EF4-FFF2-40B4-BE49-F238E27FC236}">
                  <a16:creationId xmlns:a16="http://schemas.microsoft.com/office/drawing/2014/main" id="{CC8911EC-9AFC-2B98-0301-B1808AF87F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04" y="3504"/>
              <a:ext cx="96" cy="4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0059" name="Line 15">
              <a:extLst>
                <a:ext uri="{FF2B5EF4-FFF2-40B4-BE49-F238E27FC236}">
                  <a16:creationId xmlns:a16="http://schemas.microsoft.com/office/drawing/2014/main" id="{80831EE6-35C0-D4D2-8FE0-8847E33BA2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3552"/>
              <a:ext cx="48" cy="4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39945" name="Line 16">
            <a:extLst>
              <a:ext uri="{FF2B5EF4-FFF2-40B4-BE49-F238E27FC236}">
                <a16:creationId xmlns:a16="http://schemas.microsoft.com/office/drawing/2014/main" id="{A8E2B2D1-04BC-4D42-D9BF-2C56B60780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86500" y="4495800"/>
            <a:ext cx="0" cy="30480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9946" name="Line 17">
            <a:extLst>
              <a:ext uri="{FF2B5EF4-FFF2-40B4-BE49-F238E27FC236}">
                <a16:creationId xmlns:a16="http://schemas.microsoft.com/office/drawing/2014/main" id="{AF20119B-244B-C3A9-C6F3-1AA17AFA8947}"/>
              </a:ext>
            </a:extLst>
          </p:cNvPr>
          <p:cNvSpPr>
            <a:spLocks noChangeShapeType="1"/>
          </p:cNvSpPr>
          <p:nvPr/>
        </p:nvSpPr>
        <p:spPr bwMode="auto">
          <a:xfrm>
            <a:off x="6286500" y="5334000"/>
            <a:ext cx="0" cy="30480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39947" name="Group 18">
            <a:extLst>
              <a:ext uri="{FF2B5EF4-FFF2-40B4-BE49-F238E27FC236}">
                <a16:creationId xmlns:a16="http://schemas.microsoft.com/office/drawing/2014/main" id="{DA096387-4E7C-A729-D56D-9FED7567D4F9}"/>
              </a:ext>
            </a:extLst>
          </p:cNvPr>
          <p:cNvGrpSpPr>
            <a:grpSpLocks/>
          </p:cNvGrpSpPr>
          <p:nvPr/>
        </p:nvGrpSpPr>
        <p:grpSpPr bwMode="auto">
          <a:xfrm rot="2695030">
            <a:off x="3695700" y="4799013"/>
            <a:ext cx="1219200" cy="230187"/>
            <a:chOff x="912" y="3023"/>
            <a:chExt cx="768" cy="145"/>
          </a:xfrm>
        </p:grpSpPr>
        <p:sp>
          <p:nvSpPr>
            <p:cNvPr id="40050" name="Line 19">
              <a:extLst>
                <a:ext uri="{FF2B5EF4-FFF2-40B4-BE49-F238E27FC236}">
                  <a16:creationId xmlns:a16="http://schemas.microsoft.com/office/drawing/2014/main" id="{D914378F-CEF3-B3BE-30F4-E5D79E3D927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1296" y="2712"/>
              <a:ext cx="0" cy="76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0051" name="AutoShape 20">
              <a:extLst>
                <a:ext uri="{FF2B5EF4-FFF2-40B4-BE49-F238E27FC236}">
                  <a16:creationId xmlns:a16="http://schemas.microsoft.com/office/drawing/2014/main" id="{2DF2DABC-0E07-F3DE-D923-DE08401D921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1224" y="3048"/>
              <a:ext cx="144" cy="96"/>
            </a:xfrm>
            <a:prstGeom prst="triangle">
              <a:avLst>
                <a:gd name="adj" fmla="val 50000"/>
              </a:avLst>
            </a:prstGeom>
            <a:solidFill>
              <a:srgbClr val="000000"/>
            </a:solidFill>
            <a:ln w="317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0052" name="Line 21">
              <a:extLst>
                <a:ext uri="{FF2B5EF4-FFF2-40B4-BE49-F238E27FC236}">
                  <a16:creationId xmlns:a16="http://schemas.microsoft.com/office/drawing/2014/main" id="{971E46BF-6FEE-E63A-474B-AAE9F67099F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1271" y="3095"/>
              <a:ext cx="144" cy="0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39948" name="Group 22">
            <a:extLst>
              <a:ext uri="{FF2B5EF4-FFF2-40B4-BE49-F238E27FC236}">
                <a16:creationId xmlns:a16="http://schemas.microsoft.com/office/drawing/2014/main" id="{83C8C8EC-0A28-36D5-9DE5-3DFB303A56AA}"/>
              </a:ext>
            </a:extLst>
          </p:cNvPr>
          <p:cNvGrpSpPr>
            <a:grpSpLocks/>
          </p:cNvGrpSpPr>
          <p:nvPr/>
        </p:nvGrpSpPr>
        <p:grpSpPr bwMode="auto">
          <a:xfrm rot="18904970" flipV="1">
            <a:off x="3695700" y="3962400"/>
            <a:ext cx="1219200" cy="230188"/>
            <a:chOff x="912" y="3023"/>
            <a:chExt cx="768" cy="145"/>
          </a:xfrm>
        </p:grpSpPr>
        <p:sp>
          <p:nvSpPr>
            <p:cNvPr id="40047" name="Line 23">
              <a:extLst>
                <a:ext uri="{FF2B5EF4-FFF2-40B4-BE49-F238E27FC236}">
                  <a16:creationId xmlns:a16="http://schemas.microsoft.com/office/drawing/2014/main" id="{610B32F8-4ABF-B840-5985-F04D6E472F4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1296" y="2712"/>
              <a:ext cx="0" cy="76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0048" name="AutoShape 24">
              <a:extLst>
                <a:ext uri="{FF2B5EF4-FFF2-40B4-BE49-F238E27FC236}">
                  <a16:creationId xmlns:a16="http://schemas.microsoft.com/office/drawing/2014/main" id="{FD566309-C1C6-48F4-4D10-2D5F3C152DE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1224" y="3048"/>
              <a:ext cx="144" cy="96"/>
            </a:xfrm>
            <a:prstGeom prst="triangle">
              <a:avLst>
                <a:gd name="adj" fmla="val 50000"/>
              </a:avLst>
            </a:prstGeom>
            <a:solidFill>
              <a:srgbClr val="000000"/>
            </a:solidFill>
            <a:ln w="317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0049" name="Line 25">
              <a:extLst>
                <a:ext uri="{FF2B5EF4-FFF2-40B4-BE49-F238E27FC236}">
                  <a16:creationId xmlns:a16="http://schemas.microsoft.com/office/drawing/2014/main" id="{B59710B1-6B79-D0FB-D6F9-D9FEB6E9940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1271" y="3095"/>
              <a:ext cx="144" cy="0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39949" name="Group 26">
            <a:extLst>
              <a:ext uri="{FF2B5EF4-FFF2-40B4-BE49-F238E27FC236}">
                <a16:creationId xmlns:a16="http://schemas.microsoft.com/office/drawing/2014/main" id="{6995D242-8C0A-AF86-17CE-8F87D94DDC20}"/>
              </a:ext>
            </a:extLst>
          </p:cNvPr>
          <p:cNvGrpSpPr>
            <a:grpSpLocks/>
          </p:cNvGrpSpPr>
          <p:nvPr/>
        </p:nvGrpSpPr>
        <p:grpSpPr bwMode="auto">
          <a:xfrm rot="2695030">
            <a:off x="4533900" y="3962400"/>
            <a:ext cx="1219200" cy="230188"/>
            <a:chOff x="912" y="3023"/>
            <a:chExt cx="768" cy="145"/>
          </a:xfrm>
        </p:grpSpPr>
        <p:sp>
          <p:nvSpPr>
            <p:cNvPr id="40044" name="Line 27">
              <a:extLst>
                <a:ext uri="{FF2B5EF4-FFF2-40B4-BE49-F238E27FC236}">
                  <a16:creationId xmlns:a16="http://schemas.microsoft.com/office/drawing/2014/main" id="{2FD1B768-9BAD-983D-E846-96288824415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1296" y="2712"/>
              <a:ext cx="0" cy="76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0045" name="AutoShape 28">
              <a:extLst>
                <a:ext uri="{FF2B5EF4-FFF2-40B4-BE49-F238E27FC236}">
                  <a16:creationId xmlns:a16="http://schemas.microsoft.com/office/drawing/2014/main" id="{207110EA-2941-AA57-2EA8-609329AC7F5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1224" y="3048"/>
              <a:ext cx="144" cy="96"/>
            </a:xfrm>
            <a:prstGeom prst="triangle">
              <a:avLst>
                <a:gd name="adj" fmla="val 50000"/>
              </a:avLst>
            </a:prstGeom>
            <a:solidFill>
              <a:srgbClr val="000000"/>
            </a:solidFill>
            <a:ln w="317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0046" name="Line 29">
              <a:extLst>
                <a:ext uri="{FF2B5EF4-FFF2-40B4-BE49-F238E27FC236}">
                  <a16:creationId xmlns:a16="http://schemas.microsoft.com/office/drawing/2014/main" id="{4144D233-11B4-42E9-A4DE-03CBD2F2501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1271" y="3095"/>
              <a:ext cx="144" cy="0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39950" name="Group 30">
            <a:extLst>
              <a:ext uri="{FF2B5EF4-FFF2-40B4-BE49-F238E27FC236}">
                <a16:creationId xmlns:a16="http://schemas.microsoft.com/office/drawing/2014/main" id="{92E9A02B-9796-A1BC-6F62-47BB8F03D2AC}"/>
              </a:ext>
            </a:extLst>
          </p:cNvPr>
          <p:cNvGrpSpPr>
            <a:grpSpLocks/>
          </p:cNvGrpSpPr>
          <p:nvPr/>
        </p:nvGrpSpPr>
        <p:grpSpPr bwMode="auto">
          <a:xfrm rot="18904970" flipV="1">
            <a:off x="4533900" y="4799013"/>
            <a:ext cx="1219200" cy="230187"/>
            <a:chOff x="912" y="3023"/>
            <a:chExt cx="768" cy="145"/>
          </a:xfrm>
        </p:grpSpPr>
        <p:sp>
          <p:nvSpPr>
            <p:cNvPr id="40041" name="Line 31">
              <a:extLst>
                <a:ext uri="{FF2B5EF4-FFF2-40B4-BE49-F238E27FC236}">
                  <a16:creationId xmlns:a16="http://schemas.microsoft.com/office/drawing/2014/main" id="{41CCD45A-9774-8A27-560C-F1E2BE14D7C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1296" y="2712"/>
              <a:ext cx="0" cy="76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0042" name="AutoShape 32">
              <a:extLst>
                <a:ext uri="{FF2B5EF4-FFF2-40B4-BE49-F238E27FC236}">
                  <a16:creationId xmlns:a16="http://schemas.microsoft.com/office/drawing/2014/main" id="{E7AD294C-013D-A414-026D-8F5CC4BE28F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1224" y="3048"/>
              <a:ext cx="144" cy="96"/>
            </a:xfrm>
            <a:prstGeom prst="triangle">
              <a:avLst>
                <a:gd name="adj" fmla="val 50000"/>
              </a:avLst>
            </a:prstGeom>
            <a:solidFill>
              <a:srgbClr val="000000"/>
            </a:solidFill>
            <a:ln w="317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0043" name="Line 33">
              <a:extLst>
                <a:ext uri="{FF2B5EF4-FFF2-40B4-BE49-F238E27FC236}">
                  <a16:creationId xmlns:a16="http://schemas.microsoft.com/office/drawing/2014/main" id="{02BDD22B-AA07-6F93-9D33-73C0F07D914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1271" y="3095"/>
              <a:ext cx="144" cy="0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39951" name="Oval 34">
            <a:extLst>
              <a:ext uri="{FF2B5EF4-FFF2-40B4-BE49-F238E27FC236}">
                <a16:creationId xmlns:a16="http://schemas.microsoft.com/office/drawing/2014/main" id="{BE09B4C4-931B-9DD0-5E1B-A5A67DE05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6300" y="3627438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39952" name="Oval 35">
            <a:extLst>
              <a:ext uri="{FF2B5EF4-FFF2-40B4-BE49-F238E27FC236}">
                <a16:creationId xmlns:a16="http://schemas.microsoft.com/office/drawing/2014/main" id="{B3EFF7BE-1952-6176-A564-018EFEBA0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6300" y="5283200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39953" name="Oval 36">
            <a:extLst>
              <a:ext uri="{FF2B5EF4-FFF2-40B4-BE49-F238E27FC236}">
                <a16:creationId xmlns:a16="http://schemas.microsoft.com/office/drawing/2014/main" id="{8048BD58-4531-6CC6-3583-3F01ED926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8100" y="4451350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39954" name="Oval 37">
            <a:extLst>
              <a:ext uri="{FF2B5EF4-FFF2-40B4-BE49-F238E27FC236}">
                <a16:creationId xmlns:a16="http://schemas.microsoft.com/office/drawing/2014/main" id="{54319957-8D4A-179D-00CD-12A7FA72B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4500" y="4451350"/>
            <a:ext cx="76200" cy="762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39955" name="Line 44">
            <a:extLst>
              <a:ext uri="{FF2B5EF4-FFF2-40B4-BE49-F238E27FC236}">
                <a16:creationId xmlns:a16="http://schemas.microsoft.com/office/drawing/2014/main" id="{1931F62A-234A-DBBC-8DA8-EDC1E6DFAA7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19500" y="4495800"/>
            <a:ext cx="228600" cy="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9956" name="Line 45">
            <a:extLst>
              <a:ext uri="{FF2B5EF4-FFF2-40B4-BE49-F238E27FC236}">
                <a16:creationId xmlns:a16="http://schemas.microsoft.com/office/drawing/2014/main" id="{0656BD3E-F698-D2A6-F042-3A8903D6045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9500" y="4495800"/>
            <a:ext cx="0" cy="76200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9957" name="Line 47">
            <a:extLst>
              <a:ext uri="{FF2B5EF4-FFF2-40B4-BE49-F238E27FC236}">
                <a16:creationId xmlns:a16="http://schemas.microsoft.com/office/drawing/2014/main" id="{6648FFF0-D1C4-D289-A904-57DE6B1900F5}"/>
              </a:ext>
            </a:extLst>
          </p:cNvPr>
          <p:cNvSpPr>
            <a:spLocks noChangeShapeType="1"/>
          </p:cNvSpPr>
          <p:nvPr/>
        </p:nvSpPr>
        <p:spPr bwMode="auto">
          <a:xfrm>
            <a:off x="5600700" y="4495800"/>
            <a:ext cx="685800" cy="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9958" name="Text Box 48">
            <a:extLst>
              <a:ext uri="{FF2B5EF4-FFF2-40B4-BE49-F238E27FC236}">
                <a16:creationId xmlns:a16="http://schemas.microsoft.com/office/drawing/2014/main" id="{CEC1FA7C-3CBB-B099-7300-FCE4058A3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0325" y="3671888"/>
            <a:ext cx="336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000000"/>
                </a:solidFill>
              </a:rPr>
              <a:t>A</a:t>
            </a:r>
            <a:endParaRPr lang="en-US" altLang="en-US" sz="1800"/>
          </a:p>
        </p:txBody>
      </p:sp>
      <p:sp>
        <p:nvSpPr>
          <p:cNvPr id="39959" name="Text Box 49">
            <a:extLst>
              <a:ext uri="{FF2B5EF4-FFF2-40B4-BE49-F238E27FC236}">
                <a16:creationId xmlns:a16="http://schemas.microsoft.com/office/drawing/2014/main" id="{9D353D1D-8B83-CDD4-97A1-E2D9506724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9850" y="4876800"/>
            <a:ext cx="34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000000"/>
                </a:solidFill>
              </a:rPr>
              <a:t>C</a:t>
            </a:r>
            <a:endParaRPr lang="en-US" altLang="en-US" sz="1800"/>
          </a:p>
        </p:txBody>
      </p:sp>
      <p:sp>
        <p:nvSpPr>
          <p:cNvPr id="39960" name="Text Box 50">
            <a:extLst>
              <a:ext uri="{FF2B5EF4-FFF2-40B4-BE49-F238E27FC236}">
                <a16:creationId xmlns:a16="http://schemas.microsoft.com/office/drawing/2014/main" id="{7183AD92-6215-AC3B-0F26-C3CB11108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6050" y="3671888"/>
            <a:ext cx="336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000000"/>
                </a:solidFill>
              </a:rPr>
              <a:t>B</a:t>
            </a:r>
            <a:endParaRPr lang="en-US" altLang="en-US" sz="1800"/>
          </a:p>
        </p:txBody>
      </p:sp>
      <p:sp>
        <p:nvSpPr>
          <p:cNvPr id="39961" name="Text Box 51">
            <a:extLst>
              <a:ext uri="{FF2B5EF4-FFF2-40B4-BE49-F238E27FC236}">
                <a16:creationId xmlns:a16="http://schemas.microsoft.com/office/drawing/2014/main" id="{0C7A7394-7D75-2C21-B772-F1585AC787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700" y="4953000"/>
            <a:ext cx="34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000000"/>
                </a:solidFill>
              </a:rPr>
              <a:t>D</a:t>
            </a:r>
            <a:endParaRPr lang="en-US" altLang="en-US" sz="1800"/>
          </a:p>
        </p:txBody>
      </p:sp>
      <p:sp>
        <p:nvSpPr>
          <p:cNvPr id="39962" name="Text Box 52">
            <a:extLst>
              <a:ext uri="{FF2B5EF4-FFF2-40B4-BE49-F238E27FC236}">
                <a16:creationId xmlns:a16="http://schemas.microsoft.com/office/drawing/2014/main" id="{EDC42F9C-5D6A-D8BB-3909-7D163484A6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429000"/>
            <a:ext cx="1250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solidFill>
                  <a:schemeClr val="accent2"/>
                </a:solidFill>
              </a:rPr>
              <a:t>AC source</a:t>
            </a:r>
          </a:p>
        </p:txBody>
      </p:sp>
      <p:sp>
        <p:nvSpPr>
          <p:cNvPr id="39963" name="Text Box 53">
            <a:extLst>
              <a:ext uri="{FF2B5EF4-FFF2-40B4-BE49-F238E27FC236}">
                <a16:creationId xmlns:a16="http://schemas.microsoft.com/office/drawing/2014/main" id="{DC85395F-801C-EB9B-F60E-037BEFFBB1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4450" y="4800600"/>
            <a:ext cx="812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solidFill>
                  <a:schemeClr val="accent2"/>
                </a:solidFill>
              </a:rPr>
              <a:t>+ load</a:t>
            </a:r>
          </a:p>
        </p:txBody>
      </p:sp>
      <p:grpSp>
        <p:nvGrpSpPr>
          <p:cNvPr id="39964" name="Group 55">
            <a:extLst>
              <a:ext uri="{FF2B5EF4-FFF2-40B4-BE49-F238E27FC236}">
                <a16:creationId xmlns:a16="http://schemas.microsoft.com/office/drawing/2014/main" id="{DCF6F56F-04D7-B9E1-82D9-EC7682C614ED}"/>
              </a:ext>
            </a:extLst>
          </p:cNvPr>
          <p:cNvGrpSpPr>
            <a:grpSpLocks/>
          </p:cNvGrpSpPr>
          <p:nvPr/>
        </p:nvGrpSpPr>
        <p:grpSpPr bwMode="auto">
          <a:xfrm>
            <a:off x="995363" y="3802063"/>
            <a:ext cx="1676400" cy="1219200"/>
            <a:chOff x="3264" y="2496"/>
            <a:chExt cx="1056" cy="768"/>
          </a:xfrm>
        </p:grpSpPr>
        <p:grpSp>
          <p:nvGrpSpPr>
            <p:cNvPr id="40012" name="Group 56">
              <a:extLst>
                <a:ext uri="{FF2B5EF4-FFF2-40B4-BE49-F238E27FC236}">
                  <a16:creationId xmlns:a16="http://schemas.microsoft.com/office/drawing/2014/main" id="{7554FC29-953B-85AF-15D3-A2F9B8AEDE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0" y="2496"/>
              <a:ext cx="96" cy="192"/>
              <a:chOff x="3840" y="2496"/>
              <a:chExt cx="96" cy="192"/>
            </a:xfrm>
          </p:grpSpPr>
          <p:sp>
            <p:nvSpPr>
              <p:cNvPr id="40039" name="Arc 57">
                <a:extLst>
                  <a:ext uri="{FF2B5EF4-FFF2-40B4-BE49-F238E27FC236}">
                    <a16:creationId xmlns:a16="http://schemas.microsoft.com/office/drawing/2014/main" id="{A0953899-F9D2-F6E7-BA2D-1EFBA7A0CC68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840" y="2496"/>
                <a:ext cx="96" cy="9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0" y="-1"/>
                    </a:moveTo>
                    <a:cubicBezTo>
                      <a:pt x="11929" y="-1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-1"/>
                    </a:moveTo>
                    <a:cubicBezTo>
                      <a:pt x="11929" y="-1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0040" name="Arc 58">
                <a:extLst>
                  <a:ext uri="{FF2B5EF4-FFF2-40B4-BE49-F238E27FC236}">
                    <a16:creationId xmlns:a16="http://schemas.microsoft.com/office/drawing/2014/main" id="{8AAAA5B1-F7D3-FEBC-8B97-BDB96347D9B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3840" y="2592"/>
                <a:ext cx="96" cy="9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0" y="-1"/>
                    </a:moveTo>
                    <a:cubicBezTo>
                      <a:pt x="11929" y="-1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-1"/>
                    </a:moveTo>
                    <a:cubicBezTo>
                      <a:pt x="11929" y="-1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40013" name="Group 59">
              <a:extLst>
                <a:ext uri="{FF2B5EF4-FFF2-40B4-BE49-F238E27FC236}">
                  <a16:creationId xmlns:a16="http://schemas.microsoft.com/office/drawing/2014/main" id="{5B537048-1F48-74C9-CB18-9CD9A6F5E0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0" y="2688"/>
              <a:ext cx="96" cy="192"/>
              <a:chOff x="3840" y="2496"/>
              <a:chExt cx="96" cy="192"/>
            </a:xfrm>
          </p:grpSpPr>
          <p:sp>
            <p:nvSpPr>
              <p:cNvPr id="40037" name="Arc 60">
                <a:extLst>
                  <a:ext uri="{FF2B5EF4-FFF2-40B4-BE49-F238E27FC236}">
                    <a16:creationId xmlns:a16="http://schemas.microsoft.com/office/drawing/2014/main" id="{6579CCA0-173C-0E01-D69B-A60122AEDED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840" y="2496"/>
                <a:ext cx="96" cy="9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0" y="-1"/>
                    </a:moveTo>
                    <a:cubicBezTo>
                      <a:pt x="11929" y="-1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-1"/>
                    </a:moveTo>
                    <a:cubicBezTo>
                      <a:pt x="11929" y="-1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0038" name="Arc 61">
                <a:extLst>
                  <a:ext uri="{FF2B5EF4-FFF2-40B4-BE49-F238E27FC236}">
                    <a16:creationId xmlns:a16="http://schemas.microsoft.com/office/drawing/2014/main" id="{420C0AEA-4886-A699-6ED2-7F6F83CD776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3840" y="2592"/>
                <a:ext cx="96" cy="9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0" y="-1"/>
                    </a:moveTo>
                    <a:cubicBezTo>
                      <a:pt x="11929" y="-1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-1"/>
                    </a:moveTo>
                    <a:cubicBezTo>
                      <a:pt x="11929" y="-1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40014" name="Group 62">
              <a:extLst>
                <a:ext uri="{FF2B5EF4-FFF2-40B4-BE49-F238E27FC236}">
                  <a16:creationId xmlns:a16="http://schemas.microsoft.com/office/drawing/2014/main" id="{4048387A-596E-2ED6-058B-A0124E1756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0" y="2880"/>
              <a:ext cx="96" cy="192"/>
              <a:chOff x="3840" y="2496"/>
              <a:chExt cx="96" cy="192"/>
            </a:xfrm>
          </p:grpSpPr>
          <p:sp>
            <p:nvSpPr>
              <p:cNvPr id="40035" name="Arc 63">
                <a:extLst>
                  <a:ext uri="{FF2B5EF4-FFF2-40B4-BE49-F238E27FC236}">
                    <a16:creationId xmlns:a16="http://schemas.microsoft.com/office/drawing/2014/main" id="{E09D7670-7C9E-EEB7-D1A7-76DA3FC161C8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840" y="2496"/>
                <a:ext cx="96" cy="9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0" y="-1"/>
                    </a:moveTo>
                    <a:cubicBezTo>
                      <a:pt x="11929" y="-1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-1"/>
                    </a:moveTo>
                    <a:cubicBezTo>
                      <a:pt x="11929" y="-1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0036" name="Arc 64">
                <a:extLst>
                  <a:ext uri="{FF2B5EF4-FFF2-40B4-BE49-F238E27FC236}">
                    <a16:creationId xmlns:a16="http://schemas.microsoft.com/office/drawing/2014/main" id="{0C28EE84-F230-7DE0-0A6C-CFB66323ED3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3840" y="2592"/>
                <a:ext cx="96" cy="9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0" y="-1"/>
                    </a:moveTo>
                    <a:cubicBezTo>
                      <a:pt x="11929" y="-1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-1"/>
                    </a:moveTo>
                    <a:cubicBezTo>
                      <a:pt x="11929" y="-1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40015" name="Group 65">
              <a:extLst>
                <a:ext uri="{FF2B5EF4-FFF2-40B4-BE49-F238E27FC236}">
                  <a16:creationId xmlns:a16="http://schemas.microsoft.com/office/drawing/2014/main" id="{9192AF20-70E0-3569-20A3-A76989A96C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0" y="3072"/>
              <a:ext cx="96" cy="192"/>
              <a:chOff x="3840" y="2496"/>
              <a:chExt cx="96" cy="192"/>
            </a:xfrm>
          </p:grpSpPr>
          <p:sp>
            <p:nvSpPr>
              <p:cNvPr id="40033" name="Arc 66">
                <a:extLst>
                  <a:ext uri="{FF2B5EF4-FFF2-40B4-BE49-F238E27FC236}">
                    <a16:creationId xmlns:a16="http://schemas.microsoft.com/office/drawing/2014/main" id="{A9458D0F-5BB4-67D7-6B49-1ACF9D26238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840" y="2496"/>
                <a:ext cx="96" cy="9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0" y="-1"/>
                    </a:moveTo>
                    <a:cubicBezTo>
                      <a:pt x="11929" y="-1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-1"/>
                    </a:moveTo>
                    <a:cubicBezTo>
                      <a:pt x="11929" y="-1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0034" name="Arc 67">
                <a:extLst>
                  <a:ext uri="{FF2B5EF4-FFF2-40B4-BE49-F238E27FC236}">
                    <a16:creationId xmlns:a16="http://schemas.microsoft.com/office/drawing/2014/main" id="{553FA1A4-3DD5-FABC-62F8-02E85B46337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3840" y="2592"/>
                <a:ext cx="96" cy="9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0" y="-1"/>
                    </a:moveTo>
                    <a:cubicBezTo>
                      <a:pt x="11929" y="-1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-1"/>
                    </a:moveTo>
                    <a:cubicBezTo>
                      <a:pt x="11929" y="-1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40016" name="Group 68">
              <a:extLst>
                <a:ext uri="{FF2B5EF4-FFF2-40B4-BE49-F238E27FC236}">
                  <a16:creationId xmlns:a16="http://schemas.microsoft.com/office/drawing/2014/main" id="{4A6EF251-E9BE-D617-E41B-66101EF04687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3648" y="3072"/>
              <a:ext cx="96" cy="192"/>
              <a:chOff x="3840" y="2496"/>
              <a:chExt cx="96" cy="192"/>
            </a:xfrm>
          </p:grpSpPr>
          <p:sp>
            <p:nvSpPr>
              <p:cNvPr id="40031" name="Arc 69">
                <a:extLst>
                  <a:ext uri="{FF2B5EF4-FFF2-40B4-BE49-F238E27FC236}">
                    <a16:creationId xmlns:a16="http://schemas.microsoft.com/office/drawing/2014/main" id="{C0FB841F-BF00-4BCB-90FB-4E0F06A04FF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840" y="2496"/>
                <a:ext cx="96" cy="9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0" y="-1"/>
                    </a:moveTo>
                    <a:cubicBezTo>
                      <a:pt x="11929" y="-1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-1"/>
                    </a:moveTo>
                    <a:cubicBezTo>
                      <a:pt x="11929" y="-1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0032" name="Arc 70">
                <a:extLst>
                  <a:ext uri="{FF2B5EF4-FFF2-40B4-BE49-F238E27FC236}">
                    <a16:creationId xmlns:a16="http://schemas.microsoft.com/office/drawing/2014/main" id="{3C4967E5-9784-845C-9A66-30EBF8AECA4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3840" y="2592"/>
                <a:ext cx="96" cy="9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0" y="-1"/>
                    </a:moveTo>
                    <a:cubicBezTo>
                      <a:pt x="11929" y="-1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-1"/>
                    </a:moveTo>
                    <a:cubicBezTo>
                      <a:pt x="11929" y="-1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40017" name="Group 71">
              <a:extLst>
                <a:ext uri="{FF2B5EF4-FFF2-40B4-BE49-F238E27FC236}">
                  <a16:creationId xmlns:a16="http://schemas.microsoft.com/office/drawing/2014/main" id="{4DDD134A-8EB1-3492-D4B6-B14337AF62ED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3648" y="2496"/>
              <a:ext cx="96" cy="192"/>
              <a:chOff x="3840" y="2496"/>
              <a:chExt cx="96" cy="192"/>
            </a:xfrm>
          </p:grpSpPr>
          <p:sp>
            <p:nvSpPr>
              <p:cNvPr id="40029" name="Arc 72">
                <a:extLst>
                  <a:ext uri="{FF2B5EF4-FFF2-40B4-BE49-F238E27FC236}">
                    <a16:creationId xmlns:a16="http://schemas.microsoft.com/office/drawing/2014/main" id="{5AD8C3BE-CBBB-858A-9857-DB4B9539818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840" y="2496"/>
                <a:ext cx="96" cy="9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0" y="-1"/>
                    </a:moveTo>
                    <a:cubicBezTo>
                      <a:pt x="11929" y="-1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-1"/>
                    </a:moveTo>
                    <a:cubicBezTo>
                      <a:pt x="11929" y="-1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0030" name="Arc 73">
                <a:extLst>
                  <a:ext uri="{FF2B5EF4-FFF2-40B4-BE49-F238E27FC236}">
                    <a16:creationId xmlns:a16="http://schemas.microsoft.com/office/drawing/2014/main" id="{0B2286D4-38E1-0A8F-A816-A1E855F5819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3840" y="2592"/>
                <a:ext cx="96" cy="9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0" y="-1"/>
                    </a:moveTo>
                    <a:cubicBezTo>
                      <a:pt x="11929" y="-1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-1"/>
                    </a:moveTo>
                    <a:cubicBezTo>
                      <a:pt x="11929" y="-1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40018" name="Group 74">
              <a:extLst>
                <a:ext uri="{FF2B5EF4-FFF2-40B4-BE49-F238E27FC236}">
                  <a16:creationId xmlns:a16="http://schemas.microsoft.com/office/drawing/2014/main" id="{050ED298-8FB6-216B-B5C9-E40F42ACAC92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3648" y="2688"/>
              <a:ext cx="96" cy="192"/>
              <a:chOff x="3840" y="2496"/>
              <a:chExt cx="96" cy="192"/>
            </a:xfrm>
          </p:grpSpPr>
          <p:sp>
            <p:nvSpPr>
              <p:cNvPr id="40027" name="Arc 75">
                <a:extLst>
                  <a:ext uri="{FF2B5EF4-FFF2-40B4-BE49-F238E27FC236}">
                    <a16:creationId xmlns:a16="http://schemas.microsoft.com/office/drawing/2014/main" id="{80EF0AAB-FCEA-2B15-3AFF-A54DE61F351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840" y="2496"/>
                <a:ext cx="96" cy="9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0" y="-1"/>
                    </a:moveTo>
                    <a:cubicBezTo>
                      <a:pt x="11929" y="-1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-1"/>
                    </a:moveTo>
                    <a:cubicBezTo>
                      <a:pt x="11929" y="-1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0028" name="Arc 76">
                <a:extLst>
                  <a:ext uri="{FF2B5EF4-FFF2-40B4-BE49-F238E27FC236}">
                    <a16:creationId xmlns:a16="http://schemas.microsoft.com/office/drawing/2014/main" id="{B9ECEEEC-C6B1-BBDE-E118-DA89BA181EC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3840" y="2592"/>
                <a:ext cx="96" cy="9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0" y="-1"/>
                    </a:moveTo>
                    <a:cubicBezTo>
                      <a:pt x="11929" y="-1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-1"/>
                    </a:moveTo>
                    <a:cubicBezTo>
                      <a:pt x="11929" y="-1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40019" name="Group 77">
              <a:extLst>
                <a:ext uri="{FF2B5EF4-FFF2-40B4-BE49-F238E27FC236}">
                  <a16:creationId xmlns:a16="http://schemas.microsoft.com/office/drawing/2014/main" id="{F391C3F2-820B-E511-8AE0-345F1BA93AAA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3648" y="2880"/>
              <a:ext cx="96" cy="192"/>
              <a:chOff x="3840" y="2496"/>
              <a:chExt cx="96" cy="192"/>
            </a:xfrm>
          </p:grpSpPr>
          <p:sp>
            <p:nvSpPr>
              <p:cNvPr id="40025" name="Arc 78">
                <a:extLst>
                  <a:ext uri="{FF2B5EF4-FFF2-40B4-BE49-F238E27FC236}">
                    <a16:creationId xmlns:a16="http://schemas.microsoft.com/office/drawing/2014/main" id="{E373CE13-923C-5FB2-6739-CFA80368BCC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840" y="2496"/>
                <a:ext cx="96" cy="9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0" y="-1"/>
                    </a:moveTo>
                    <a:cubicBezTo>
                      <a:pt x="11929" y="-1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-1"/>
                    </a:moveTo>
                    <a:cubicBezTo>
                      <a:pt x="11929" y="-1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0026" name="Arc 79">
                <a:extLst>
                  <a:ext uri="{FF2B5EF4-FFF2-40B4-BE49-F238E27FC236}">
                    <a16:creationId xmlns:a16="http://schemas.microsoft.com/office/drawing/2014/main" id="{36A3FB5F-A7A3-D6F4-9CB2-16B1CA085DE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3840" y="2592"/>
                <a:ext cx="96" cy="9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0" y="-1"/>
                    </a:moveTo>
                    <a:cubicBezTo>
                      <a:pt x="11929" y="-1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-1"/>
                    </a:moveTo>
                    <a:cubicBezTo>
                      <a:pt x="11929" y="-1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40020" name="Line 80">
              <a:extLst>
                <a:ext uri="{FF2B5EF4-FFF2-40B4-BE49-F238E27FC236}">
                  <a16:creationId xmlns:a16="http://schemas.microsoft.com/office/drawing/2014/main" id="{D0E7727B-D7FE-222B-D8E1-FD7AFAC398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64" y="2496"/>
              <a:ext cx="38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0021" name="Line 81">
              <a:extLst>
                <a:ext uri="{FF2B5EF4-FFF2-40B4-BE49-F238E27FC236}">
                  <a16:creationId xmlns:a16="http://schemas.microsoft.com/office/drawing/2014/main" id="{D2717492-B4B6-3D79-8696-523DE61451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64" y="3264"/>
              <a:ext cx="38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0022" name="Line 82">
              <a:extLst>
                <a:ext uri="{FF2B5EF4-FFF2-40B4-BE49-F238E27FC236}">
                  <a16:creationId xmlns:a16="http://schemas.microsoft.com/office/drawing/2014/main" id="{6A282281-8C56-C8BE-761C-B6BDC357EA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36" y="3264"/>
              <a:ext cx="38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0023" name="Line 83">
              <a:extLst>
                <a:ext uri="{FF2B5EF4-FFF2-40B4-BE49-F238E27FC236}">
                  <a16:creationId xmlns:a16="http://schemas.microsoft.com/office/drawing/2014/main" id="{2F512FD4-73DF-EE03-EE68-C1DBE063C7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36" y="2880"/>
              <a:ext cx="38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0024" name="Line 84">
              <a:extLst>
                <a:ext uri="{FF2B5EF4-FFF2-40B4-BE49-F238E27FC236}">
                  <a16:creationId xmlns:a16="http://schemas.microsoft.com/office/drawing/2014/main" id="{0F5ADE67-5B5D-C119-5704-B2E27BB8B9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36" y="2496"/>
              <a:ext cx="38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39965" name="Line 90">
            <a:extLst>
              <a:ext uri="{FF2B5EF4-FFF2-40B4-BE49-F238E27FC236}">
                <a16:creationId xmlns:a16="http://schemas.microsoft.com/office/drawing/2014/main" id="{3EBF5760-B790-B9F9-263E-64309FA84E3C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3810000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9966" name="Line 91">
            <a:extLst>
              <a:ext uri="{FF2B5EF4-FFF2-40B4-BE49-F238E27FC236}">
                <a16:creationId xmlns:a16="http://schemas.microsoft.com/office/drawing/2014/main" id="{BF2310AA-1154-0F3E-455F-9A683EC2EA8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90600" y="4572000"/>
            <a:ext cx="0" cy="457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39967" name="Group 92">
            <a:extLst>
              <a:ext uri="{FF2B5EF4-FFF2-40B4-BE49-F238E27FC236}">
                <a16:creationId xmlns:a16="http://schemas.microsoft.com/office/drawing/2014/main" id="{3B7F0EA7-96A0-9548-A22F-AAD6FEA4E43A}"/>
              </a:ext>
            </a:extLst>
          </p:cNvPr>
          <p:cNvGrpSpPr>
            <a:grpSpLocks/>
          </p:cNvGrpSpPr>
          <p:nvPr/>
        </p:nvGrpSpPr>
        <p:grpSpPr bwMode="auto">
          <a:xfrm>
            <a:off x="2514600" y="4419600"/>
            <a:ext cx="304800" cy="304800"/>
            <a:chOff x="4032" y="1968"/>
            <a:chExt cx="192" cy="192"/>
          </a:xfrm>
        </p:grpSpPr>
        <p:sp>
          <p:nvSpPr>
            <p:cNvPr id="40008" name="Line 93">
              <a:extLst>
                <a:ext uri="{FF2B5EF4-FFF2-40B4-BE49-F238E27FC236}">
                  <a16:creationId xmlns:a16="http://schemas.microsoft.com/office/drawing/2014/main" id="{0AE5AA24-51EE-D494-9CD9-C200C90EC3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1968"/>
              <a:ext cx="0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0009" name="Line 94">
              <a:extLst>
                <a:ext uri="{FF2B5EF4-FFF2-40B4-BE49-F238E27FC236}">
                  <a16:creationId xmlns:a16="http://schemas.microsoft.com/office/drawing/2014/main" id="{EDFA44C0-DA21-D1C6-0244-19CB0CB6B0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7" y="2160"/>
              <a:ext cx="2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0010" name="Line 95">
              <a:extLst>
                <a:ext uri="{FF2B5EF4-FFF2-40B4-BE49-F238E27FC236}">
                  <a16:creationId xmlns:a16="http://schemas.microsoft.com/office/drawing/2014/main" id="{D488383C-3FEC-5512-E9CC-5B9BEAE17B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2112"/>
              <a:ext cx="9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0011" name="Line 96">
              <a:extLst>
                <a:ext uri="{FF2B5EF4-FFF2-40B4-BE49-F238E27FC236}">
                  <a16:creationId xmlns:a16="http://schemas.microsoft.com/office/drawing/2014/main" id="{622DB055-9F2B-4EAD-229C-1CE8A23B25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2064"/>
              <a:ext cx="19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39968" name="Line 97">
            <a:extLst>
              <a:ext uri="{FF2B5EF4-FFF2-40B4-BE49-F238E27FC236}">
                <a16:creationId xmlns:a16="http://schemas.microsoft.com/office/drawing/2014/main" id="{5A4E3DD0-64D8-8EB1-893C-FBB5326F3F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67000" y="3636963"/>
            <a:ext cx="2057400" cy="152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9969" name="Line 98">
            <a:extLst>
              <a:ext uri="{FF2B5EF4-FFF2-40B4-BE49-F238E27FC236}">
                <a16:creationId xmlns:a16="http://schemas.microsoft.com/office/drawing/2014/main" id="{916DA8FD-7220-7D1D-D4FA-2B3D0BFEB1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5029200"/>
            <a:ext cx="2057400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39970" name="Group 112">
            <a:extLst>
              <a:ext uri="{FF2B5EF4-FFF2-40B4-BE49-F238E27FC236}">
                <a16:creationId xmlns:a16="http://schemas.microsoft.com/office/drawing/2014/main" id="{9B6303EA-5996-C159-BD8E-1261F7BACE10}"/>
              </a:ext>
            </a:extLst>
          </p:cNvPr>
          <p:cNvGrpSpPr>
            <a:grpSpLocks/>
          </p:cNvGrpSpPr>
          <p:nvPr/>
        </p:nvGrpSpPr>
        <p:grpSpPr bwMode="auto">
          <a:xfrm>
            <a:off x="3473450" y="5257800"/>
            <a:ext cx="304800" cy="838200"/>
            <a:chOff x="2160" y="3312"/>
            <a:chExt cx="192" cy="528"/>
          </a:xfrm>
        </p:grpSpPr>
        <p:grpSp>
          <p:nvGrpSpPr>
            <p:cNvPr id="39995" name="Group 99">
              <a:extLst>
                <a:ext uri="{FF2B5EF4-FFF2-40B4-BE49-F238E27FC236}">
                  <a16:creationId xmlns:a16="http://schemas.microsoft.com/office/drawing/2014/main" id="{20B6902D-1839-E975-351E-2D9AA0D786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3312"/>
              <a:ext cx="96" cy="336"/>
              <a:chOff x="1104" y="3264"/>
              <a:chExt cx="96" cy="336"/>
            </a:xfrm>
          </p:grpSpPr>
          <p:sp>
            <p:nvSpPr>
              <p:cNvPr id="40001" name="Line 100">
                <a:extLst>
                  <a:ext uri="{FF2B5EF4-FFF2-40B4-BE49-F238E27FC236}">
                    <a16:creationId xmlns:a16="http://schemas.microsoft.com/office/drawing/2014/main" id="{DF1AA3B5-8E58-55B6-8256-F4E0152356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3264"/>
                <a:ext cx="48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0002" name="Line 101">
                <a:extLst>
                  <a:ext uri="{FF2B5EF4-FFF2-40B4-BE49-F238E27FC236}">
                    <a16:creationId xmlns:a16="http://schemas.microsoft.com/office/drawing/2014/main" id="{634060A6-C030-3365-3C3E-B17D189B91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04" y="3312"/>
                <a:ext cx="96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0003" name="Line 102">
                <a:extLst>
                  <a:ext uri="{FF2B5EF4-FFF2-40B4-BE49-F238E27FC236}">
                    <a16:creationId xmlns:a16="http://schemas.microsoft.com/office/drawing/2014/main" id="{A2355632-DD41-DCDE-2353-C74E293671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360"/>
                <a:ext cx="96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0004" name="Line 103">
                <a:extLst>
                  <a:ext uri="{FF2B5EF4-FFF2-40B4-BE49-F238E27FC236}">
                    <a16:creationId xmlns:a16="http://schemas.microsoft.com/office/drawing/2014/main" id="{B6A68A67-A63B-DE6F-9026-A850CCFB82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04" y="3408"/>
                <a:ext cx="96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0005" name="Line 104">
                <a:extLst>
                  <a:ext uri="{FF2B5EF4-FFF2-40B4-BE49-F238E27FC236}">
                    <a16:creationId xmlns:a16="http://schemas.microsoft.com/office/drawing/2014/main" id="{42D1C9CD-348E-EC6A-02EB-EF4C71FAB2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456"/>
                <a:ext cx="96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0006" name="Line 105">
                <a:extLst>
                  <a:ext uri="{FF2B5EF4-FFF2-40B4-BE49-F238E27FC236}">
                    <a16:creationId xmlns:a16="http://schemas.microsoft.com/office/drawing/2014/main" id="{BEFF1269-9EE7-266A-E057-5BE9BC8CE7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04" y="3504"/>
                <a:ext cx="96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0007" name="Line 106">
                <a:extLst>
                  <a:ext uri="{FF2B5EF4-FFF2-40B4-BE49-F238E27FC236}">
                    <a16:creationId xmlns:a16="http://schemas.microsoft.com/office/drawing/2014/main" id="{B46F0328-D64F-F349-7A5C-5E75C04BCB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552"/>
                <a:ext cx="48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39996" name="Group 107">
              <a:extLst>
                <a:ext uri="{FF2B5EF4-FFF2-40B4-BE49-F238E27FC236}">
                  <a16:creationId xmlns:a16="http://schemas.microsoft.com/office/drawing/2014/main" id="{C2429628-1783-FD15-1283-8D6583CEDB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0" y="3648"/>
              <a:ext cx="192" cy="192"/>
              <a:chOff x="4032" y="1968"/>
              <a:chExt cx="192" cy="192"/>
            </a:xfrm>
          </p:grpSpPr>
          <p:sp>
            <p:nvSpPr>
              <p:cNvPr id="39997" name="Line 108">
                <a:extLst>
                  <a:ext uri="{FF2B5EF4-FFF2-40B4-BE49-F238E27FC236}">
                    <a16:creationId xmlns:a16="http://schemas.microsoft.com/office/drawing/2014/main" id="{5E32A1C1-3C20-A53F-BC8C-1656162C2C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8" y="1968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9998" name="Line 109">
                <a:extLst>
                  <a:ext uri="{FF2B5EF4-FFF2-40B4-BE49-F238E27FC236}">
                    <a16:creationId xmlns:a16="http://schemas.microsoft.com/office/drawing/2014/main" id="{1539E587-94AB-6845-2F03-93AA53FBF2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7" y="2160"/>
                <a:ext cx="2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39999" name="Line 110">
                <a:extLst>
                  <a:ext uri="{FF2B5EF4-FFF2-40B4-BE49-F238E27FC236}">
                    <a16:creationId xmlns:a16="http://schemas.microsoft.com/office/drawing/2014/main" id="{34CFAAF7-3F17-1091-765A-8EF5816D3F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2112"/>
                <a:ext cx="9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0000" name="Line 111">
                <a:extLst>
                  <a:ext uri="{FF2B5EF4-FFF2-40B4-BE49-F238E27FC236}">
                    <a16:creationId xmlns:a16="http://schemas.microsoft.com/office/drawing/2014/main" id="{8CC8492F-04A9-59C2-FE40-6A62C0F5E1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2" y="2064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</p:grpSp>
      <p:grpSp>
        <p:nvGrpSpPr>
          <p:cNvPr id="39971" name="Group 113">
            <a:extLst>
              <a:ext uri="{FF2B5EF4-FFF2-40B4-BE49-F238E27FC236}">
                <a16:creationId xmlns:a16="http://schemas.microsoft.com/office/drawing/2014/main" id="{39A56651-27D3-65B1-56C0-1DD435644F24}"/>
              </a:ext>
            </a:extLst>
          </p:cNvPr>
          <p:cNvGrpSpPr>
            <a:grpSpLocks/>
          </p:cNvGrpSpPr>
          <p:nvPr/>
        </p:nvGrpSpPr>
        <p:grpSpPr bwMode="auto">
          <a:xfrm>
            <a:off x="6142038" y="5638800"/>
            <a:ext cx="304800" cy="304800"/>
            <a:chOff x="4032" y="1968"/>
            <a:chExt cx="192" cy="192"/>
          </a:xfrm>
        </p:grpSpPr>
        <p:sp>
          <p:nvSpPr>
            <p:cNvPr id="39991" name="Line 114">
              <a:extLst>
                <a:ext uri="{FF2B5EF4-FFF2-40B4-BE49-F238E27FC236}">
                  <a16:creationId xmlns:a16="http://schemas.microsoft.com/office/drawing/2014/main" id="{4B2DF754-B814-4AEC-70F3-6825B305FA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1968"/>
              <a:ext cx="0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9992" name="Line 115">
              <a:extLst>
                <a:ext uri="{FF2B5EF4-FFF2-40B4-BE49-F238E27FC236}">
                  <a16:creationId xmlns:a16="http://schemas.microsoft.com/office/drawing/2014/main" id="{ED4CCD3C-8576-AFD1-0698-FC1A8BF5E9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7" y="2160"/>
              <a:ext cx="2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9993" name="Line 116">
              <a:extLst>
                <a:ext uri="{FF2B5EF4-FFF2-40B4-BE49-F238E27FC236}">
                  <a16:creationId xmlns:a16="http://schemas.microsoft.com/office/drawing/2014/main" id="{B0CBFCFB-C613-D2FA-6202-52D219915C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2112"/>
              <a:ext cx="9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9994" name="Line 117">
              <a:extLst>
                <a:ext uri="{FF2B5EF4-FFF2-40B4-BE49-F238E27FC236}">
                  <a16:creationId xmlns:a16="http://schemas.microsoft.com/office/drawing/2014/main" id="{1D4EEF4B-72F7-3D11-B648-92353E6ABC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2064"/>
              <a:ext cx="19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39972" name="Text Box 118">
            <a:extLst>
              <a:ext uri="{FF2B5EF4-FFF2-40B4-BE49-F238E27FC236}">
                <a16:creationId xmlns:a16="http://schemas.microsoft.com/office/drawing/2014/main" id="{D81FA503-51DD-FF22-EE26-80F6B82D05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5343525"/>
            <a:ext cx="8048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solidFill>
                  <a:schemeClr val="hlink"/>
                </a:solidFill>
                <a:sym typeface="Symbol" panose="05050102010706020507" pitchFamily="18" charset="2"/>
              </a:rPr>
              <a:t></a:t>
            </a:r>
            <a:r>
              <a:rPr lang="en-US" altLang="en-US" sz="1800">
                <a:solidFill>
                  <a:schemeClr val="hlink"/>
                </a:solidFill>
              </a:rPr>
              <a:t> load</a:t>
            </a:r>
          </a:p>
        </p:txBody>
      </p:sp>
      <p:sp>
        <p:nvSpPr>
          <p:cNvPr id="39973" name="Line 119">
            <a:extLst>
              <a:ext uri="{FF2B5EF4-FFF2-40B4-BE49-F238E27FC236}">
                <a16:creationId xmlns:a16="http://schemas.microsoft.com/office/drawing/2014/main" id="{B1E8F215-3222-C935-E3AE-6005F7B9F264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33528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9974" name="Text Box 120">
            <a:extLst>
              <a:ext uri="{FF2B5EF4-FFF2-40B4-BE49-F238E27FC236}">
                <a16:creationId xmlns:a16="http://schemas.microsoft.com/office/drawing/2014/main" id="{9C61881F-7C41-DE1E-BA21-F2E08B9B6D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3325" y="4083050"/>
            <a:ext cx="22510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600">
                <a:solidFill>
                  <a:srgbClr val="000000"/>
                </a:solidFill>
              </a:rPr>
              <a:t>voltages seen by loads</a:t>
            </a:r>
          </a:p>
        </p:txBody>
      </p:sp>
      <p:grpSp>
        <p:nvGrpSpPr>
          <p:cNvPr id="39975" name="Group 121">
            <a:extLst>
              <a:ext uri="{FF2B5EF4-FFF2-40B4-BE49-F238E27FC236}">
                <a16:creationId xmlns:a16="http://schemas.microsoft.com/office/drawing/2014/main" id="{AF1CE3BE-8CD6-D507-04F5-589987644C9E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3352800"/>
            <a:ext cx="3048000" cy="381000"/>
            <a:chOff x="3312" y="3696"/>
            <a:chExt cx="1920" cy="240"/>
          </a:xfrm>
        </p:grpSpPr>
        <p:sp>
          <p:nvSpPr>
            <p:cNvPr id="39986" name="Line 122">
              <a:extLst>
                <a:ext uri="{FF2B5EF4-FFF2-40B4-BE49-F238E27FC236}">
                  <a16:creationId xmlns:a16="http://schemas.microsoft.com/office/drawing/2014/main" id="{5BCEA892-E3C3-05E4-B5E1-D3349862A4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936"/>
              <a:ext cx="1824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9987" name="Freeform 123">
              <a:extLst>
                <a:ext uri="{FF2B5EF4-FFF2-40B4-BE49-F238E27FC236}">
                  <a16:creationId xmlns:a16="http://schemas.microsoft.com/office/drawing/2014/main" id="{6DDE74A3-0098-5132-11C0-B1CEC7B3F4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3696"/>
              <a:ext cx="480" cy="240"/>
            </a:xfrm>
            <a:custGeom>
              <a:avLst/>
              <a:gdLst>
                <a:gd name="T0" fmla="*/ 0 w 480"/>
                <a:gd name="T1" fmla="*/ 240 h 240"/>
                <a:gd name="T2" fmla="*/ 240 w 480"/>
                <a:gd name="T3" fmla="*/ 0 h 240"/>
                <a:gd name="T4" fmla="*/ 480 w 480"/>
                <a:gd name="T5" fmla="*/ 240 h 240"/>
                <a:gd name="T6" fmla="*/ 0 60000 65536"/>
                <a:gd name="T7" fmla="*/ 0 60000 65536"/>
                <a:gd name="T8" fmla="*/ 0 60000 65536"/>
                <a:gd name="T9" fmla="*/ 0 w 480"/>
                <a:gd name="T10" fmla="*/ 0 h 240"/>
                <a:gd name="T11" fmla="*/ 480 w 480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240">
                  <a:moveTo>
                    <a:pt x="0" y="240"/>
                  </a:moveTo>
                  <a:cubicBezTo>
                    <a:pt x="80" y="120"/>
                    <a:pt x="160" y="0"/>
                    <a:pt x="240" y="0"/>
                  </a:cubicBezTo>
                  <a:cubicBezTo>
                    <a:pt x="320" y="0"/>
                    <a:pt x="400" y="120"/>
                    <a:pt x="480" y="240"/>
                  </a:cubicBezTo>
                </a:path>
              </a:pathLst>
            </a:custGeom>
            <a:noFill/>
            <a:ln w="158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9988" name="Freeform 124">
              <a:extLst>
                <a:ext uri="{FF2B5EF4-FFF2-40B4-BE49-F238E27FC236}">
                  <a16:creationId xmlns:a16="http://schemas.microsoft.com/office/drawing/2014/main" id="{23C4516A-94F6-3629-E429-395609086F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2" y="3696"/>
              <a:ext cx="480" cy="240"/>
            </a:xfrm>
            <a:custGeom>
              <a:avLst/>
              <a:gdLst>
                <a:gd name="T0" fmla="*/ 0 w 480"/>
                <a:gd name="T1" fmla="*/ 240 h 240"/>
                <a:gd name="T2" fmla="*/ 240 w 480"/>
                <a:gd name="T3" fmla="*/ 0 h 240"/>
                <a:gd name="T4" fmla="*/ 480 w 480"/>
                <a:gd name="T5" fmla="*/ 240 h 240"/>
                <a:gd name="T6" fmla="*/ 0 60000 65536"/>
                <a:gd name="T7" fmla="*/ 0 60000 65536"/>
                <a:gd name="T8" fmla="*/ 0 60000 65536"/>
                <a:gd name="T9" fmla="*/ 0 w 480"/>
                <a:gd name="T10" fmla="*/ 0 h 240"/>
                <a:gd name="T11" fmla="*/ 480 w 480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240">
                  <a:moveTo>
                    <a:pt x="0" y="240"/>
                  </a:moveTo>
                  <a:cubicBezTo>
                    <a:pt x="80" y="120"/>
                    <a:pt x="160" y="0"/>
                    <a:pt x="240" y="0"/>
                  </a:cubicBezTo>
                  <a:cubicBezTo>
                    <a:pt x="320" y="0"/>
                    <a:pt x="400" y="120"/>
                    <a:pt x="480" y="240"/>
                  </a:cubicBezTo>
                </a:path>
              </a:pathLst>
            </a:custGeom>
            <a:noFill/>
            <a:ln w="158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9989" name="Freeform 125">
              <a:extLst>
                <a:ext uri="{FF2B5EF4-FFF2-40B4-BE49-F238E27FC236}">
                  <a16:creationId xmlns:a16="http://schemas.microsoft.com/office/drawing/2014/main" id="{9727985D-FE12-1BE4-7B7D-E1EAF98341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2" y="3696"/>
              <a:ext cx="480" cy="240"/>
            </a:xfrm>
            <a:custGeom>
              <a:avLst/>
              <a:gdLst>
                <a:gd name="T0" fmla="*/ 0 w 480"/>
                <a:gd name="T1" fmla="*/ 240 h 240"/>
                <a:gd name="T2" fmla="*/ 240 w 480"/>
                <a:gd name="T3" fmla="*/ 0 h 240"/>
                <a:gd name="T4" fmla="*/ 480 w 480"/>
                <a:gd name="T5" fmla="*/ 240 h 240"/>
                <a:gd name="T6" fmla="*/ 0 60000 65536"/>
                <a:gd name="T7" fmla="*/ 0 60000 65536"/>
                <a:gd name="T8" fmla="*/ 0 60000 65536"/>
                <a:gd name="T9" fmla="*/ 0 w 480"/>
                <a:gd name="T10" fmla="*/ 0 h 240"/>
                <a:gd name="T11" fmla="*/ 480 w 480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240">
                  <a:moveTo>
                    <a:pt x="0" y="240"/>
                  </a:moveTo>
                  <a:cubicBezTo>
                    <a:pt x="80" y="120"/>
                    <a:pt x="160" y="0"/>
                    <a:pt x="240" y="0"/>
                  </a:cubicBezTo>
                  <a:cubicBezTo>
                    <a:pt x="320" y="0"/>
                    <a:pt x="400" y="120"/>
                    <a:pt x="480" y="240"/>
                  </a:cubicBezTo>
                </a:path>
              </a:pathLst>
            </a:custGeom>
            <a:noFill/>
            <a:ln w="158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9990" name="Freeform 126">
              <a:extLst>
                <a:ext uri="{FF2B5EF4-FFF2-40B4-BE49-F238E27FC236}">
                  <a16:creationId xmlns:a16="http://schemas.microsoft.com/office/drawing/2014/main" id="{B319BD88-4953-BE18-595D-36DB103E1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2" y="3696"/>
              <a:ext cx="480" cy="240"/>
            </a:xfrm>
            <a:custGeom>
              <a:avLst/>
              <a:gdLst>
                <a:gd name="T0" fmla="*/ 0 w 480"/>
                <a:gd name="T1" fmla="*/ 240 h 240"/>
                <a:gd name="T2" fmla="*/ 240 w 480"/>
                <a:gd name="T3" fmla="*/ 0 h 240"/>
                <a:gd name="T4" fmla="*/ 480 w 480"/>
                <a:gd name="T5" fmla="*/ 240 h 240"/>
                <a:gd name="T6" fmla="*/ 0 60000 65536"/>
                <a:gd name="T7" fmla="*/ 0 60000 65536"/>
                <a:gd name="T8" fmla="*/ 0 60000 65536"/>
                <a:gd name="T9" fmla="*/ 0 w 480"/>
                <a:gd name="T10" fmla="*/ 0 h 240"/>
                <a:gd name="T11" fmla="*/ 480 w 480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240">
                  <a:moveTo>
                    <a:pt x="0" y="240"/>
                  </a:moveTo>
                  <a:cubicBezTo>
                    <a:pt x="80" y="120"/>
                    <a:pt x="160" y="0"/>
                    <a:pt x="240" y="0"/>
                  </a:cubicBezTo>
                  <a:cubicBezTo>
                    <a:pt x="320" y="0"/>
                    <a:pt x="400" y="120"/>
                    <a:pt x="480" y="240"/>
                  </a:cubicBezTo>
                </a:path>
              </a:pathLst>
            </a:custGeom>
            <a:noFill/>
            <a:ln w="158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39976" name="Group 127">
            <a:extLst>
              <a:ext uri="{FF2B5EF4-FFF2-40B4-BE49-F238E27FC236}">
                <a16:creationId xmlns:a16="http://schemas.microsoft.com/office/drawing/2014/main" id="{E99C49E2-9B5B-905C-421D-1FB4D4CC0756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5867400" y="3733800"/>
            <a:ext cx="3048000" cy="381000"/>
            <a:chOff x="3312" y="3696"/>
            <a:chExt cx="1920" cy="240"/>
          </a:xfrm>
        </p:grpSpPr>
        <p:sp>
          <p:nvSpPr>
            <p:cNvPr id="39981" name="Line 128">
              <a:extLst>
                <a:ext uri="{FF2B5EF4-FFF2-40B4-BE49-F238E27FC236}">
                  <a16:creationId xmlns:a16="http://schemas.microsoft.com/office/drawing/2014/main" id="{29D75A4D-B26B-E9A3-629E-9D551C9E64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936"/>
              <a:ext cx="1824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9982" name="Freeform 129">
              <a:extLst>
                <a:ext uri="{FF2B5EF4-FFF2-40B4-BE49-F238E27FC236}">
                  <a16:creationId xmlns:a16="http://schemas.microsoft.com/office/drawing/2014/main" id="{0C84D7F9-D415-8D34-CA95-7EB04921D1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3696"/>
              <a:ext cx="480" cy="240"/>
            </a:xfrm>
            <a:custGeom>
              <a:avLst/>
              <a:gdLst>
                <a:gd name="T0" fmla="*/ 0 w 480"/>
                <a:gd name="T1" fmla="*/ 240 h 240"/>
                <a:gd name="T2" fmla="*/ 240 w 480"/>
                <a:gd name="T3" fmla="*/ 0 h 240"/>
                <a:gd name="T4" fmla="*/ 480 w 480"/>
                <a:gd name="T5" fmla="*/ 240 h 240"/>
                <a:gd name="T6" fmla="*/ 0 60000 65536"/>
                <a:gd name="T7" fmla="*/ 0 60000 65536"/>
                <a:gd name="T8" fmla="*/ 0 60000 65536"/>
                <a:gd name="T9" fmla="*/ 0 w 480"/>
                <a:gd name="T10" fmla="*/ 0 h 240"/>
                <a:gd name="T11" fmla="*/ 480 w 480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240">
                  <a:moveTo>
                    <a:pt x="0" y="240"/>
                  </a:moveTo>
                  <a:cubicBezTo>
                    <a:pt x="80" y="120"/>
                    <a:pt x="160" y="0"/>
                    <a:pt x="240" y="0"/>
                  </a:cubicBezTo>
                  <a:cubicBezTo>
                    <a:pt x="320" y="0"/>
                    <a:pt x="400" y="120"/>
                    <a:pt x="480" y="240"/>
                  </a:cubicBezTo>
                </a:path>
              </a:pathLst>
            </a:custGeom>
            <a:noFill/>
            <a:ln w="1587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9983" name="Freeform 130">
              <a:extLst>
                <a:ext uri="{FF2B5EF4-FFF2-40B4-BE49-F238E27FC236}">
                  <a16:creationId xmlns:a16="http://schemas.microsoft.com/office/drawing/2014/main" id="{F197C7DF-1F31-C4DF-72E4-D28B2344F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2" y="3696"/>
              <a:ext cx="480" cy="240"/>
            </a:xfrm>
            <a:custGeom>
              <a:avLst/>
              <a:gdLst>
                <a:gd name="T0" fmla="*/ 0 w 480"/>
                <a:gd name="T1" fmla="*/ 240 h 240"/>
                <a:gd name="T2" fmla="*/ 240 w 480"/>
                <a:gd name="T3" fmla="*/ 0 h 240"/>
                <a:gd name="T4" fmla="*/ 480 w 480"/>
                <a:gd name="T5" fmla="*/ 240 h 240"/>
                <a:gd name="T6" fmla="*/ 0 60000 65536"/>
                <a:gd name="T7" fmla="*/ 0 60000 65536"/>
                <a:gd name="T8" fmla="*/ 0 60000 65536"/>
                <a:gd name="T9" fmla="*/ 0 w 480"/>
                <a:gd name="T10" fmla="*/ 0 h 240"/>
                <a:gd name="T11" fmla="*/ 480 w 480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240">
                  <a:moveTo>
                    <a:pt x="0" y="240"/>
                  </a:moveTo>
                  <a:cubicBezTo>
                    <a:pt x="80" y="120"/>
                    <a:pt x="160" y="0"/>
                    <a:pt x="240" y="0"/>
                  </a:cubicBezTo>
                  <a:cubicBezTo>
                    <a:pt x="320" y="0"/>
                    <a:pt x="400" y="120"/>
                    <a:pt x="480" y="240"/>
                  </a:cubicBezTo>
                </a:path>
              </a:pathLst>
            </a:custGeom>
            <a:noFill/>
            <a:ln w="1587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9984" name="Freeform 131">
              <a:extLst>
                <a:ext uri="{FF2B5EF4-FFF2-40B4-BE49-F238E27FC236}">
                  <a16:creationId xmlns:a16="http://schemas.microsoft.com/office/drawing/2014/main" id="{F54D38D8-C134-A425-6CCF-D68251A6CC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2" y="3696"/>
              <a:ext cx="480" cy="240"/>
            </a:xfrm>
            <a:custGeom>
              <a:avLst/>
              <a:gdLst>
                <a:gd name="T0" fmla="*/ 0 w 480"/>
                <a:gd name="T1" fmla="*/ 240 h 240"/>
                <a:gd name="T2" fmla="*/ 240 w 480"/>
                <a:gd name="T3" fmla="*/ 0 h 240"/>
                <a:gd name="T4" fmla="*/ 480 w 480"/>
                <a:gd name="T5" fmla="*/ 240 h 240"/>
                <a:gd name="T6" fmla="*/ 0 60000 65536"/>
                <a:gd name="T7" fmla="*/ 0 60000 65536"/>
                <a:gd name="T8" fmla="*/ 0 60000 65536"/>
                <a:gd name="T9" fmla="*/ 0 w 480"/>
                <a:gd name="T10" fmla="*/ 0 h 240"/>
                <a:gd name="T11" fmla="*/ 480 w 480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240">
                  <a:moveTo>
                    <a:pt x="0" y="240"/>
                  </a:moveTo>
                  <a:cubicBezTo>
                    <a:pt x="80" y="120"/>
                    <a:pt x="160" y="0"/>
                    <a:pt x="240" y="0"/>
                  </a:cubicBezTo>
                  <a:cubicBezTo>
                    <a:pt x="320" y="0"/>
                    <a:pt x="400" y="120"/>
                    <a:pt x="480" y="240"/>
                  </a:cubicBezTo>
                </a:path>
              </a:pathLst>
            </a:custGeom>
            <a:noFill/>
            <a:ln w="1587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9985" name="Freeform 132">
              <a:extLst>
                <a:ext uri="{FF2B5EF4-FFF2-40B4-BE49-F238E27FC236}">
                  <a16:creationId xmlns:a16="http://schemas.microsoft.com/office/drawing/2014/main" id="{208926EE-2FAC-40FA-8F20-A14983C784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2" y="3696"/>
              <a:ext cx="480" cy="240"/>
            </a:xfrm>
            <a:custGeom>
              <a:avLst/>
              <a:gdLst>
                <a:gd name="T0" fmla="*/ 0 w 480"/>
                <a:gd name="T1" fmla="*/ 240 h 240"/>
                <a:gd name="T2" fmla="*/ 240 w 480"/>
                <a:gd name="T3" fmla="*/ 0 h 240"/>
                <a:gd name="T4" fmla="*/ 480 w 480"/>
                <a:gd name="T5" fmla="*/ 240 h 240"/>
                <a:gd name="T6" fmla="*/ 0 60000 65536"/>
                <a:gd name="T7" fmla="*/ 0 60000 65536"/>
                <a:gd name="T8" fmla="*/ 0 60000 65536"/>
                <a:gd name="T9" fmla="*/ 0 w 480"/>
                <a:gd name="T10" fmla="*/ 0 h 240"/>
                <a:gd name="T11" fmla="*/ 480 w 480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240">
                  <a:moveTo>
                    <a:pt x="0" y="240"/>
                  </a:moveTo>
                  <a:cubicBezTo>
                    <a:pt x="80" y="120"/>
                    <a:pt x="160" y="0"/>
                    <a:pt x="240" y="0"/>
                  </a:cubicBezTo>
                  <a:cubicBezTo>
                    <a:pt x="320" y="0"/>
                    <a:pt x="400" y="120"/>
                    <a:pt x="480" y="240"/>
                  </a:cubicBezTo>
                </a:path>
              </a:pathLst>
            </a:custGeom>
            <a:noFill/>
            <a:ln w="1587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39977" name="Line 133">
            <a:extLst>
              <a:ext uri="{FF2B5EF4-FFF2-40B4-BE49-F238E27FC236}">
                <a16:creationId xmlns:a16="http://schemas.microsoft.com/office/drawing/2014/main" id="{4EBF69B7-893D-0CE9-CF7E-3607F34733CF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3733800"/>
            <a:ext cx="3276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pic>
        <p:nvPicPr>
          <p:cNvPr id="39978" name="Picture 135" descr="diode_bridges">
            <a:extLst>
              <a:ext uri="{FF2B5EF4-FFF2-40B4-BE49-F238E27FC236}">
                <a16:creationId xmlns:a16="http://schemas.microsoft.com/office/drawing/2014/main" id="{48FEA598-5705-8438-0CA8-99F709676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9513" y="4953000"/>
            <a:ext cx="1614487" cy="161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79" name="Text Box 136">
            <a:extLst>
              <a:ext uri="{FF2B5EF4-FFF2-40B4-BE49-F238E27FC236}">
                <a16:creationId xmlns:a16="http://schemas.microsoft.com/office/drawing/2014/main" id="{18C6FE8E-5EA4-7834-1B56-B2806D7F31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9050" y="6237288"/>
            <a:ext cx="3471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r>
              <a:rPr lang="en-US" altLang="en-US" sz="1600">
                <a:solidFill>
                  <a:schemeClr val="accent2"/>
                </a:solidFill>
              </a:rPr>
              <a:t>can buy pre-packaged diode bridges</a:t>
            </a:r>
          </a:p>
        </p:txBody>
      </p:sp>
      <p:sp>
        <p:nvSpPr>
          <p:cNvPr id="39980" name="Line 137">
            <a:extLst>
              <a:ext uri="{FF2B5EF4-FFF2-40B4-BE49-F238E27FC236}">
                <a16:creationId xmlns:a16="http://schemas.microsoft.com/office/drawing/2014/main" id="{EA4CCE46-B755-83C1-6FAF-1D6585039D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39000" y="6248400"/>
            <a:ext cx="685800" cy="1524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Date Placeholder 3">
            <a:extLst>
              <a:ext uri="{FF2B5EF4-FFF2-40B4-BE49-F238E27FC236}">
                <a16:creationId xmlns:a16="http://schemas.microsoft.com/office/drawing/2014/main" id="{B7DCE333-8505-451E-2A0D-248D2D5EE0F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Winter 2012</a:t>
            </a:r>
          </a:p>
        </p:txBody>
      </p:sp>
      <p:sp>
        <p:nvSpPr>
          <p:cNvPr id="41987" name="Footer Placeholder 4">
            <a:extLst>
              <a:ext uri="{FF2B5EF4-FFF2-40B4-BE49-F238E27FC236}">
                <a16:creationId xmlns:a16="http://schemas.microsoft.com/office/drawing/2014/main" id="{BD54D7BA-7E3C-F56B-37C7-98CD1E4A9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UCSD: Physics 121; 2012</a:t>
            </a:r>
          </a:p>
        </p:txBody>
      </p:sp>
      <p:sp>
        <p:nvSpPr>
          <p:cNvPr id="41988" name="Slide Number Placeholder 5">
            <a:extLst>
              <a:ext uri="{FF2B5EF4-FFF2-40B4-BE49-F238E27FC236}">
                <a16:creationId xmlns:a16="http://schemas.microsoft.com/office/drawing/2014/main" id="{91C1B335-80BC-4ACF-A8C1-F7F5469AC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0A6A48B-C25E-49C5-B02F-EE3DA2A722E1}" type="slidenum">
              <a:rPr lang="en-US" altLang="en-US" sz="1400"/>
              <a:pPr/>
              <a:t>13</a:t>
            </a:fld>
            <a:endParaRPr lang="en-US" altLang="en-US" sz="1400"/>
          </a:p>
        </p:txBody>
      </p:sp>
      <p:sp>
        <p:nvSpPr>
          <p:cNvPr id="84994" name="Rectangle 2">
            <a:extLst>
              <a:ext uri="{FF2B5EF4-FFF2-40B4-BE49-F238E27FC236}">
                <a16:creationId xmlns:a16="http://schemas.microsoft.com/office/drawing/2014/main" id="{30807BDF-4B82-E997-7385-12ADCAA0C6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1524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Smoothing out the Bumps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5F8F9CF0-0AB9-D27C-7727-5F0ED6CF64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762000"/>
            <a:ext cx="7772400" cy="5029200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Still a bumpy ride, but we can smooth this out with a </a:t>
            </a:r>
            <a:r>
              <a:rPr lang="en-US">
                <a:solidFill>
                  <a:schemeClr val="accent2"/>
                </a:solidFill>
              </a:rPr>
              <a:t>capacitor</a:t>
            </a:r>
            <a:endParaRPr lang="en-US"/>
          </a:p>
          <a:p>
            <a:pPr lvl="1" eaLnBrk="1" hangingPunct="1">
              <a:defRPr/>
            </a:pPr>
            <a:r>
              <a:rPr lang="en-US"/>
              <a:t>capacitors have capacity for storing charge</a:t>
            </a:r>
          </a:p>
          <a:p>
            <a:pPr lvl="1" eaLnBrk="1" hangingPunct="1">
              <a:defRPr/>
            </a:pPr>
            <a:r>
              <a:rPr lang="en-US"/>
              <a:t>acts like a </a:t>
            </a:r>
            <a:r>
              <a:rPr lang="en-US">
                <a:solidFill>
                  <a:schemeClr val="accent2"/>
                </a:solidFill>
              </a:rPr>
              <a:t>reservoir</a:t>
            </a:r>
            <a:r>
              <a:rPr lang="en-US"/>
              <a:t> to supply current during low spots</a:t>
            </a:r>
          </a:p>
          <a:p>
            <a:pPr lvl="1" eaLnBrk="1" hangingPunct="1">
              <a:defRPr/>
            </a:pPr>
            <a:r>
              <a:rPr lang="en-US"/>
              <a:t>voltage regulator smoothes out remaining ripple</a:t>
            </a:r>
          </a:p>
        </p:txBody>
      </p:sp>
      <p:sp>
        <p:nvSpPr>
          <p:cNvPr id="41991" name="Line 4">
            <a:extLst>
              <a:ext uri="{FF2B5EF4-FFF2-40B4-BE49-F238E27FC236}">
                <a16:creationId xmlns:a16="http://schemas.microsoft.com/office/drawing/2014/main" id="{542C3682-7C31-466F-5DFF-195E41CF9A73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2743200"/>
            <a:ext cx="3175" cy="152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41992" name="Group 5">
            <a:extLst>
              <a:ext uri="{FF2B5EF4-FFF2-40B4-BE49-F238E27FC236}">
                <a16:creationId xmlns:a16="http://schemas.microsoft.com/office/drawing/2014/main" id="{3408F850-3CF7-99EA-5160-B45F22E24B7B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3133725"/>
            <a:ext cx="6019800" cy="752475"/>
            <a:chOff x="3312" y="3696"/>
            <a:chExt cx="1920" cy="240"/>
          </a:xfrm>
        </p:grpSpPr>
        <p:sp>
          <p:nvSpPr>
            <p:cNvPr id="42061" name="Line 6">
              <a:extLst>
                <a:ext uri="{FF2B5EF4-FFF2-40B4-BE49-F238E27FC236}">
                  <a16:creationId xmlns:a16="http://schemas.microsoft.com/office/drawing/2014/main" id="{34CE890B-8F88-DF33-2374-7E2894C53C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936"/>
              <a:ext cx="18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2062" name="Freeform 7">
              <a:extLst>
                <a:ext uri="{FF2B5EF4-FFF2-40B4-BE49-F238E27FC236}">
                  <a16:creationId xmlns:a16="http://schemas.microsoft.com/office/drawing/2014/main" id="{530EB759-F217-FC40-3402-AB9E3EEA4C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3696"/>
              <a:ext cx="480" cy="240"/>
            </a:xfrm>
            <a:custGeom>
              <a:avLst/>
              <a:gdLst>
                <a:gd name="T0" fmla="*/ 0 w 480"/>
                <a:gd name="T1" fmla="*/ 240 h 240"/>
                <a:gd name="T2" fmla="*/ 240 w 480"/>
                <a:gd name="T3" fmla="*/ 0 h 240"/>
                <a:gd name="T4" fmla="*/ 480 w 480"/>
                <a:gd name="T5" fmla="*/ 240 h 240"/>
                <a:gd name="T6" fmla="*/ 0 60000 65536"/>
                <a:gd name="T7" fmla="*/ 0 60000 65536"/>
                <a:gd name="T8" fmla="*/ 0 60000 65536"/>
                <a:gd name="T9" fmla="*/ 0 w 480"/>
                <a:gd name="T10" fmla="*/ 0 h 240"/>
                <a:gd name="T11" fmla="*/ 480 w 480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240">
                  <a:moveTo>
                    <a:pt x="0" y="240"/>
                  </a:moveTo>
                  <a:cubicBezTo>
                    <a:pt x="80" y="120"/>
                    <a:pt x="160" y="0"/>
                    <a:pt x="240" y="0"/>
                  </a:cubicBezTo>
                  <a:cubicBezTo>
                    <a:pt x="320" y="0"/>
                    <a:pt x="400" y="120"/>
                    <a:pt x="480" y="240"/>
                  </a:cubicBezTo>
                </a:path>
              </a:pathLst>
            </a:cu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2063" name="Freeform 8">
              <a:extLst>
                <a:ext uri="{FF2B5EF4-FFF2-40B4-BE49-F238E27FC236}">
                  <a16:creationId xmlns:a16="http://schemas.microsoft.com/office/drawing/2014/main" id="{2A01C11F-12D2-8A48-D7E6-062D45432B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2" y="3696"/>
              <a:ext cx="480" cy="240"/>
            </a:xfrm>
            <a:custGeom>
              <a:avLst/>
              <a:gdLst>
                <a:gd name="T0" fmla="*/ 0 w 480"/>
                <a:gd name="T1" fmla="*/ 240 h 240"/>
                <a:gd name="T2" fmla="*/ 240 w 480"/>
                <a:gd name="T3" fmla="*/ 0 h 240"/>
                <a:gd name="T4" fmla="*/ 480 w 480"/>
                <a:gd name="T5" fmla="*/ 240 h 240"/>
                <a:gd name="T6" fmla="*/ 0 60000 65536"/>
                <a:gd name="T7" fmla="*/ 0 60000 65536"/>
                <a:gd name="T8" fmla="*/ 0 60000 65536"/>
                <a:gd name="T9" fmla="*/ 0 w 480"/>
                <a:gd name="T10" fmla="*/ 0 h 240"/>
                <a:gd name="T11" fmla="*/ 480 w 480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240">
                  <a:moveTo>
                    <a:pt x="0" y="240"/>
                  </a:moveTo>
                  <a:cubicBezTo>
                    <a:pt x="80" y="120"/>
                    <a:pt x="160" y="0"/>
                    <a:pt x="240" y="0"/>
                  </a:cubicBezTo>
                  <a:cubicBezTo>
                    <a:pt x="320" y="0"/>
                    <a:pt x="400" y="120"/>
                    <a:pt x="480" y="240"/>
                  </a:cubicBezTo>
                </a:path>
              </a:pathLst>
            </a:cu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2064" name="Freeform 9">
              <a:extLst>
                <a:ext uri="{FF2B5EF4-FFF2-40B4-BE49-F238E27FC236}">
                  <a16:creationId xmlns:a16="http://schemas.microsoft.com/office/drawing/2014/main" id="{B09819CD-9E7F-1CB5-E670-718FF1A11F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2" y="3696"/>
              <a:ext cx="480" cy="240"/>
            </a:xfrm>
            <a:custGeom>
              <a:avLst/>
              <a:gdLst>
                <a:gd name="T0" fmla="*/ 0 w 480"/>
                <a:gd name="T1" fmla="*/ 240 h 240"/>
                <a:gd name="T2" fmla="*/ 240 w 480"/>
                <a:gd name="T3" fmla="*/ 0 h 240"/>
                <a:gd name="T4" fmla="*/ 480 w 480"/>
                <a:gd name="T5" fmla="*/ 240 h 240"/>
                <a:gd name="T6" fmla="*/ 0 60000 65536"/>
                <a:gd name="T7" fmla="*/ 0 60000 65536"/>
                <a:gd name="T8" fmla="*/ 0 60000 65536"/>
                <a:gd name="T9" fmla="*/ 0 w 480"/>
                <a:gd name="T10" fmla="*/ 0 h 240"/>
                <a:gd name="T11" fmla="*/ 480 w 480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240">
                  <a:moveTo>
                    <a:pt x="0" y="240"/>
                  </a:moveTo>
                  <a:cubicBezTo>
                    <a:pt x="80" y="120"/>
                    <a:pt x="160" y="0"/>
                    <a:pt x="240" y="0"/>
                  </a:cubicBezTo>
                  <a:cubicBezTo>
                    <a:pt x="320" y="0"/>
                    <a:pt x="400" y="120"/>
                    <a:pt x="480" y="240"/>
                  </a:cubicBezTo>
                </a:path>
              </a:pathLst>
            </a:cu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2065" name="Freeform 10">
              <a:extLst>
                <a:ext uri="{FF2B5EF4-FFF2-40B4-BE49-F238E27FC236}">
                  <a16:creationId xmlns:a16="http://schemas.microsoft.com/office/drawing/2014/main" id="{9962D485-8C5A-BEE2-31C9-0A2A274C7C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2" y="3696"/>
              <a:ext cx="480" cy="240"/>
            </a:xfrm>
            <a:custGeom>
              <a:avLst/>
              <a:gdLst>
                <a:gd name="T0" fmla="*/ 0 w 480"/>
                <a:gd name="T1" fmla="*/ 240 h 240"/>
                <a:gd name="T2" fmla="*/ 240 w 480"/>
                <a:gd name="T3" fmla="*/ 0 h 240"/>
                <a:gd name="T4" fmla="*/ 480 w 480"/>
                <a:gd name="T5" fmla="*/ 240 h 240"/>
                <a:gd name="T6" fmla="*/ 0 60000 65536"/>
                <a:gd name="T7" fmla="*/ 0 60000 65536"/>
                <a:gd name="T8" fmla="*/ 0 60000 65536"/>
                <a:gd name="T9" fmla="*/ 0 w 480"/>
                <a:gd name="T10" fmla="*/ 0 h 240"/>
                <a:gd name="T11" fmla="*/ 480 w 480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240">
                  <a:moveTo>
                    <a:pt x="0" y="240"/>
                  </a:moveTo>
                  <a:cubicBezTo>
                    <a:pt x="80" y="120"/>
                    <a:pt x="160" y="0"/>
                    <a:pt x="240" y="0"/>
                  </a:cubicBezTo>
                  <a:cubicBezTo>
                    <a:pt x="320" y="0"/>
                    <a:pt x="400" y="120"/>
                    <a:pt x="480" y="240"/>
                  </a:cubicBezTo>
                </a:path>
              </a:pathLst>
            </a:cu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41993" name="Line 11">
            <a:extLst>
              <a:ext uri="{FF2B5EF4-FFF2-40B4-BE49-F238E27FC236}">
                <a16:creationId xmlns:a16="http://schemas.microsoft.com/office/drawing/2014/main" id="{CE7B73B0-A251-4256-FBB1-1FD54824C1DA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3124200"/>
            <a:ext cx="1295400" cy="76200"/>
          </a:xfrm>
          <a:prstGeom prst="line">
            <a:avLst/>
          </a:prstGeom>
          <a:noFill/>
          <a:ln w="22225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1994" name="Line 12">
            <a:extLst>
              <a:ext uri="{FF2B5EF4-FFF2-40B4-BE49-F238E27FC236}">
                <a16:creationId xmlns:a16="http://schemas.microsoft.com/office/drawing/2014/main" id="{4BE194DD-48EA-77A9-6DC8-C7FCFF35A9A8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3124200"/>
            <a:ext cx="1295400" cy="76200"/>
          </a:xfrm>
          <a:prstGeom prst="line">
            <a:avLst/>
          </a:prstGeom>
          <a:noFill/>
          <a:ln w="22225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1995" name="Line 13">
            <a:extLst>
              <a:ext uri="{FF2B5EF4-FFF2-40B4-BE49-F238E27FC236}">
                <a16:creationId xmlns:a16="http://schemas.microsoft.com/office/drawing/2014/main" id="{599F1A5B-B5C7-1EEC-0E48-FB66645C33CB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3124200"/>
            <a:ext cx="1295400" cy="76200"/>
          </a:xfrm>
          <a:prstGeom prst="line">
            <a:avLst/>
          </a:prstGeom>
          <a:noFill/>
          <a:ln w="22225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1996" name="Line 14">
            <a:extLst>
              <a:ext uri="{FF2B5EF4-FFF2-40B4-BE49-F238E27FC236}">
                <a16:creationId xmlns:a16="http://schemas.microsoft.com/office/drawing/2014/main" id="{2D8CA12D-1AFC-8303-EFFC-F41CB09D8DA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3124200"/>
            <a:ext cx="1295400" cy="76200"/>
          </a:xfrm>
          <a:prstGeom prst="line">
            <a:avLst/>
          </a:prstGeom>
          <a:noFill/>
          <a:ln w="22225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1997" name="Line 15">
            <a:extLst>
              <a:ext uri="{FF2B5EF4-FFF2-40B4-BE49-F238E27FC236}">
                <a16:creationId xmlns:a16="http://schemas.microsoft.com/office/drawing/2014/main" id="{30C7A88C-BAC5-D0EB-2264-AA84E349F4D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3124200"/>
            <a:ext cx="1295400" cy="76200"/>
          </a:xfrm>
          <a:prstGeom prst="line">
            <a:avLst/>
          </a:prstGeom>
          <a:noFill/>
          <a:ln w="22225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1998" name="Line 16">
            <a:extLst>
              <a:ext uri="{FF2B5EF4-FFF2-40B4-BE49-F238E27FC236}">
                <a16:creationId xmlns:a16="http://schemas.microsoft.com/office/drawing/2014/main" id="{97368F66-6991-305A-40AC-877C4000B1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8800" y="3124200"/>
            <a:ext cx="228600" cy="76200"/>
          </a:xfrm>
          <a:prstGeom prst="line">
            <a:avLst/>
          </a:prstGeom>
          <a:noFill/>
          <a:ln w="22225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1999" name="Line 17">
            <a:extLst>
              <a:ext uri="{FF2B5EF4-FFF2-40B4-BE49-F238E27FC236}">
                <a16:creationId xmlns:a16="http://schemas.microsoft.com/office/drawing/2014/main" id="{D2D2C565-B5AA-CF71-ADB6-E3465B2D67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52800" y="3124200"/>
            <a:ext cx="228600" cy="76200"/>
          </a:xfrm>
          <a:prstGeom prst="line">
            <a:avLst/>
          </a:prstGeom>
          <a:noFill/>
          <a:ln w="22225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2000" name="Line 18">
            <a:extLst>
              <a:ext uri="{FF2B5EF4-FFF2-40B4-BE49-F238E27FC236}">
                <a16:creationId xmlns:a16="http://schemas.microsoft.com/office/drawing/2014/main" id="{734F549D-51FC-4625-038D-4CB2F89C3F2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0600" y="3124200"/>
            <a:ext cx="228600" cy="76200"/>
          </a:xfrm>
          <a:prstGeom prst="line">
            <a:avLst/>
          </a:prstGeom>
          <a:noFill/>
          <a:ln w="22225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2001" name="Line 19">
            <a:extLst>
              <a:ext uri="{FF2B5EF4-FFF2-40B4-BE49-F238E27FC236}">
                <a16:creationId xmlns:a16="http://schemas.microsoft.com/office/drawing/2014/main" id="{9BE61B3A-7C79-7B91-4FC9-8DD7900498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24600" y="3124200"/>
            <a:ext cx="228600" cy="76200"/>
          </a:xfrm>
          <a:prstGeom prst="line">
            <a:avLst/>
          </a:prstGeom>
          <a:noFill/>
          <a:ln w="22225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2002" name="Line 20">
            <a:extLst>
              <a:ext uri="{FF2B5EF4-FFF2-40B4-BE49-F238E27FC236}">
                <a16:creationId xmlns:a16="http://schemas.microsoft.com/office/drawing/2014/main" id="{FA9953D8-AEEF-503F-413C-44A128436D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72400" y="3124200"/>
            <a:ext cx="228600" cy="76200"/>
          </a:xfrm>
          <a:prstGeom prst="line">
            <a:avLst/>
          </a:prstGeom>
          <a:noFill/>
          <a:ln w="22225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42003" name="Group 21">
            <a:extLst>
              <a:ext uri="{FF2B5EF4-FFF2-40B4-BE49-F238E27FC236}">
                <a16:creationId xmlns:a16="http://schemas.microsoft.com/office/drawing/2014/main" id="{55AAF635-9CBD-3027-F30F-CE9DFB891936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4343400"/>
            <a:ext cx="3543300" cy="2133600"/>
            <a:chOff x="1560" y="2496"/>
            <a:chExt cx="2232" cy="1344"/>
          </a:xfrm>
        </p:grpSpPr>
        <p:grpSp>
          <p:nvGrpSpPr>
            <p:cNvPr id="42018" name="Group 22">
              <a:extLst>
                <a:ext uri="{FF2B5EF4-FFF2-40B4-BE49-F238E27FC236}">
                  <a16:creationId xmlns:a16="http://schemas.microsoft.com/office/drawing/2014/main" id="{F8E3BA38-A02B-CC04-E58F-CAA2A78B6A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60" y="2976"/>
              <a:ext cx="240" cy="240"/>
              <a:chOff x="768" y="3312"/>
              <a:chExt cx="240" cy="240"/>
            </a:xfrm>
          </p:grpSpPr>
          <p:sp>
            <p:nvSpPr>
              <p:cNvPr id="42059" name="Oval 23">
                <a:extLst>
                  <a:ext uri="{FF2B5EF4-FFF2-40B4-BE49-F238E27FC236}">
                    <a16:creationId xmlns:a16="http://schemas.microsoft.com/office/drawing/2014/main" id="{407037B7-0DF1-FD15-D380-4B565CCDE2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331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2060" name="Freeform 24">
                <a:extLst>
                  <a:ext uri="{FF2B5EF4-FFF2-40B4-BE49-F238E27FC236}">
                    <a16:creationId xmlns:a16="http://schemas.microsoft.com/office/drawing/2014/main" id="{41378155-5DB1-FEBC-CF77-410672F059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4" y="3385"/>
                <a:ext cx="192" cy="96"/>
              </a:xfrm>
              <a:custGeom>
                <a:avLst/>
                <a:gdLst>
                  <a:gd name="T0" fmla="*/ 0 w 192"/>
                  <a:gd name="T1" fmla="*/ 48 h 96"/>
                  <a:gd name="T2" fmla="*/ 48 w 192"/>
                  <a:gd name="T3" fmla="*/ 0 h 96"/>
                  <a:gd name="T4" fmla="*/ 96 w 192"/>
                  <a:gd name="T5" fmla="*/ 48 h 96"/>
                  <a:gd name="T6" fmla="*/ 144 w 192"/>
                  <a:gd name="T7" fmla="*/ 96 h 96"/>
                  <a:gd name="T8" fmla="*/ 192 w 192"/>
                  <a:gd name="T9" fmla="*/ 48 h 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2"/>
                  <a:gd name="T16" fmla="*/ 0 h 96"/>
                  <a:gd name="T17" fmla="*/ 192 w 192"/>
                  <a:gd name="T18" fmla="*/ 96 h 9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2" h="96">
                    <a:moveTo>
                      <a:pt x="0" y="48"/>
                    </a:moveTo>
                    <a:cubicBezTo>
                      <a:pt x="16" y="24"/>
                      <a:pt x="32" y="0"/>
                      <a:pt x="48" y="0"/>
                    </a:cubicBezTo>
                    <a:cubicBezTo>
                      <a:pt x="64" y="0"/>
                      <a:pt x="80" y="32"/>
                      <a:pt x="96" y="48"/>
                    </a:cubicBezTo>
                    <a:cubicBezTo>
                      <a:pt x="112" y="64"/>
                      <a:pt x="128" y="96"/>
                      <a:pt x="144" y="96"/>
                    </a:cubicBezTo>
                    <a:cubicBezTo>
                      <a:pt x="160" y="96"/>
                      <a:pt x="184" y="56"/>
                      <a:pt x="192" y="48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42019" name="Group 25">
              <a:extLst>
                <a:ext uri="{FF2B5EF4-FFF2-40B4-BE49-F238E27FC236}">
                  <a16:creationId xmlns:a16="http://schemas.microsoft.com/office/drawing/2014/main" id="{BE38775F-C80D-BD6B-5D11-109945F3EF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3312"/>
              <a:ext cx="96" cy="336"/>
              <a:chOff x="1104" y="3264"/>
              <a:chExt cx="96" cy="336"/>
            </a:xfrm>
          </p:grpSpPr>
          <p:sp>
            <p:nvSpPr>
              <p:cNvPr id="42052" name="Line 26">
                <a:extLst>
                  <a:ext uri="{FF2B5EF4-FFF2-40B4-BE49-F238E27FC236}">
                    <a16:creationId xmlns:a16="http://schemas.microsoft.com/office/drawing/2014/main" id="{0B7B6FD5-1AF0-88D5-8769-6F5FA7E7CE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3264"/>
                <a:ext cx="48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2053" name="Line 27">
                <a:extLst>
                  <a:ext uri="{FF2B5EF4-FFF2-40B4-BE49-F238E27FC236}">
                    <a16:creationId xmlns:a16="http://schemas.microsoft.com/office/drawing/2014/main" id="{F20621DD-1CCF-4EF5-90CE-29C22E43D9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04" y="3312"/>
                <a:ext cx="96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2054" name="Line 28">
                <a:extLst>
                  <a:ext uri="{FF2B5EF4-FFF2-40B4-BE49-F238E27FC236}">
                    <a16:creationId xmlns:a16="http://schemas.microsoft.com/office/drawing/2014/main" id="{8BD6F2C4-58B2-8580-EA30-C872926F50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360"/>
                <a:ext cx="96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2055" name="Line 29">
                <a:extLst>
                  <a:ext uri="{FF2B5EF4-FFF2-40B4-BE49-F238E27FC236}">
                    <a16:creationId xmlns:a16="http://schemas.microsoft.com/office/drawing/2014/main" id="{03130548-2D6D-1BD5-2742-76722B6F87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04" y="3408"/>
                <a:ext cx="96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2056" name="Line 30">
                <a:extLst>
                  <a:ext uri="{FF2B5EF4-FFF2-40B4-BE49-F238E27FC236}">
                    <a16:creationId xmlns:a16="http://schemas.microsoft.com/office/drawing/2014/main" id="{6A5CFB7C-1B0C-3576-9949-B1EB909853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456"/>
                <a:ext cx="96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2057" name="Line 31">
                <a:extLst>
                  <a:ext uri="{FF2B5EF4-FFF2-40B4-BE49-F238E27FC236}">
                    <a16:creationId xmlns:a16="http://schemas.microsoft.com/office/drawing/2014/main" id="{5C030460-5BBF-20DC-F05E-60587D5410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04" y="3504"/>
                <a:ext cx="96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2058" name="Line 32">
                <a:extLst>
                  <a:ext uri="{FF2B5EF4-FFF2-40B4-BE49-F238E27FC236}">
                    <a16:creationId xmlns:a16="http://schemas.microsoft.com/office/drawing/2014/main" id="{C34E1880-4E0F-81B1-83E3-936BF36A90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552"/>
                <a:ext cx="48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42020" name="Line 33">
              <a:extLst>
                <a:ext uri="{FF2B5EF4-FFF2-40B4-BE49-F238E27FC236}">
                  <a16:creationId xmlns:a16="http://schemas.microsoft.com/office/drawing/2014/main" id="{F10BB6D5-8892-E221-135A-0A8F811646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4" y="3120"/>
              <a:ext cx="0" cy="19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2021" name="Line 34">
              <a:extLst>
                <a:ext uri="{FF2B5EF4-FFF2-40B4-BE49-F238E27FC236}">
                  <a16:creationId xmlns:a16="http://schemas.microsoft.com/office/drawing/2014/main" id="{7F60C760-3C84-C709-48DD-EB65E6E021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3648"/>
              <a:ext cx="0" cy="19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42022" name="Group 35">
              <a:extLst>
                <a:ext uri="{FF2B5EF4-FFF2-40B4-BE49-F238E27FC236}">
                  <a16:creationId xmlns:a16="http://schemas.microsoft.com/office/drawing/2014/main" id="{B9D0F280-033D-8079-55D7-803C04F28A72}"/>
                </a:ext>
              </a:extLst>
            </p:cNvPr>
            <p:cNvGrpSpPr>
              <a:grpSpLocks/>
            </p:cNvGrpSpPr>
            <p:nvPr/>
          </p:nvGrpSpPr>
          <p:grpSpPr bwMode="auto">
            <a:xfrm rot="2695030">
              <a:off x="2112" y="3311"/>
              <a:ext cx="768" cy="145"/>
              <a:chOff x="912" y="3023"/>
              <a:chExt cx="768" cy="145"/>
            </a:xfrm>
          </p:grpSpPr>
          <p:sp>
            <p:nvSpPr>
              <p:cNvPr id="42049" name="Line 36">
                <a:extLst>
                  <a:ext uri="{FF2B5EF4-FFF2-40B4-BE49-F238E27FC236}">
                    <a16:creationId xmlns:a16="http://schemas.microsoft.com/office/drawing/2014/main" id="{A5F9933F-85E7-EF96-5794-E3B7C3B8E4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1296" y="2712"/>
                <a:ext cx="0" cy="76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2050" name="AutoShape 37">
                <a:extLst>
                  <a:ext uri="{FF2B5EF4-FFF2-40B4-BE49-F238E27FC236}">
                    <a16:creationId xmlns:a16="http://schemas.microsoft.com/office/drawing/2014/main" id="{56EC0961-CC2F-9D92-61E3-E258B8F1A1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V="1">
                <a:off x="1224" y="3048"/>
                <a:ext cx="144" cy="96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 w="317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2051" name="Line 38">
                <a:extLst>
                  <a:ext uri="{FF2B5EF4-FFF2-40B4-BE49-F238E27FC236}">
                    <a16:creationId xmlns:a16="http://schemas.microsoft.com/office/drawing/2014/main" id="{CA66C8A0-4D60-4569-1F27-8CA19EBA52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1271" y="3095"/>
                <a:ext cx="144" cy="0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42023" name="Group 39">
              <a:extLst>
                <a:ext uri="{FF2B5EF4-FFF2-40B4-BE49-F238E27FC236}">
                  <a16:creationId xmlns:a16="http://schemas.microsoft.com/office/drawing/2014/main" id="{947A8E82-D107-7EE9-B90A-DCCD2D4B4A41}"/>
                </a:ext>
              </a:extLst>
            </p:cNvPr>
            <p:cNvGrpSpPr>
              <a:grpSpLocks/>
            </p:cNvGrpSpPr>
            <p:nvPr/>
          </p:nvGrpSpPr>
          <p:grpSpPr bwMode="auto">
            <a:xfrm rot="18904970" flipV="1">
              <a:off x="2112" y="2784"/>
              <a:ext cx="768" cy="145"/>
              <a:chOff x="912" y="3023"/>
              <a:chExt cx="768" cy="145"/>
            </a:xfrm>
          </p:grpSpPr>
          <p:sp>
            <p:nvSpPr>
              <p:cNvPr id="42046" name="Line 40">
                <a:extLst>
                  <a:ext uri="{FF2B5EF4-FFF2-40B4-BE49-F238E27FC236}">
                    <a16:creationId xmlns:a16="http://schemas.microsoft.com/office/drawing/2014/main" id="{E3EC7558-0D10-388F-7344-DA026C329C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1296" y="2712"/>
                <a:ext cx="0" cy="76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2047" name="AutoShape 41">
                <a:extLst>
                  <a:ext uri="{FF2B5EF4-FFF2-40B4-BE49-F238E27FC236}">
                    <a16:creationId xmlns:a16="http://schemas.microsoft.com/office/drawing/2014/main" id="{B8A2438E-B97F-BD3E-6333-B5FCEC498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V="1">
                <a:off x="1224" y="3048"/>
                <a:ext cx="144" cy="96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 w="317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2048" name="Line 42">
                <a:extLst>
                  <a:ext uri="{FF2B5EF4-FFF2-40B4-BE49-F238E27FC236}">
                    <a16:creationId xmlns:a16="http://schemas.microsoft.com/office/drawing/2014/main" id="{7B725802-FB70-65FE-386C-485FEE68E9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1271" y="3095"/>
                <a:ext cx="144" cy="0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42024" name="Group 43">
              <a:extLst>
                <a:ext uri="{FF2B5EF4-FFF2-40B4-BE49-F238E27FC236}">
                  <a16:creationId xmlns:a16="http://schemas.microsoft.com/office/drawing/2014/main" id="{A33EF8A6-CFCD-EEA5-9AA9-8093A2EDF812}"/>
                </a:ext>
              </a:extLst>
            </p:cNvPr>
            <p:cNvGrpSpPr>
              <a:grpSpLocks/>
            </p:cNvGrpSpPr>
            <p:nvPr/>
          </p:nvGrpSpPr>
          <p:grpSpPr bwMode="auto">
            <a:xfrm rot="2695030">
              <a:off x="2640" y="2784"/>
              <a:ext cx="768" cy="145"/>
              <a:chOff x="912" y="3023"/>
              <a:chExt cx="768" cy="145"/>
            </a:xfrm>
          </p:grpSpPr>
          <p:sp>
            <p:nvSpPr>
              <p:cNvPr id="42043" name="Line 44">
                <a:extLst>
                  <a:ext uri="{FF2B5EF4-FFF2-40B4-BE49-F238E27FC236}">
                    <a16:creationId xmlns:a16="http://schemas.microsoft.com/office/drawing/2014/main" id="{20B819B3-C4B1-6A1E-AEDF-A95FBA25BF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1296" y="2712"/>
                <a:ext cx="0" cy="76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2044" name="AutoShape 45">
                <a:extLst>
                  <a:ext uri="{FF2B5EF4-FFF2-40B4-BE49-F238E27FC236}">
                    <a16:creationId xmlns:a16="http://schemas.microsoft.com/office/drawing/2014/main" id="{A9527CF3-D474-8CB2-CE41-488C02526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V="1">
                <a:off x="1224" y="3048"/>
                <a:ext cx="144" cy="96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 w="317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2045" name="Line 46">
                <a:extLst>
                  <a:ext uri="{FF2B5EF4-FFF2-40B4-BE49-F238E27FC236}">
                    <a16:creationId xmlns:a16="http://schemas.microsoft.com/office/drawing/2014/main" id="{97AE5A9A-EDFD-6099-BA9F-1DD9279096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1271" y="3095"/>
                <a:ext cx="144" cy="0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42025" name="Group 47">
              <a:extLst>
                <a:ext uri="{FF2B5EF4-FFF2-40B4-BE49-F238E27FC236}">
                  <a16:creationId xmlns:a16="http://schemas.microsoft.com/office/drawing/2014/main" id="{ECF5EBF2-99C4-1B9B-B411-EB686C16846C}"/>
                </a:ext>
              </a:extLst>
            </p:cNvPr>
            <p:cNvGrpSpPr>
              <a:grpSpLocks/>
            </p:cNvGrpSpPr>
            <p:nvPr/>
          </p:nvGrpSpPr>
          <p:grpSpPr bwMode="auto">
            <a:xfrm rot="18904970" flipV="1">
              <a:off x="2640" y="3311"/>
              <a:ext cx="768" cy="145"/>
              <a:chOff x="912" y="3023"/>
              <a:chExt cx="768" cy="145"/>
            </a:xfrm>
          </p:grpSpPr>
          <p:sp>
            <p:nvSpPr>
              <p:cNvPr id="42040" name="Line 48">
                <a:extLst>
                  <a:ext uri="{FF2B5EF4-FFF2-40B4-BE49-F238E27FC236}">
                    <a16:creationId xmlns:a16="http://schemas.microsoft.com/office/drawing/2014/main" id="{AFAFB527-AF03-7512-F108-D21936A1CB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1296" y="2712"/>
                <a:ext cx="0" cy="76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2041" name="AutoShape 49">
                <a:extLst>
                  <a:ext uri="{FF2B5EF4-FFF2-40B4-BE49-F238E27FC236}">
                    <a16:creationId xmlns:a16="http://schemas.microsoft.com/office/drawing/2014/main" id="{C36E3DBC-B0EE-D69A-ADEB-C01BCBF20B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V="1">
                <a:off x="1224" y="3048"/>
                <a:ext cx="144" cy="96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 w="317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2042" name="Line 50">
                <a:extLst>
                  <a:ext uri="{FF2B5EF4-FFF2-40B4-BE49-F238E27FC236}">
                    <a16:creationId xmlns:a16="http://schemas.microsoft.com/office/drawing/2014/main" id="{2ED36CD7-340B-FE4D-DB0A-42A328BCAF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1271" y="3095"/>
                <a:ext cx="144" cy="0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42026" name="Oval 51">
              <a:extLst>
                <a:ext uri="{FF2B5EF4-FFF2-40B4-BE49-F238E27FC236}">
                  <a16:creationId xmlns:a16="http://schemas.microsoft.com/office/drawing/2014/main" id="{1D722FE6-7BFA-3A05-E446-9E8609696A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573"/>
              <a:ext cx="48" cy="48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2027" name="Oval 52">
              <a:extLst>
                <a:ext uri="{FF2B5EF4-FFF2-40B4-BE49-F238E27FC236}">
                  <a16:creationId xmlns:a16="http://schemas.microsoft.com/office/drawing/2014/main" id="{1EF36915-0843-54D4-1E5D-0664291074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3616"/>
              <a:ext cx="48" cy="48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2028" name="Oval 53">
              <a:extLst>
                <a:ext uri="{FF2B5EF4-FFF2-40B4-BE49-F238E27FC236}">
                  <a16:creationId xmlns:a16="http://schemas.microsoft.com/office/drawing/2014/main" id="{9A01CFB8-BA3C-47A5-BBF0-64FA1A9C4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3092"/>
              <a:ext cx="48" cy="48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2029" name="Oval 54">
              <a:extLst>
                <a:ext uri="{FF2B5EF4-FFF2-40B4-BE49-F238E27FC236}">
                  <a16:creationId xmlns:a16="http://schemas.microsoft.com/office/drawing/2014/main" id="{D589D90A-5426-49D8-30EF-00FC948CF7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3092"/>
              <a:ext cx="48" cy="48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2030" name="Line 55">
              <a:extLst>
                <a:ext uri="{FF2B5EF4-FFF2-40B4-BE49-F238E27FC236}">
                  <a16:creationId xmlns:a16="http://schemas.microsoft.com/office/drawing/2014/main" id="{5C114C31-C43B-507C-3542-EF91622606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2496"/>
              <a:ext cx="0" cy="9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2031" name="Line 56">
              <a:extLst>
                <a:ext uri="{FF2B5EF4-FFF2-40B4-BE49-F238E27FC236}">
                  <a16:creationId xmlns:a16="http://schemas.microsoft.com/office/drawing/2014/main" id="{393A9C10-FC77-B75C-C8E6-B42FF95A23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80" y="2496"/>
              <a:ext cx="1056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2032" name="Line 57">
              <a:extLst>
                <a:ext uri="{FF2B5EF4-FFF2-40B4-BE49-F238E27FC236}">
                  <a16:creationId xmlns:a16="http://schemas.microsoft.com/office/drawing/2014/main" id="{071E3519-0AB6-A6D2-306C-15A2531E2B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2496"/>
              <a:ext cx="0" cy="48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2033" name="Line 58">
              <a:extLst>
                <a:ext uri="{FF2B5EF4-FFF2-40B4-BE49-F238E27FC236}">
                  <a16:creationId xmlns:a16="http://schemas.microsoft.com/office/drawing/2014/main" id="{5CBD42E1-86B9-CDF1-6AC0-B204509C39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3216"/>
              <a:ext cx="0" cy="52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2034" name="Line 59">
              <a:extLst>
                <a:ext uri="{FF2B5EF4-FFF2-40B4-BE49-F238E27FC236}">
                  <a16:creationId xmlns:a16="http://schemas.microsoft.com/office/drawing/2014/main" id="{3B228296-0154-F66B-9308-96BCE8FD3D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3648"/>
              <a:ext cx="0" cy="9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2035" name="Line 60">
              <a:extLst>
                <a:ext uri="{FF2B5EF4-FFF2-40B4-BE49-F238E27FC236}">
                  <a16:creationId xmlns:a16="http://schemas.microsoft.com/office/drawing/2014/main" id="{FA2C984E-F97C-42F4-9D43-8B328F1D07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80" y="3744"/>
              <a:ext cx="1056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2036" name="Line 61">
              <a:extLst>
                <a:ext uri="{FF2B5EF4-FFF2-40B4-BE49-F238E27FC236}">
                  <a16:creationId xmlns:a16="http://schemas.microsoft.com/office/drawing/2014/main" id="{BE0269B2-D9EC-4BAD-9320-9705628851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4" y="3120"/>
              <a:ext cx="144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2037" name="Line 62">
              <a:extLst>
                <a:ext uri="{FF2B5EF4-FFF2-40B4-BE49-F238E27FC236}">
                  <a16:creationId xmlns:a16="http://schemas.microsoft.com/office/drawing/2014/main" id="{67044D16-8334-2367-5EA4-CC86492DDF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3120"/>
              <a:ext cx="0" cy="72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2038" name="Line 63">
              <a:extLst>
                <a:ext uri="{FF2B5EF4-FFF2-40B4-BE49-F238E27FC236}">
                  <a16:creationId xmlns:a16="http://schemas.microsoft.com/office/drawing/2014/main" id="{30A334EC-301A-9CB8-7202-03A46F24FE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3840"/>
              <a:ext cx="1680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2039" name="Line 64">
              <a:extLst>
                <a:ext uri="{FF2B5EF4-FFF2-40B4-BE49-F238E27FC236}">
                  <a16:creationId xmlns:a16="http://schemas.microsoft.com/office/drawing/2014/main" id="{0086FE5B-5B1D-493D-7804-9AD94E6273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120"/>
              <a:ext cx="432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42004" name="Text Box 65">
            <a:extLst>
              <a:ext uri="{FF2B5EF4-FFF2-40B4-BE49-F238E27FC236}">
                <a16:creationId xmlns:a16="http://schemas.microsoft.com/office/drawing/2014/main" id="{91160FE4-5BDC-0CE2-4158-A9209602C3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6325" y="4510088"/>
            <a:ext cx="336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000000"/>
                </a:solidFill>
              </a:rPr>
              <a:t>A</a:t>
            </a:r>
            <a:endParaRPr lang="en-US" altLang="en-US" sz="1800"/>
          </a:p>
        </p:txBody>
      </p:sp>
      <p:sp>
        <p:nvSpPr>
          <p:cNvPr id="42005" name="Text Box 66">
            <a:extLst>
              <a:ext uri="{FF2B5EF4-FFF2-40B4-BE49-F238E27FC236}">
                <a16:creationId xmlns:a16="http://schemas.microsoft.com/office/drawing/2014/main" id="{EF5DD138-A22D-E386-5BA8-25682359B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5850" y="5715000"/>
            <a:ext cx="34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000000"/>
                </a:solidFill>
              </a:rPr>
              <a:t>C</a:t>
            </a:r>
            <a:endParaRPr lang="en-US" altLang="en-US" sz="1800"/>
          </a:p>
        </p:txBody>
      </p:sp>
      <p:sp>
        <p:nvSpPr>
          <p:cNvPr id="42006" name="Text Box 67">
            <a:extLst>
              <a:ext uri="{FF2B5EF4-FFF2-40B4-BE49-F238E27FC236}">
                <a16:creationId xmlns:a16="http://schemas.microsoft.com/office/drawing/2014/main" id="{BAD77ECF-3116-EBBA-BDC6-5D9626A58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2050" y="4510088"/>
            <a:ext cx="336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000000"/>
                </a:solidFill>
              </a:rPr>
              <a:t>B</a:t>
            </a:r>
            <a:endParaRPr lang="en-US" altLang="en-US" sz="1800"/>
          </a:p>
        </p:txBody>
      </p:sp>
      <p:sp>
        <p:nvSpPr>
          <p:cNvPr id="42007" name="Text Box 68">
            <a:extLst>
              <a:ext uri="{FF2B5EF4-FFF2-40B4-BE49-F238E27FC236}">
                <a16:creationId xmlns:a16="http://schemas.microsoft.com/office/drawing/2014/main" id="{D67A67AD-E666-3663-A6D0-50459932E3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5700" y="5791200"/>
            <a:ext cx="34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rgbClr val="000000"/>
                </a:solidFill>
              </a:rPr>
              <a:t>D</a:t>
            </a:r>
            <a:endParaRPr lang="en-US" altLang="en-US" sz="1800"/>
          </a:p>
        </p:txBody>
      </p:sp>
      <p:sp>
        <p:nvSpPr>
          <p:cNvPr id="42008" name="Text Box 69">
            <a:extLst>
              <a:ext uri="{FF2B5EF4-FFF2-40B4-BE49-F238E27FC236}">
                <a16:creationId xmlns:a16="http://schemas.microsoft.com/office/drawing/2014/main" id="{6EAA4E8B-5BF9-38B3-EAD4-A0471E111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724400"/>
            <a:ext cx="1250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solidFill>
                  <a:schemeClr val="accent2"/>
                </a:solidFill>
              </a:rPr>
              <a:t>AC source</a:t>
            </a:r>
          </a:p>
        </p:txBody>
      </p:sp>
      <p:sp>
        <p:nvSpPr>
          <p:cNvPr id="42009" name="Text Box 70">
            <a:extLst>
              <a:ext uri="{FF2B5EF4-FFF2-40B4-BE49-F238E27FC236}">
                <a16:creationId xmlns:a16="http://schemas.microsoft.com/office/drawing/2014/main" id="{52ED5E0F-E514-1785-2349-1A8BD8AC81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0450" y="5638800"/>
            <a:ext cx="615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solidFill>
                  <a:schemeClr val="accent2"/>
                </a:solidFill>
              </a:rPr>
              <a:t>load</a:t>
            </a:r>
          </a:p>
        </p:txBody>
      </p:sp>
      <p:sp>
        <p:nvSpPr>
          <p:cNvPr id="42010" name="Line 71">
            <a:extLst>
              <a:ext uri="{FF2B5EF4-FFF2-40B4-BE49-F238E27FC236}">
                <a16:creationId xmlns:a16="http://schemas.microsoft.com/office/drawing/2014/main" id="{B02CFDF0-8F73-4399-FBAB-8A77CACBCD53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5334000"/>
            <a:ext cx="0" cy="45720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2011" name="Line 72">
            <a:extLst>
              <a:ext uri="{FF2B5EF4-FFF2-40B4-BE49-F238E27FC236}">
                <a16:creationId xmlns:a16="http://schemas.microsoft.com/office/drawing/2014/main" id="{EFBF33FC-150B-73A0-B457-22736C0A26E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5791200"/>
            <a:ext cx="474663" cy="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2012" name="Line 73">
            <a:extLst>
              <a:ext uri="{FF2B5EF4-FFF2-40B4-BE49-F238E27FC236}">
                <a16:creationId xmlns:a16="http://schemas.microsoft.com/office/drawing/2014/main" id="{071807C2-625C-1E15-A318-E872A3895189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5943600"/>
            <a:ext cx="474663" cy="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2013" name="Line 74">
            <a:extLst>
              <a:ext uri="{FF2B5EF4-FFF2-40B4-BE49-F238E27FC236}">
                <a16:creationId xmlns:a16="http://schemas.microsoft.com/office/drawing/2014/main" id="{232D1A6C-EDB9-A778-3E98-B93125BBE54E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5943600"/>
            <a:ext cx="0" cy="53340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2014" name="Line 75">
            <a:extLst>
              <a:ext uri="{FF2B5EF4-FFF2-40B4-BE49-F238E27FC236}">
                <a16:creationId xmlns:a16="http://schemas.microsoft.com/office/drawing/2014/main" id="{F927047C-6486-FACA-9D87-E7ABB0B1FAB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19600" y="4800600"/>
            <a:ext cx="304800" cy="914400"/>
          </a:xfrm>
          <a:prstGeom prst="line">
            <a:avLst/>
          </a:prstGeom>
          <a:noFill/>
          <a:ln w="158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2015" name="Text Box 76">
            <a:extLst>
              <a:ext uri="{FF2B5EF4-FFF2-40B4-BE49-F238E27FC236}">
                <a16:creationId xmlns:a16="http://schemas.microsoft.com/office/drawing/2014/main" id="{F7363A90-A430-BF17-171B-AEB4142FB1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4725" y="4532313"/>
            <a:ext cx="1111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solidFill>
                  <a:schemeClr val="hlink"/>
                </a:solidFill>
              </a:rPr>
              <a:t>capacitor</a:t>
            </a:r>
            <a:endParaRPr lang="en-US" altLang="en-US" sz="1800">
              <a:solidFill>
                <a:schemeClr val="accent2"/>
              </a:solidFill>
            </a:endParaRPr>
          </a:p>
        </p:txBody>
      </p:sp>
      <p:pic>
        <p:nvPicPr>
          <p:cNvPr id="42016" name="Picture 77" descr="cap">
            <a:extLst>
              <a:ext uri="{FF2B5EF4-FFF2-40B4-BE49-F238E27FC236}">
                <a16:creationId xmlns:a16="http://schemas.microsoft.com/office/drawing/2014/main" id="{0513DF95-6637-A22A-6F72-86A48C38FF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4038600"/>
            <a:ext cx="180340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017" name="Picture 78" descr="caps2">
            <a:extLst>
              <a:ext uri="{FF2B5EF4-FFF2-40B4-BE49-F238E27FC236}">
                <a16:creationId xmlns:a16="http://schemas.microsoft.com/office/drawing/2014/main" id="{C662E9C3-C3D5-6F69-8198-616715FAB5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2525" y="5208588"/>
            <a:ext cx="1997075" cy="1497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Date Placeholder 3">
            <a:extLst>
              <a:ext uri="{FF2B5EF4-FFF2-40B4-BE49-F238E27FC236}">
                <a16:creationId xmlns:a16="http://schemas.microsoft.com/office/drawing/2014/main" id="{68469E08-9C06-A00B-CCCE-BF21FEB8A31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Winter 2012</a:t>
            </a:r>
          </a:p>
        </p:txBody>
      </p:sp>
      <p:sp>
        <p:nvSpPr>
          <p:cNvPr id="44035" name="Footer Placeholder 4">
            <a:extLst>
              <a:ext uri="{FF2B5EF4-FFF2-40B4-BE49-F238E27FC236}">
                <a16:creationId xmlns:a16="http://schemas.microsoft.com/office/drawing/2014/main" id="{FBC6F28F-4FA2-5B58-34A6-45EDEB40B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UCSD: Physics 121; 2012</a:t>
            </a:r>
          </a:p>
        </p:txBody>
      </p:sp>
      <p:sp>
        <p:nvSpPr>
          <p:cNvPr id="44036" name="Slide Number Placeholder 5">
            <a:extLst>
              <a:ext uri="{FF2B5EF4-FFF2-40B4-BE49-F238E27FC236}">
                <a16:creationId xmlns:a16="http://schemas.microsoft.com/office/drawing/2014/main" id="{D52D1727-98F6-93CA-5884-2E2305598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F2BC693-E5EA-4E1F-B6CE-95ABE3FE952E}" type="slidenum">
              <a:rPr lang="en-US" altLang="en-US" sz="1400"/>
              <a:pPr/>
              <a:t>14</a:t>
            </a:fld>
            <a:endParaRPr lang="en-US" altLang="en-US" sz="1400"/>
          </a:p>
        </p:txBody>
      </p:sp>
      <p:sp>
        <p:nvSpPr>
          <p:cNvPr id="98306" name="Rectangle 2">
            <a:extLst>
              <a:ext uri="{FF2B5EF4-FFF2-40B4-BE49-F238E27FC236}">
                <a16:creationId xmlns:a16="http://schemas.microsoft.com/office/drawing/2014/main" id="{F3E8A781-2DD0-8BC8-8192-8F53EAD54A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How smooth is smooth?</a:t>
            </a:r>
          </a:p>
        </p:txBody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BC5171AC-5BB5-297F-133B-47196C795D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An RC circuit has a time constant </a:t>
            </a:r>
            <a:r>
              <a:rPr lang="en-US" altLang="en-US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</a:t>
            </a:r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 = </a:t>
            </a:r>
            <a:r>
              <a:rPr lang="en-US" altLang="en-US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RC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en-US"/>
              <a:t>because </a:t>
            </a:r>
            <a:r>
              <a:rPr lang="en-US" altLang="en-US" i="1"/>
              <a:t>dV</a:t>
            </a:r>
            <a:r>
              <a:rPr lang="en-US" altLang="en-US"/>
              <a:t>/</a:t>
            </a:r>
            <a:r>
              <a:rPr lang="en-US" altLang="en-US" i="1"/>
              <a:t>dt</a:t>
            </a:r>
            <a:r>
              <a:rPr lang="en-US" altLang="en-US"/>
              <a:t> = </a:t>
            </a:r>
            <a:r>
              <a:rPr lang="en-US" altLang="en-US" i="1"/>
              <a:t>I</a:t>
            </a:r>
            <a:r>
              <a:rPr lang="en-US" altLang="en-US"/>
              <a:t>/</a:t>
            </a:r>
            <a:r>
              <a:rPr lang="en-US" altLang="en-US" i="1"/>
              <a:t>C</a:t>
            </a:r>
            <a:r>
              <a:rPr lang="en-US" altLang="en-US"/>
              <a:t>, and </a:t>
            </a:r>
            <a:r>
              <a:rPr lang="en-US" altLang="en-US" i="1"/>
              <a:t>I = V</a:t>
            </a:r>
            <a:r>
              <a:rPr lang="en-US" altLang="en-US"/>
              <a:t>/</a:t>
            </a:r>
            <a:r>
              <a:rPr lang="en-US" altLang="en-US" i="1"/>
              <a:t>R</a:t>
            </a:r>
            <a:r>
              <a:rPr lang="en-US" altLang="en-US"/>
              <a:t> </a:t>
            </a:r>
            <a:r>
              <a:rPr lang="en-US" altLang="en-US">
                <a:sym typeface="Symbol" panose="05050102010706020507" pitchFamily="18" charset="2"/>
              </a:rPr>
              <a:t> </a:t>
            </a:r>
            <a:r>
              <a:rPr lang="en-US" altLang="en-US" i="1">
                <a:sym typeface="Symbol" panose="05050102010706020507" pitchFamily="18" charset="2"/>
              </a:rPr>
              <a:t>dV</a:t>
            </a:r>
            <a:r>
              <a:rPr lang="en-US" altLang="en-US">
                <a:sym typeface="Symbol" panose="05050102010706020507" pitchFamily="18" charset="2"/>
              </a:rPr>
              <a:t>/</a:t>
            </a:r>
            <a:r>
              <a:rPr lang="en-US" altLang="en-US" i="1">
                <a:sym typeface="Symbol" panose="05050102010706020507" pitchFamily="18" charset="2"/>
              </a:rPr>
              <a:t>dt</a:t>
            </a:r>
            <a:r>
              <a:rPr lang="en-US" altLang="en-US">
                <a:sym typeface="Symbol" panose="05050102010706020507" pitchFamily="18" charset="2"/>
              </a:rPr>
              <a:t> = </a:t>
            </a:r>
            <a:r>
              <a:rPr lang="en-US" altLang="en-US" i="1">
                <a:sym typeface="Symbol" panose="05050102010706020507" pitchFamily="18" charset="2"/>
              </a:rPr>
              <a:t>V</a:t>
            </a:r>
            <a:r>
              <a:rPr lang="en-US" altLang="en-US">
                <a:sym typeface="Symbol" panose="05050102010706020507" pitchFamily="18" charset="2"/>
              </a:rPr>
              <a:t>/</a:t>
            </a:r>
            <a:r>
              <a:rPr lang="en-US" altLang="en-US" i="1">
                <a:sym typeface="Symbol" panose="05050102010706020507" pitchFamily="18" charset="2"/>
              </a:rPr>
              <a:t>RC</a:t>
            </a:r>
            <a:endParaRPr lang="en-US" altLang="en-US"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so </a:t>
            </a:r>
            <a:r>
              <a:rPr lang="en-US" altLang="en-US" i="1">
                <a:sym typeface="Symbol" panose="05050102010706020507" pitchFamily="18" charset="2"/>
              </a:rPr>
              <a:t>V</a:t>
            </a:r>
            <a:r>
              <a:rPr lang="en-US" altLang="en-US">
                <a:sym typeface="Symbol" panose="05050102010706020507" pitchFamily="18" charset="2"/>
              </a:rPr>
              <a:t> is </a:t>
            </a:r>
            <a:r>
              <a:rPr lang="en-US" altLang="en-US" i="1">
                <a:sym typeface="Symbol" panose="05050102010706020507" pitchFamily="18" charset="2"/>
              </a:rPr>
              <a:t>V</a:t>
            </a:r>
            <a:r>
              <a:rPr lang="en-US" altLang="en-US" baseline="-25000">
                <a:sym typeface="Symbol" panose="05050102010706020507" pitchFamily="18" charset="2"/>
              </a:rPr>
              <a:t>0</a:t>
            </a:r>
            <a:r>
              <a:rPr lang="en-US" altLang="en-US">
                <a:sym typeface="Symbol" panose="05050102010706020507" pitchFamily="18" charset="2"/>
              </a:rPr>
              <a:t>exp(</a:t>
            </a:r>
            <a:r>
              <a:rPr lang="en-US" altLang="en-US" i="1">
                <a:sym typeface="Symbol" panose="05050102010706020507" pitchFamily="18" charset="2"/>
              </a:rPr>
              <a:t>t</a:t>
            </a:r>
            <a:r>
              <a:rPr lang="en-US" altLang="en-US">
                <a:sym typeface="Symbol" panose="05050102010706020507" pitchFamily="18" charset="2"/>
              </a:rPr>
              <a:t>/</a:t>
            </a:r>
            <a:r>
              <a:rPr lang="en-US" altLang="en-US" i="1">
                <a:sym typeface="Symbol" panose="05050102010706020507" pitchFamily="18" charset="2"/>
              </a:rPr>
              <a:t></a:t>
            </a:r>
            <a:r>
              <a:rPr lang="en-US" altLang="en-US">
                <a:sym typeface="Symbol" panose="05050102010706020507" pitchFamily="18" charset="2"/>
              </a:rPr>
              <a:t>)</a:t>
            </a:r>
          </a:p>
          <a:p>
            <a:pPr eaLnBrk="1" hangingPunct="1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Any exponential function starts out with slope = Amplitude/</a:t>
            </a:r>
            <a:r>
              <a:rPr lang="en-US" altLang="en-US" i="1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</a:t>
            </a:r>
          </a:p>
          <a:p>
            <a:pPr eaLnBrk="1" hangingPunct="1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So if you want &lt; 10% ripple over 120 Hz (8.3 ms) timescale…</a:t>
            </a: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must have </a:t>
            </a:r>
            <a:r>
              <a:rPr lang="en-US" altLang="en-US" i="1">
                <a:sym typeface="Symbol" panose="05050102010706020507" pitchFamily="18" charset="2"/>
              </a:rPr>
              <a:t></a:t>
            </a:r>
            <a:r>
              <a:rPr lang="en-US" altLang="en-US">
                <a:sym typeface="Symbol" panose="05050102010706020507" pitchFamily="18" charset="2"/>
              </a:rPr>
              <a:t> = </a:t>
            </a:r>
            <a:r>
              <a:rPr lang="en-US" altLang="en-US" i="1">
                <a:sym typeface="Symbol" panose="05050102010706020507" pitchFamily="18" charset="2"/>
              </a:rPr>
              <a:t>RC</a:t>
            </a:r>
            <a:r>
              <a:rPr lang="en-US" altLang="en-US">
                <a:sym typeface="Symbol" panose="05050102010706020507" pitchFamily="18" charset="2"/>
              </a:rPr>
              <a:t> &gt; 83 ms</a:t>
            </a: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if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 = 100 , </a:t>
            </a:r>
            <a:r>
              <a:rPr lang="en-US" altLang="en-US" i="1">
                <a:sym typeface="Symbol" panose="05050102010706020507" pitchFamily="18" charset="2"/>
              </a:rPr>
              <a:t>C</a:t>
            </a:r>
            <a:r>
              <a:rPr lang="en-US" altLang="en-US">
                <a:sym typeface="Symbol" panose="05050102010706020507" pitchFamily="18" charset="2"/>
              </a:rPr>
              <a:t> &gt; 830 F</a:t>
            </a:r>
          </a:p>
        </p:txBody>
      </p:sp>
      <p:grpSp>
        <p:nvGrpSpPr>
          <p:cNvPr id="44039" name="Group 24">
            <a:extLst>
              <a:ext uri="{FF2B5EF4-FFF2-40B4-BE49-F238E27FC236}">
                <a16:creationId xmlns:a16="http://schemas.microsoft.com/office/drawing/2014/main" id="{E3D98618-0EC1-0473-4BD2-66D718F24B32}"/>
              </a:ext>
            </a:extLst>
          </p:cNvPr>
          <p:cNvGrpSpPr>
            <a:grpSpLocks/>
          </p:cNvGrpSpPr>
          <p:nvPr/>
        </p:nvGrpSpPr>
        <p:grpSpPr bwMode="auto">
          <a:xfrm>
            <a:off x="7575550" y="1066800"/>
            <a:ext cx="1416050" cy="1371600"/>
            <a:chOff x="4704" y="1152"/>
            <a:chExt cx="892" cy="864"/>
          </a:xfrm>
        </p:grpSpPr>
        <p:sp>
          <p:nvSpPr>
            <p:cNvPr id="44046" name="Freeform 4">
              <a:extLst>
                <a:ext uri="{FF2B5EF4-FFF2-40B4-BE49-F238E27FC236}">
                  <a16:creationId xmlns:a16="http://schemas.microsoft.com/office/drawing/2014/main" id="{BAE4FA3E-C379-5D8E-D288-ECC5FE2BC50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0" y="1344"/>
              <a:ext cx="96" cy="480"/>
            </a:xfrm>
            <a:custGeom>
              <a:avLst/>
              <a:gdLst>
                <a:gd name="T0" fmla="*/ 48 w 96"/>
                <a:gd name="T1" fmla="*/ 0 h 480"/>
                <a:gd name="T2" fmla="*/ 48 w 96"/>
                <a:gd name="T3" fmla="*/ 96 h 480"/>
                <a:gd name="T4" fmla="*/ 96 w 96"/>
                <a:gd name="T5" fmla="*/ 144 h 480"/>
                <a:gd name="T6" fmla="*/ 0 w 96"/>
                <a:gd name="T7" fmla="*/ 192 h 480"/>
                <a:gd name="T8" fmla="*/ 96 w 96"/>
                <a:gd name="T9" fmla="*/ 240 h 480"/>
                <a:gd name="T10" fmla="*/ 0 w 96"/>
                <a:gd name="T11" fmla="*/ 288 h 480"/>
                <a:gd name="T12" fmla="*/ 96 w 96"/>
                <a:gd name="T13" fmla="*/ 336 h 480"/>
                <a:gd name="T14" fmla="*/ 0 w 96"/>
                <a:gd name="T15" fmla="*/ 384 h 480"/>
                <a:gd name="T16" fmla="*/ 48 w 96"/>
                <a:gd name="T17" fmla="*/ 432 h 480"/>
                <a:gd name="T18" fmla="*/ 48 w 96"/>
                <a:gd name="T19" fmla="*/ 480 h 48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96"/>
                <a:gd name="T31" fmla="*/ 0 h 480"/>
                <a:gd name="T32" fmla="*/ 96 w 96"/>
                <a:gd name="T33" fmla="*/ 480 h 48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96" h="480">
                  <a:moveTo>
                    <a:pt x="48" y="0"/>
                  </a:moveTo>
                  <a:lnTo>
                    <a:pt x="48" y="96"/>
                  </a:lnTo>
                  <a:lnTo>
                    <a:pt x="96" y="144"/>
                  </a:lnTo>
                  <a:lnTo>
                    <a:pt x="0" y="192"/>
                  </a:lnTo>
                  <a:lnTo>
                    <a:pt x="96" y="240"/>
                  </a:lnTo>
                  <a:lnTo>
                    <a:pt x="0" y="288"/>
                  </a:lnTo>
                  <a:lnTo>
                    <a:pt x="96" y="336"/>
                  </a:lnTo>
                  <a:lnTo>
                    <a:pt x="0" y="384"/>
                  </a:lnTo>
                  <a:lnTo>
                    <a:pt x="48" y="432"/>
                  </a:lnTo>
                  <a:lnTo>
                    <a:pt x="48" y="48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44047" name="Group 5">
              <a:extLst>
                <a:ext uri="{FF2B5EF4-FFF2-40B4-BE49-F238E27FC236}">
                  <a16:creationId xmlns:a16="http://schemas.microsoft.com/office/drawing/2014/main" id="{29EC676E-7C72-6D83-2F97-F8AB6B4AF6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32" y="1824"/>
              <a:ext cx="192" cy="192"/>
              <a:chOff x="4032" y="1968"/>
              <a:chExt cx="192" cy="192"/>
            </a:xfrm>
          </p:grpSpPr>
          <p:sp>
            <p:nvSpPr>
              <p:cNvPr id="44061" name="Line 6">
                <a:extLst>
                  <a:ext uri="{FF2B5EF4-FFF2-40B4-BE49-F238E27FC236}">
                    <a16:creationId xmlns:a16="http://schemas.microsoft.com/office/drawing/2014/main" id="{AA135B3E-D8E2-D4D1-E706-21734C30B5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8" y="1968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4062" name="Line 7">
                <a:extLst>
                  <a:ext uri="{FF2B5EF4-FFF2-40B4-BE49-F238E27FC236}">
                    <a16:creationId xmlns:a16="http://schemas.microsoft.com/office/drawing/2014/main" id="{99E84B0C-A36B-FC88-2950-BD7E7AB962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7" y="2160"/>
                <a:ext cx="2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4063" name="Line 8">
                <a:extLst>
                  <a:ext uri="{FF2B5EF4-FFF2-40B4-BE49-F238E27FC236}">
                    <a16:creationId xmlns:a16="http://schemas.microsoft.com/office/drawing/2014/main" id="{DFD8836E-DCCD-4BB2-B272-04C4C43245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2112"/>
                <a:ext cx="9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4064" name="Line 9">
                <a:extLst>
                  <a:ext uri="{FF2B5EF4-FFF2-40B4-BE49-F238E27FC236}">
                    <a16:creationId xmlns:a16="http://schemas.microsoft.com/office/drawing/2014/main" id="{79D3D54A-9DA6-6CAD-E9A8-F634912091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2" y="2064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44048" name="Line 10">
              <a:extLst>
                <a:ext uri="{FF2B5EF4-FFF2-40B4-BE49-F238E27FC236}">
                  <a16:creationId xmlns:a16="http://schemas.microsoft.com/office/drawing/2014/main" id="{C745C882-CE63-15E2-19C2-5798501005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04" y="1344"/>
              <a:ext cx="62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4049" name="Line 11">
              <a:extLst>
                <a:ext uri="{FF2B5EF4-FFF2-40B4-BE49-F238E27FC236}">
                  <a16:creationId xmlns:a16="http://schemas.microsoft.com/office/drawing/2014/main" id="{8BBC265B-BA58-8A38-7D5F-76EDB5452D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1536"/>
              <a:ext cx="19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4050" name="Line 12">
              <a:extLst>
                <a:ext uri="{FF2B5EF4-FFF2-40B4-BE49-F238E27FC236}">
                  <a16:creationId xmlns:a16="http://schemas.microsoft.com/office/drawing/2014/main" id="{79158861-602C-34BE-24AE-78E35C13A0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1344"/>
              <a:ext cx="0" cy="1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4051" name="Line 13">
              <a:extLst>
                <a:ext uri="{FF2B5EF4-FFF2-40B4-BE49-F238E27FC236}">
                  <a16:creationId xmlns:a16="http://schemas.microsoft.com/office/drawing/2014/main" id="{7B02A703-25DA-CA20-E1DE-DC0E381115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1632"/>
              <a:ext cx="19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4052" name="Line 14">
              <a:extLst>
                <a:ext uri="{FF2B5EF4-FFF2-40B4-BE49-F238E27FC236}">
                  <a16:creationId xmlns:a16="http://schemas.microsoft.com/office/drawing/2014/main" id="{BC4F3091-146A-556A-B85D-0C088E96BE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1632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44053" name="Group 15">
              <a:extLst>
                <a:ext uri="{FF2B5EF4-FFF2-40B4-BE49-F238E27FC236}">
                  <a16:creationId xmlns:a16="http://schemas.microsoft.com/office/drawing/2014/main" id="{7AA1AA40-A232-5959-19C4-43AAA1BA20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0" y="1824"/>
              <a:ext cx="192" cy="192"/>
              <a:chOff x="4032" y="1968"/>
              <a:chExt cx="192" cy="192"/>
            </a:xfrm>
          </p:grpSpPr>
          <p:sp>
            <p:nvSpPr>
              <p:cNvPr id="44057" name="Line 16">
                <a:extLst>
                  <a:ext uri="{FF2B5EF4-FFF2-40B4-BE49-F238E27FC236}">
                    <a16:creationId xmlns:a16="http://schemas.microsoft.com/office/drawing/2014/main" id="{616C9BFC-C057-C6B1-B91C-84DBA70ACE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8" y="1968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4058" name="Line 17">
                <a:extLst>
                  <a:ext uri="{FF2B5EF4-FFF2-40B4-BE49-F238E27FC236}">
                    <a16:creationId xmlns:a16="http://schemas.microsoft.com/office/drawing/2014/main" id="{89F5E748-9B9B-B02B-2116-EB901E15F4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7" y="2160"/>
                <a:ext cx="2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4059" name="Line 18">
                <a:extLst>
                  <a:ext uri="{FF2B5EF4-FFF2-40B4-BE49-F238E27FC236}">
                    <a16:creationId xmlns:a16="http://schemas.microsoft.com/office/drawing/2014/main" id="{4DCEC331-49CD-9A59-0216-0A501A5D8D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2112"/>
                <a:ext cx="9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4060" name="Line 19">
                <a:extLst>
                  <a:ext uri="{FF2B5EF4-FFF2-40B4-BE49-F238E27FC236}">
                    <a16:creationId xmlns:a16="http://schemas.microsoft.com/office/drawing/2014/main" id="{7BB738E1-3935-2964-86EC-E43C2CDAEC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2" y="2064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44054" name="Text Box 21">
              <a:extLst>
                <a:ext uri="{FF2B5EF4-FFF2-40B4-BE49-F238E27FC236}">
                  <a16:creationId xmlns:a16="http://schemas.microsoft.com/office/drawing/2014/main" id="{BA04F1A6-0808-4410-7680-43874EF877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76" y="1536"/>
              <a:ext cx="2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</a:rPr>
                <a:t>R</a:t>
              </a:r>
              <a:endParaRPr lang="en-US" altLang="en-US" sz="1800"/>
            </a:p>
          </p:txBody>
        </p:sp>
        <p:sp>
          <p:nvSpPr>
            <p:cNvPr id="44055" name="Text Box 22">
              <a:extLst>
                <a:ext uri="{FF2B5EF4-FFF2-40B4-BE49-F238E27FC236}">
                  <a16:creationId xmlns:a16="http://schemas.microsoft.com/office/drawing/2014/main" id="{EED9401D-9876-02D5-3776-AD97BEB0FE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4" y="1536"/>
              <a:ext cx="2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</a:rPr>
                <a:t>C</a:t>
              </a:r>
              <a:endParaRPr lang="en-US" altLang="en-US" sz="1800"/>
            </a:p>
          </p:txBody>
        </p:sp>
        <p:sp>
          <p:nvSpPr>
            <p:cNvPr id="44056" name="Text Box 23">
              <a:extLst>
                <a:ext uri="{FF2B5EF4-FFF2-40B4-BE49-F238E27FC236}">
                  <a16:creationId xmlns:a16="http://schemas.microsoft.com/office/drawing/2014/main" id="{658863B2-0290-B834-46FA-CB386B8250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2" y="1152"/>
              <a:ext cx="2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 i="1">
                  <a:solidFill>
                    <a:srgbClr val="000000"/>
                  </a:solidFill>
                </a:rPr>
                <a:t>V</a:t>
              </a:r>
              <a:endParaRPr lang="en-US" altLang="en-US" sz="1800"/>
            </a:p>
          </p:txBody>
        </p:sp>
      </p:grpSp>
      <p:sp>
        <p:nvSpPr>
          <p:cNvPr id="44040" name="Line 25">
            <a:extLst>
              <a:ext uri="{FF2B5EF4-FFF2-40B4-BE49-F238E27FC236}">
                <a16:creationId xmlns:a16="http://schemas.microsoft.com/office/drawing/2014/main" id="{6AAFCDF2-3935-9D8E-4CA1-3EA414A6CBD5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4800600"/>
            <a:ext cx="0" cy="1447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4041" name="Line 26">
            <a:extLst>
              <a:ext uri="{FF2B5EF4-FFF2-40B4-BE49-F238E27FC236}">
                <a16:creationId xmlns:a16="http://schemas.microsoft.com/office/drawing/2014/main" id="{264A6DD7-745D-2394-7C1B-D73D2F5C9834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6248400"/>
            <a:ext cx="3200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4042" name="Line 27">
            <a:extLst>
              <a:ext uri="{FF2B5EF4-FFF2-40B4-BE49-F238E27FC236}">
                <a16:creationId xmlns:a16="http://schemas.microsoft.com/office/drawing/2014/main" id="{17C8E53D-20D4-A9A1-01F4-1C76A3490E37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4953000"/>
            <a:ext cx="1295400" cy="129540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4043" name="Freeform 29">
            <a:extLst>
              <a:ext uri="{FF2B5EF4-FFF2-40B4-BE49-F238E27FC236}">
                <a16:creationId xmlns:a16="http://schemas.microsoft.com/office/drawing/2014/main" id="{C2E006BB-38AD-7CFD-3707-9E686FC3C07E}"/>
              </a:ext>
            </a:extLst>
          </p:cNvPr>
          <p:cNvSpPr>
            <a:spLocks/>
          </p:cNvSpPr>
          <p:nvPr/>
        </p:nvSpPr>
        <p:spPr bwMode="auto">
          <a:xfrm>
            <a:off x="1371600" y="4953000"/>
            <a:ext cx="2722563" cy="1135063"/>
          </a:xfrm>
          <a:custGeom>
            <a:avLst/>
            <a:gdLst>
              <a:gd name="T0" fmla="*/ 0 w 1715"/>
              <a:gd name="T1" fmla="*/ 0 h 715"/>
              <a:gd name="T2" fmla="*/ 173891607 w 1715"/>
              <a:gd name="T3" fmla="*/ 173891652 h 715"/>
              <a:gd name="T4" fmla="*/ 322580059 w 1715"/>
              <a:gd name="T5" fmla="*/ 322580142 h 715"/>
              <a:gd name="T6" fmla="*/ 483870089 w 1715"/>
              <a:gd name="T7" fmla="*/ 451108961 h 715"/>
              <a:gd name="T8" fmla="*/ 745966387 w 1715"/>
              <a:gd name="T9" fmla="*/ 672882809 h 715"/>
              <a:gd name="T10" fmla="*/ 1108868954 w 1715"/>
              <a:gd name="T11" fmla="*/ 927417909 h 715"/>
              <a:gd name="T12" fmla="*/ 1565018112 w 1715"/>
              <a:gd name="T13" fmla="*/ 1176914281 h 715"/>
              <a:gd name="T14" fmla="*/ 2147483647 w 1715"/>
              <a:gd name="T15" fmla="*/ 1403728443 h 715"/>
              <a:gd name="T16" fmla="*/ 2147483647 w 1715"/>
              <a:gd name="T17" fmla="*/ 1565018514 h 715"/>
              <a:gd name="T18" fmla="*/ 2147483647 w 1715"/>
              <a:gd name="T19" fmla="*/ 1701107012 h 715"/>
              <a:gd name="T20" fmla="*/ 2147483647 w 1715"/>
              <a:gd name="T21" fmla="*/ 1801913306 h 715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715"/>
              <a:gd name="T34" fmla="*/ 0 h 715"/>
              <a:gd name="T35" fmla="*/ 1715 w 1715"/>
              <a:gd name="T36" fmla="*/ 715 h 715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715" h="715">
                <a:moveTo>
                  <a:pt x="0" y="0"/>
                </a:moveTo>
                <a:cubicBezTo>
                  <a:pt x="24" y="24"/>
                  <a:pt x="48" y="48"/>
                  <a:pt x="69" y="69"/>
                </a:cubicBezTo>
                <a:cubicBezTo>
                  <a:pt x="90" y="90"/>
                  <a:pt x="108" y="110"/>
                  <a:pt x="128" y="128"/>
                </a:cubicBezTo>
                <a:cubicBezTo>
                  <a:pt x="148" y="146"/>
                  <a:pt x="164" y="156"/>
                  <a:pt x="192" y="179"/>
                </a:cubicBezTo>
                <a:cubicBezTo>
                  <a:pt x="220" y="202"/>
                  <a:pt x="255" y="235"/>
                  <a:pt x="296" y="267"/>
                </a:cubicBezTo>
                <a:cubicBezTo>
                  <a:pt x="337" y="299"/>
                  <a:pt x="386" y="335"/>
                  <a:pt x="440" y="368"/>
                </a:cubicBezTo>
                <a:cubicBezTo>
                  <a:pt x="494" y="401"/>
                  <a:pt x="551" y="436"/>
                  <a:pt x="621" y="467"/>
                </a:cubicBezTo>
                <a:cubicBezTo>
                  <a:pt x="691" y="498"/>
                  <a:pt x="775" y="531"/>
                  <a:pt x="861" y="557"/>
                </a:cubicBezTo>
                <a:cubicBezTo>
                  <a:pt x="947" y="583"/>
                  <a:pt x="1040" y="601"/>
                  <a:pt x="1136" y="621"/>
                </a:cubicBezTo>
                <a:cubicBezTo>
                  <a:pt x="1232" y="641"/>
                  <a:pt x="1341" y="659"/>
                  <a:pt x="1437" y="675"/>
                </a:cubicBezTo>
                <a:cubicBezTo>
                  <a:pt x="1533" y="691"/>
                  <a:pt x="1624" y="703"/>
                  <a:pt x="1715" y="715"/>
                </a:cubicBezTo>
              </a:path>
            </a:pathLst>
          </a:cu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44044" name="Line 30">
            <a:extLst>
              <a:ext uri="{FF2B5EF4-FFF2-40B4-BE49-F238E27FC236}">
                <a16:creationId xmlns:a16="http://schemas.microsoft.com/office/drawing/2014/main" id="{42515D81-FBF2-73B4-E715-0D6BB269F0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70013" y="6450013"/>
            <a:ext cx="1298575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8335" name="Text Box 31">
            <a:extLst>
              <a:ext uri="{FF2B5EF4-FFF2-40B4-BE49-F238E27FC236}">
                <a16:creationId xmlns:a16="http://schemas.microsoft.com/office/drawing/2014/main" id="{AA9CB54C-C253-A8D9-ADA8-C8335D50B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3238" y="6391275"/>
            <a:ext cx="2841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i="1">
                <a:solidFill>
                  <a:schemeClr val="hlink"/>
                </a:solidFill>
                <a:sym typeface="Symbol" panose="05050102010706020507" pitchFamily="18" charset="2"/>
              </a:rPr>
              <a:t></a:t>
            </a:r>
            <a:endParaRPr lang="en-US" altLang="en-US" i="1">
              <a:effectLst>
                <a:outerShdw blurRad="38100" dist="38100" dir="2700000" algn="tl">
                  <a:srgbClr val="C0C0C0"/>
                </a:outerShdw>
              </a:effectLst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Date Placeholder 3">
            <a:extLst>
              <a:ext uri="{FF2B5EF4-FFF2-40B4-BE49-F238E27FC236}">
                <a16:creationId xmlns:a16="http://schemas.microsoft.com/office/drawing/2014/main" id="{BE1924FD-EA5B-999A-FFA6-9EB7DE01A81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Winter 2012</a:t>
            </a:r>
          </a:p>
        </p:txBody>
      </p:sp>
      <p:sp>
        <p:nvSpPr>
          <p:cNvPr id="46083" name="Footer Placeholder 4">
            <a:extLst>
              <a:ext uri="{FF2B5EF4-FFF2-40B4-BE49-F238E27FC236}">
                <a16:creationId xmlns:a16="http://schemas.microsoft.com/office/drawing/2014/main" id="{91FE63DB-B503-BDD5-A650-C1336BF81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UCSD: Physics 121; 2012</a:t>
            </a:r>
          </a:p>
        </p:txBody>
      </p:sp>
      <p:sp>
        <p:nvSpPr>
          <p:cNvPr id="46084" name="Slide Number Placeholder 5">
            <a:extLst>
              <a:ext uri="{FF2B5EF4-FFF2-40B4-BE49-F238E27FC236}">
                <a16:creationId xmlns:a16="http://schemas.microsoft.com/office/drawing/2014/main" id="{BF4FF2A0-2E44-AB6D-0329-4A6768EEF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6CB2892-214B-4B56-92E5-A4E370C3A385}" type="slidenum">
              <a:rPr lang="en-US" altLang="en-US" sz="1400"/>
              <a:pPr/>
              <a:t>15</a:t>
            </a:fld>
            <a:endParaRPr lang="en-US" altLang="en-US" sz="1400"/>
          </a:p>
        </p:txBody>
      </p:sp>
      <p:sp>
        <p:nvSpPr>
          <p:cNvPr id="142338" name="Rectangle 2">
            <a:extLst>
              <a:ext uri="{FF2B5EF4-FFF2-40B4-BE49-F238E27FC236}">
                <a16:creationId xmlns:a16="http://schemas.microsoft.com/office/drawing/2014/main" id="{12FE5CAA-2C52-F17D-CC64-E226525E95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Regulating the Voltage</a:t>
            </a:r>
          </a:p>
        </p:txBody>
      </p:sp>
      <p:sp>
        <p:nvSpPr>
          <p:cNvPr id="142339" name="Rectangle 3">
            <a:extLst>
              <a:ext uri="{FF2B5EF4-FFF2-40B4-BE49-F238E27FC236}">
                <a16:creationId xmlns:a16="http://schemas.microsoft.com/office/drawing/2014/main" id="{D85226ED-EA12-8B7B-1647-0954749FB8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7772400" cy="5334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The </a:t>
            </a:r>
            <a:r>
              <a:rPr lang="en-US" alt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unregulated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, ripply voltage may not be at the value you want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depends on transformer, etc.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suppose you want 15.0 V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You </a:t>
            </a:r>
            <a:r>
              <a:rPr lang="en-US" altLang="en-US" i="1">
                <a:effectLst>
                  <a:outerShdw blurRad="38100" dist="38100" dir="2700000" algn="tl">
                    <a:srgbClr val="C0C0C0"/>
                  </a:outerShdw>
                </a:effectLst>
              </a:rPr>
              <a:t>could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use a </a:t>
            </a:r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voltage divider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to set the voltage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But it would </a:t>
            </a:r>
            <a:r>
              <a:rPr lang="en-US" altLang="en-US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droop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under load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output impedance </a:t>
            </a:r>
            <a:r>
              <a:rPr lang="en-US" altLang="en-US">
                <a:sym typeface="Symbol" panose="05050102010706020507" pitchFamily="18" charset="2"/>
              </a:rPr>
              <a:t>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 baseline="-25000">
                <a:sym typeface="Symbol" panose="05050102010706020507" pitchFamily="18" charset="2"/>
              </a:rPr>
              <a:t>1</a:t>
            </a:r>
            <a:r>
              <a:rPr lang="en-US" altLang="en-US">
                <a:sym typeface="Symbol" panose="05050102010706020507" pitchFamily="18" charset="2"/>
              </a:rPr>
              <a:t> ||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 baseline="-25000">
                <a:sym typeface="Symbol" panose="05050102010706020507" pitchFamily="18" charset="2"/>
              </a:rPr>
              <a:t>2</a:t>
            </a:r>
            <a:endParaRPr lang="en-US" altLang="en-US"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sym typeface="Symbol" panose="05050102010706020507" pitchFamily="18" charset="2"/>
              </a:rPr>
              <a:t>need to have very small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 baseline="-25000">
                <a:sym typeface="Symbol" panose="05050102010706020507" pitchFamily="18" charset="2"/>
              </a:rPr>
              <a:t>1</a:t>
            </a:r>
            <a:r>
              <a:rPr lang="en-US" altLang="en-US">
                <a:sym typeface="Symbol" panose="05050102010706020507" pitchFamily="18" charset="2"/>
              </a:rPr>
              <a:t>,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 baseline="-25000">
                <a:sym typeface="Symbol" panose="05050102010706020507" pitchFamily="18" charset="2"/>
              </a:rPr>
              <a:t>2</a:t>
            </a:r>
            <a:r>
              <a:rPr lang="en-US" altLang="en-US">
                <a:sym typeface="Symbol" panose="05050102010706020507" pitchFamily="18" charset="2"/>
              </a:rPr>
              <a:t> to make “stiff”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sym typeface="Symbol" panose="05050102010706020507" pitchFamily="18" charset="2"/>
              </a:rPr>
              <a:t>the divider will draw a lot of current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sym typeface="Symbol" panose="05050102010706020507" pitchFamily="18" charset="2"/>
              </a:rPr>
              <a:t>perhaps straining the source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sym typeface="Symbol" panose="05050102010706020507" pitchFamily="18" charset="2"/>
              </a:rPr>
              <a:t>power expended in divider &gt;&gt; power in load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Not a “real” solution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Important note: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a “</a:t>
            </a:r>
            <a:r>
              <a:rPr lang="en-US" alt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big load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” means a </a:t>
            </a:r>
            <a:r>
              <a:rPr lang="en-US" alt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small resistor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value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: </a:t>
            </a:r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 </a:t>
            </a:r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 demands </a:t>
            </a:r>
            <a:r>
              <a:rPr lang="en-US" altLang="en-US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more current</a:t>
            </a:r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 than 1 M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46087" name="Group 44">
            <a:extLst>
              <a:ext uri="{FF2B5EF4-FFF2-40B4-BE49-F238E27FC236}">
                <a16:creationId xmlns:a16="http://schemas.microsoft.com/office/drawing/2014/main" id="{F766DD36-E654-8609-EA77-F30A31619882}"/>
              </a:ext>
            </a:extLst>
          </p:cNvPr>
          <p:cNvGrpSpPr>
            <a:grpSpLocks/>
          </p:cNvGrpSpPr>
          <p:nvPr/>
        </p:nvGrpSpPr>
        <p:grpSpPr bwMode="auto">
          <a:xfrm>
            <a:off x="6883400" y="2971800"/>
            <a:ext cx="2108200" cy="2590800"/>
            <a:chOff x="4272" y="1872"/>
            <a:chExt cx="1328" cy="1632"/>
          </a:xfrm>
        </p:grpSpPr>
        <p:sp>
          <p:nvSpPr>
            <p:cNvPr id="46088" name="Freeform 4">
              <a:extLst>
                <a:ext uri="{FF2B5EF4-FFF2-40B4-BE49-F238E27FC236}">
                  <a16:creationId xmlns:a16="http://schemas.microsoft.com/office/drawing/2014/main" id="{07D579EF-3152-75E7-318F-82857510D8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8" y="2064"/>
              <a:ext cx="96" cy="480"/>
            </a:xfrm>
            <a:custGeom>
              <a:avLst/>
              <a:gdLst>
                <a:gd name="T0" fmla="*/ 48 w 96"/>
                <a:gd name="T1" fmla="*/ 0 h 480"/>
                <a:gd name="T2" fmla="*/ 48 w 96"/>
                <a:gd name="T3" fmla="*/ 96 h 480"/>
                <a:gd name="T4" fmla="*/ 96 w 96"/>
                <a:gd name="T5" fmla="*/ 144 h 480"/>
                <a:gd name="T6" fmla="*/ 0 w 96"/>
                <a:gd name="T7" fmla="*/ 192 h 480"/>
                <a:gd name="T8" fmla="*/ 96 w 96"/>
                <a:gd name="T9" fmla="*/ 240 h 480"/>
                <a:gd name="T10" fmla="*/ 0 w 96"/>
                <a:gd name="T11" fmla="*/ 288 h 480"/>
                <a:gd name="T12" fmla="*/ 96 w 96"/>
                <a:gd name="T13" fmla="*/ 336 h 480"/>
                <a:gd name="T14" fmla="*/ 0 w 96"/>
                <a:gd name="T15" fmla="*/ 384 h 480"/>
                <a:gd name="T16" fmla="*/ 48 w 96"/>
                <a:gd name="T17" fmla="*/ 432 h 480"/>
                <a:gd name="T18" fmla="*/ 48 w 96"/>
                <a:gd name="T19" fmla="*/ 480 h 48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96"/>
                <a:gd name="T31" fmla="*/ 0 h 480"/>
                <a:gd name="T32" fmla="*/ 96 w 96"/>
                <a:gd name="T33" fmla="*/ 480 h 48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96" h="480">
                  <a:moveTo>
                    <a:pt x="48" y="0"/>
                  </a:moveTo>
                  <a:lnTo>
                    <a:pt x="48" y="96"/>
                  </a:lnTo>
                  <a:lnTo>
                    <a:pt x="96" y="144"/>
                  </a:lnTo>
                  <a:lnTo>
                    <a:pt x="0" y="192"/>
                  </a:lnTo>
                  <a:lnTo>
                    <a:pt x="96" y="240"/>
                  </a:lnTo>
                  <a:lnTo>
                    <a:pt x="0" y="288"/>
                  </a:lnTo>
                  <a:lnTo>
                    <a:pt x="96" y="336"/>
                  </a:lnTo>
                  <a:lnTo>
                    <a:pt x="0" y="384"/>
                  </a:lnTo>
                  <a:lnTo>
                    <a:pt x="48" y="432"/>
                  </a:lnTo>
                  <a:lnTo>
                    <a:pt x="48" y="48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46089" name="Group 5">
              <a:extLst>
                <a:ext uri="{FF2B5EF4-FFF2-40B4-BE49-F238E27FC236}">
                  <a16:creationId xmlns:a16="http://schemas.microsoft.com/office/drawing/2014/main" id="{8F63AE1E-FD9F-C60F-D428-AF3ABC9A97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87" y="2784"/>
              <a:ext cx="505" cy="576"/>
              <a:chOff x="4487" y="2064"/>
              <a:chExt cx="505" cy="576"/>
            </a:xfrm>
          </p:grpSpPr>
          <p:sp>
            <p:nvSpPr>
              <p:cNvPr id="46109" name="Freeform 6">
                <a:extLst>
                  <a:ext uri="{FF2B5EF4-FFF2-40B4-BE49-F238E27FC236}">
                    <a16:creationId xmlns:a16="http://schemas.microsoft.com/office/drawing/2014/main" id="{4C1F2BF4-2A8E-3DA8-D25F-B036216D30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8" y="2064"/>
                <a:ext cx="96" cy="480"/>
              </a:xfrm>
              <a:custGeom>
                <a:avLst/>
                <a:gdLst>
                  <a:gd name="T0" fmla="*/ 48 w 96"/>
                  <a:gd name="T1" fmla="*/ 0 h 480"/>
                  <a:gd name="T2" fmla="*/ 48 w 96"/>
                  <a:gd name="T3" fmla="*/ 96 h 480"/>
                  <a:gd name="T4" fmla="*/ 96 w 96"/>
                  <a:gd name="T5" fmla="*/ 144 h 480"/>
                  <a:gd name="T6" fmla="*/ 0 w 96"/>
                  <a:gd name="T7" fmla="*/ 192 h 480"/>
                  <a:gd name="T8" fmla="*/ 96 w 96"/>
                  <a:gd name="T9" fmla="*/ 240 h 480"/>
                  <a:gd name="T10" fmla="*/ 0 w 96"/>
                  <a:gd name="T11" fmla="*/ 288 h 480"/>
                  <a:gd name="T12" fmla="*/ 96 w 96"/>
                  <a:gd name="T13" fmla="*/ 336 h 480"/>
                  <a:gd name="T14" fmla="*/ 0 w 96"/>
                  <a:gd name="T15" fmla="*/ 384 h 480"/>
                  <a:gd name="T16" fmla="*/ 48 w 96"/>
                  <a:gd name="T17" fmla="*/ 432 h 480"/>
                  <a:gd name="T18" fmla="*/ 48 w 96"/>
                  <a:gd name="T19" fmla="*/ 480 h 48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6"/>
                  <a:gd name="T31" fmla="*/ 0 h 480"/>
                  <a:gd name="T32" fmla="*/ 96 w 96"/>
                  <a:gd name="T33" fmla="*/ 480 h 48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6" h="480">
                    <a:moveTo>
                      <a:pt x="48" y="0"/>
                    </a:moveTo>
                    <a:lnTo>
                      <a:pt x="48" y="96"/>
                    </a:lnTo>
                    <a:lnTo>
                      <a:pt x="96" y="144"/>
                    </a:lnTo>
                    <a:lnTo>
                      <a:pt x="0" y="192"/>
                    </a:lnTo>
                    <a:lnTo>
                      <a:pt x="96" y="240"/>
                    </a:lnTo>
                    <a:lnTo>
                      <a:pt x="0" y="288"/>
                    </a:lnTo>
                    <a:lnTo>
                      <a:pt x="96" y="336"/>
                    </a:lnTo>
                    <a:lnTo>
                      <a:pt x="0" y="384"/>
                    </a:lnTo>
                    <a:lnTo>
                      <a:pt x="48" y="432"/>
                    </a:lnTo>
                    <a:lnTo>
                      <a:pt x="48" y="48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6110" name="Line 7">
                <a:extLst>
                  <a:ext uri="{FF2B5EF4-FFF2-40B4-BE49-F238E27FC236}">
                    <a16:creationId xmlns:a16="http://schemas.microsoft.com/office/drawing/2014/main" id="{B4C206E6-9346-A4C8-9B7F-B034F9E22E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04" y="2304"/>
                <a:ext cx="14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6111" name="Line 8">
                <a:extLst>
                  <a:ext uri="{FF2B5EF4-FFF2-40B4-BE49-F238E27FC236}">
                    <a16:creationId xmlns:a16="http://schemas.microsoft.com/office/drawing/2014/main" id="{2F15BBFB-63CF-37C0-837A-DFCCE2A601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304"/>
                <a:ext cx="0" cy="2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6112" name="Line 9">
                <a:extLst>
                  <a:ext uri="{FF2B5EF4-FFF2-40B4-BE49-F238E27FC236}">
                    <a16:creationId xmlns:a16="http://schemas.microsoft.com/office/drawing/2014/main" id="{953E7A56-A1DE-BBF0-1EEC-93370D605B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56" y="2544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6113" name="Line 10">
                <a:extLst>
                  <a:ext uri="{FF2B5EF4-FFF2-40B4-BE49-F238E27FC236}">
                    <a16:creationId xmlns:a16="http://schemas.microsoft.com/office/drawing/2014/main" id="{8393C8D7-467A-D265-9735-E155551C1B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6" y="2544"/>
                <a:ext cx="0" cy="4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6114" name="Text Box 11">
                <a:extLst>
                  <a:ext uri="{FF2B5EF4-FFF2-40B4-BE49-F238E27FC236}">
                    <a16:creationId xmlns:a16="http://schemas.microsoft.com/office/drawing/2014/main" id="{5BA15A4E-5177-9FA1-CAC5-840B04F4AC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87" y="2083"/>
                <a:ext cx="169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200">
                    <a:solidFill>
                      <a:srgbClr val="000000"/>
                    </a:solidFill>
                  </a:rPr>
                  <a:t>1</a:t>
                </a:r>
                <a:endParaRPr lang="en-US" altLang="en-US" sz="1200"/>
              </a:p>
            </p:txBody>
          </p:sp>
          <p:sp>
            <p:nvSpPr>
              <p:cNvPr id="46115" name="Text Box 12">
                <a:extLst>
                  <a:ext uri="{FF2B5EF4-FFF2-40B4-BE49-F238E27FC236}">
                    <a16:creationId xmlns:a16="http://schemas.microsoft.com/office/drawing/2014/main" id="{5B60798E-6F77-D990-50BA-77A9120DF3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87" y="2467"/>
                <a:ext cx="169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200">
                    <a:solidFill>
                      <a:srgbClr val="000000"/>
                    </a:solidFill>
                  </a:rPr>
                  <a:t>2</a:t>
                </a:r>
                <a:endParaRPr lang="en-US" altLang="en-US" sz="1200"/>
              </a:p>
            </p:txBody>
          </p:sp>
          <p:sp>
            <p:nvSpPr>
              <p:cNvPr id="46116" name="Text Box 13">
                <a:extLst>
                  <a:ext uri="{FF2B5EF4-FFF2-40B4-BE49-F238E27FC236}">
                    <a16:creationId xmlns:a16="http://schemas.microsoft.com/office/drawing/2014/main" id="{D64E0075-7AF8-8CC6-A02A-8A7F120FCF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23" y="2227"/>
                <a:ext cx="169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200">
                    <a:solidFill>
                      <a:srgbClr val="000000"/>
                    </a:solidFill>
                  </a:rPr>
                  <a:t>3</a:t>
                </a:r>
                <a:endParaRPr lang="en-US" altLang="en-US" sz="1200"/>
              </a:p>
            </p:txBody>
          </p:sp>
          <p:sp>
            <p:nvSpPr>
              <p:cNvPr id="46117" name="Oval 14">
                <a:extLst>
                  <a:ext uri="{FF2B5EF4-FFF2-40B4-BE49-F238E27FC236}">
                    <a16:creationId xmlns:a16="http://schemas.microsoft.com/office/drawing/2014/main" id="{E3E3FD97-4CF2-F02B-CBC3-C0E080A75E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47" y="2535"/>
                <a:ext cx="23" cy="23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46090" name="Line 15">
              <a:extLst>
                <a:ext uri="{FF2B5EF4-FFF2-40B4-BE49-F238E27FC236}">
                  <a16:creationId xmlns:a16="http://schemas.microsoft.com/office/drawing/2014/main" id="{CD34E2AD-872F-E4B4-FBF7-94BF1F69C3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2544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6091" name="Line 16">
              <a:extLst>
                <a:ext uri="{FF2B5EF4-FFF2-40B4-BE49-F238E27FC236}">
                  <a16:creationId xmlns:a16="http://schemas.microsoft.com/office/drawing/2014/main" id="{1570E45C-D1D6-A98F-6D8D-1110DDA896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2640"/>
              <a:ext cx="52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6092" name="Oval 17">
              <a:extLst>
                <a:ext uri="{FF2B5EF4-FFF2-40B4-BE49-F238E27FC236}">
                  <a16:creationId xmlns:a16="http://schemas.microsoft.com/office/drawing/2014/main" id="{9F612D74-69C2-1BE9-D471-FF9E4CF7FE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6" y="2625"/>
              <a:ext cx="23" cy="2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46093" name="Group 18">
              <a:extLst>
                <a:ext uri="{FF2B5EF4-FFF2-40B4-BE49-F238E27FC236}">
                  <a16:creationId xmlns:a16="http://schemas.microsoft.com/office/drawing/2014/main" id="{27E3E1AA-FB0E-99E6-EA75-FA7F1405CD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0" y="3312"/>
              <a:ext cx="192" cy="192"/>
              <a:chOff x="4032" y="1968"/>
              <a:chExt cx="192" cy="192"/>
            </a:xfrm>
          </p:grpSpPr>
          <p:sp>
            <p:nvSpPr>
              <p:cNvPr id="46105" name="Line 19">
                <a:extLst>
                  <a:ext uri="{FF2B5EF4-FFF2-40B4-BE49-F238E27FC236}">
                    <a16:creationId xmlns:a16="http://schemas.microsoft.com/office/drawing/2014/main" id="{36497EAD-EEB8-14DF-18AD-B331F8F696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8" y="1968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6106" name="Line 20">
                <a:extLst>
                  <a:ext uri="{FF2B5EF4-FFF2-40B4-BE49-F238E27FC236}">
                    <a16:creationId xmlns:a16="http://schemas.microsoft.com/office/drawing/2014/main" id="{34D22C21-46E5-25B5-61A9-B85206A4EA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7" y="2160"/>
                <a:ext cx="2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6107" name="Line 21">
                <a:extLst>
                  <a:ext uri="{FF2B5EF4-FFF2-40B4-BE49-F238E27FC236}">
                    <a16:creationId xmlns:a16="http://schemas.microsoft.com/office/drawing/2014/main" id="{6B305C0F-D966-585E-46F1-76F5B72A00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2112"/>
                <a:ext cx="9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6108" name="Line 22">
                <a:extLst>
                  <a:ext uri="{FF2B5EF4-FFF2-40B4-BE49-F238E27FC236}">
                    <a16:creationId xmlns:a16="http://schemas.microsoft.com/office/drawing/2014/main" id="{BFB65BC8-3491-E49B-23FF-83A43FA38B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2" y="2064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46094" name="Text Box 23">
              <a:extLst>
                <a:ext uri="{FF2B5EF4-FFF2-40B4-BE49-F238E27FC236}">
                  <a16:creationId xmlns:a16="http://schemas.microsoft.com/office/drawing/2014/main" id="{B73B7D30-63F0-6645-7E6F-3CDB738DEF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9" y="2187"/>
              <a:ext cx="27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 i="1">
                  <a:solidFill>
                    <a:srgbClr val="000000"/>
                  </a:solidFill>
                </a:rPr>
                <a:t>R</a:t>
              </a:r>
              <a:r>
                <a:rPr lang="en-US" altLang="en-US" sz="1800" baseline="-25000">
                  <a:solidFill>
                    <a:srgbClr val="000000"/>
                  </a:solidFill>
                </a:rPr>
                <a:t>1</a:t>
              </a:r>
              <a:endParaRPr lang="en-US" altLang="en-US" sz="1800"/>
            </a:p>
          </p:txBody>
        </p:sp>
        <p:sp>
          <p:nvSpPr>
            <p:cNvPr id="46095" name="Text Box 24">
              <a:extLst>
                <a:ext uri="{FF2B5EF4-FFF2-40B4-BE49-F238E27FC236}">
                  <a16:creationId xmlns:a16="http://schemas.microsoft.com/office/drawing/2014/main" id="{997DFD63-4BF8-DA09-51BB-450DC2AAD7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2937"/>
              <a:ext cx="27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 i="1">
                  <a:solidFill>
                    <a:srgbClr val="000000"/>
                  </a:solidFill>
                </a:rPr>
                <a:t>R</a:t>
              </a:r>
              <a:r>
                <a:rPr lang="en-US" altLang="en-US" sz="1800" baseline="-25000">
                  <a:solidFill>
                    <a:srgbClr val="000000"/>
                  </a:solidFill>
                </a:rPr>
                <a:t>2</a:t>
              </a:r>
              <a:endParaRPr lang="en-US" altLang="en-US" sz="1800"/>
            </a:p>
          </p:txBody>
        </p:sp>
        <p:sp>
          <p:nvSpPr>
            <p:cNvPr id="46096" name="Text Box 35">
              <a:extLst>
                <a:ext uri="{FF2B5EF4-FFF2-40B4-BE49-F238E27FC236}">
                  <a16:creationId xmlns:a16="http://schemas.microsoft.com/office/drawing/2014/main" id="{C1B12F17-EF57-B2CC-A862-897FF43F68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1872"/>
              <a:ext cx="28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 i="1">
                  <a:solidFill>
                    <a:srgbClr val="000000"/>
                  </a:solidFill>
                </a:rPr>
                <a:t>V</a:t>
              </a:r>
              <a:r>
                <a:rPr lang="en-US" altLang="en-US" sz="1800" baseline="-25000">
                  <a:solidFill>
                    <a:srgbClr val="000000"/>
                  </a:solidFill>
                </a:rPr>
                <a:t>in</a:t>
              </a:r>
              <a:endParaRPr lang="en-US" altLang="en-US" sz="1800"/>
            </a:p>
          </p:txBody>
        </p:sp>
        <p:sp>
          <p:nvSpPr>
            <p:cNvPr id="46097" name="Text Box 36">
              <a:extLst>
                <a:ext uri="{FF2B5EF4-FFF2-40B4-BE49-F238E27FC236}">
                  <a16:creationId xmlns:a16="http://schemas.microsoft.com/office/drawing/2014/main" id="{EC2AD3BF-E075-9467-5DF9-43CE808CDC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4" y="2505"/>
              <a:ext cx="34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 i="1">
                  <a:solidFill>
                    <a:srgbClr val="000000"/>
                  </a:solidFill>
                </a:rPr>
                <a:t>V</a:t>
              </a:r>
              <a:r>
                <a:rPr lang="en-US" altLang="en-US" sz="1800" baseline="-25000">
                  <a:solidFill>
                    <a:srgbClr val="000000"/>
                  </a:solidFill>
                </a:rPr>
                <a:t>out</a:t>
              </a:r>
              <a:endParaRPr lang="en-US" altLang="en-US" sz="1800"/>
            </a:p>
          </p:txBody>
        </p:sp>
        <p:sp>
          <p:nvSpPr>
            <p:cNvPr id="46098" name="Freeform 37">
              <a:extLst>
                <a:ext uri="{FF2B5EF4-FFF2-40B4-BE49-F238E27FC236}">
                  <a16:creationId xmlns:a16="http://schemas.microsoft.com/office/drawing/2014/main" id="{7610B54C-5AB3-4080-E3B8-FC0419D6E4D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6" y="2640"/>
              <a:ext cx="96" cy="480"/>
            </a:xfrm>
            <a:custGeom>
              <a:avLst/>
              <a:gdLst>
                <a:gd name="T0" fmla="*/ 48 w 96"/>
                <a:gd name="T1" fmla="*/ 0 h 480"/>
                <a:gd name="T2" fmla="*/ 48 w 96"/>
                <a:gd name="T3" fmla="*/ 96 h 480"/>
                <a:gd name="T4" fmla="*/ 96 w 96"/>
                <a:gd name="T5" fmla="*/ 144 h 480"/>
                <a:gd name="T6" fmla="*/ 0 w 96"/>
                <a:gd name="T7" fmla="*/ 192 h 480"/>
                <a:gd name="T8" fmla="*/ 96 w 96"/>
                <a:gd name="T9" fmla="*/ 240 h 480"/>
                <a:gd name="T10" fmla="*/ 0 w 96"/>
                <a:gd name="T11" fmla="*/ 288 h 480"/>
                <a:gd name="T12" fmla="*/ 96 w 96"/>
                <a:gd name="T13" fmla="*/ 336 h 480"/>
                <a:gd name="T14" fmla="*/ 0 w 96"/>
                <a:gd name="T15" fmla="*/ 384 h 480"/>
                <a:gd name="T16" fmla="*/ 48 w 96"/>
                <a:gd name="T17" fmla="*/ 432 h 480"/>
                <a:gd name="T18" fmla="*/ 48 w 96"/>
                <a:gd name="T19" fmla="*/ 480 h 48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96"/>
                <a:gd name="T31" fmla="*/ 0 h 480"/>
                <a:gd name="T32" fmla="*/ 96 w 96"/>
                <a:gd name="T33" fmla="*/ 480 h 48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96" h="480">
                  <a:moveTo>
                    <a:pt x="48" y="0"/>
                  </a:moveTo>
                  <a:lnTo>
                    <a:pt x="48" y="96"/>
                  </a:lnTo>
                  <a:lnTo>
                    <a:pt x="96" y="144"/>
                  </a:lnTo>
                  <a:lnTo>
                    <a:pt x="0" y="192"/>
                  </a:lnTo>
                  <a:lnTo>
                    <a:pt x="96" y="240"/>
                  </a:lnTo>
                  <a:lnTo>
                    <a:pt x="0" y="288"/>
                  </a:lnTo>
                  <a:lnTo>
                    <a:pt x="96" y="336"/>
                  </a:lnTo>
                  <a:lnTo>
                    <a:pt x="0" y="384"/>
                  </a:lnTo>
                  <a:lnTo>
                    <a:pt x="48" y="432"/>
                  </a:lnTo>
                  <a:lnTo>
                    <a:pt x="48" y="48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46099" name="Group 38">
              <a:extLst>
                <a:ext uri="{FF2B5EF4-FFF2-40B4-BE49-F238E27FC236}">
                  <a16:creationId xmlns:a16="http://schemas.microsoft.com/office/drawing/2014/main" id="{3FF36116-23FB-BF59-D853-CA0C213F0B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8" y="3120"/>
              <a:ext cx="192" cy="192"/>
              <a:chOff x="4032" y="1968"/>
              <a:chExt cx="192" cy="192"/>
            </a:xfrm>
          </p:grpSpPr>
          <p:sp>
            <p:nvSpPr>
              <p:cNvPr id="46101" name="Line 39">
                <a:extLst>
                  <a:ext uri="{FF2B5EF4-FFF2-40B4-BE49-F238E27FC236}">
                    <a16:creationId xmlns:a16="http://schemas.microsoft.com/office/drawing/2014/main" id="{9491DDCC-05C7-A598-0C67-983789C6E2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8" y="1968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6102" name="Line 40">
                <a:extLst>
                  <a:ext uri="{FF2B5EF4-FFF2-40B4-BE49-F238E27FC236}">
                    <a16:creationId xmlns:a16="http://schemas.microsoft.com/office/drawing/2014/main" id="{437D79B6-A868-53BE-24DE-7815E1EFD4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7" y="2160"/>
                <a:ext cx="2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6103" name="Line 41">
                <a:extLst>
                  <a:ext uri="{FF2B5EF4-FFF2-40B4-BE49-F238E27FC236}">
                    <a16:creationId xmlns:a16="http://schemas.microsoft.com/office/drawing/2014/main" id="{DE6698DC-6ABA-214B-5030-F108063CD3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2112"/>
                <a:ext cx="9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6104" name="Line 42">
                <a:extLst>
                  <a:ext uri="{FF2B5EF4-FFF2-40B4-BE49-F238E27FC236}">
                    <a16:creationId xmlns:a16="http://schemas.microsoft.com/office/drawing/2014/main" id="{1E1FA171-5B4D-AB45-42C4-A21BF8D057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2" y="2064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46100" name="Text Box 43">
              <a:extLst>
                <a:ext uri="{FF2B5EF4-FFF2-40B4-BE49-F238E27FC236}">
                  <a16:creationId xmlns:a16="http://schemas.microsoft.com/office/drawing/2014/main" id="{FA773C2F-032B-2710-21CD-E4DAD382E7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9" y="2793"/>
              <a:ext cx="40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 i="1">
                  <a:solidFill>
                    <a:srgbClr val="000000"/>
                  </a:solidFill>
                </a:rPr>
                <a:t>R</a:t>
              </a:r>
              <a:r>
                <a:rPr lang="en-US" altLang="en-US" sz="1800" baseline="-25000">
                  <a:solidFill>
                    <a:srgbClr val="000000"/>
                  </a:solidFill>
                </a:rPr>
                <a:t>load</a:t>
              </a:r>
              <a:endParaRPr lang="en-US" altLang="en-US" sz="180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Date Placeholder 4">
            <a:extLst>
              <a:ext uri="{FF2B5EF4-FFF2-40B4-BE49-F238E27FC236}">
                <a16:creationId xmlns:a16="http://schemas.microsoft.com/office/drawing/2014/main" id="{1F1DB073-2263-EB6D-D8DA-344186CB479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Winter 2012</a:t>
            </a:r>
          </a:p>
        </p:txBody>
      </p:sp>
      <p:sp>
        <p:nvSpPr>
          <p:cNvPr id="48131" name="Footer Placeholder 5">
            <a:extLst>
              <a:ext uri="{FF2B5EF4-FFF2-40B4-BE49-F238E27FC236}">
                <a16:creationId xmlns:a16="http://schemas.microsoft.com/office/drawing/2014/main" id="{97DBD3F6-8194-4219-BF82-DF3F7592F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UCSD: Physics 121; 2012</a:t>
            </a:r>
          </a:p>
        </p:txBody>
      </p:sp>
      <p:sp>
        <p:nvSpPr>
          <p:cNvPr id="48132" name="Slide Number Placeholder 6">
            <a:extLst>
              <a:ext uri="{FF2B5EF4-FFF2-40B4-BE49-F238E27FC236}">
                <a16:creationId xmlns:a16="http://schemas.microsoft.com/office/drawing/2014/main" id="{730EDDDB-867B-FC0F-B89E-96894972A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2205622-371F-4D45-9001-4742F89DFD46}" type="slidenum">
              <a:rPr lang="en-US" altLang="en-US" sz="1400"/>
              <a:pPr/>
              <a:t>16</a:t>
            </a:fld>
            <a:endParaRPr lang="en-US" altLang="en-US" sz="1400"/>
          </a:p>
        </p:txBody>
      </p:sp>
      <p:sp>
        <p:nvSpPr>
          <p:cNvPr id="143362" name="Rectangle 2">
            <a:extLst>
              <a:ext uri="{FF2B5EF4-FFF2-40B4-BE49-F238E27FC236}">
                <a16:creationId xmlns:a16="http://schemas.microsoft.com/office/drawing/2014/main" id="{F36B2FEC-9D04-633E-8522-F597157155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The Zener Regulator</a:t>
            </a:r>
          </a:p>
        </p:txBody>
      </p:sp>
      <p:sp>
        <p:nvSpPr>
          <p:cNvPr id="143363" name="Rectangle 3">
            <a:extLst>
              <a:ext uri="{FF2B5EF4-FFF2-40B4-BE49-F238E27FC236}">
                <a16:creationId xmlns:a16="http://schemas.microsoft.com/office/drawing/2014/main" id="{AA1ADEFE-3BC4-1AD0-070B-3DEA07CB889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219200"/>
            <a:ext cx="5410200" cy="5181600"/>
          </a:xfrm>
        </p:spPr>
        <p:txBody>
          <a:bodyPr/>
          <a:lstStyle/>
          <a:p>
            <a:pPr eaLnBrk="1" hangingPunct="1"/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Zener diodes </a:t>
            </a:r>
            <a:r>
              <a:rPr lang="en-US" altLang="en-US" sz="200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break down</a:t>
            </a:r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 at some reverse voltage</a:t>
            </a:r>
          </a:p>
          <a:p>
            <a:pPr lvl="1" eaLnBrk="1" hangingPunct="1"/>
            <a:r>
              <a:rPr lang="en-US" altLang="en-US" sz="1800"/>
              <a:t>can buy at specific breakdown voltages</a:t>
            </a:r>
          </a:p>
          <a:p>
            <a:pPr lvl="1" eaLnBrk="1" hangingPunct="1"/>
            <a:r>
              <a:rPr lang="en-US" altLang="en-US" sz="1800"/>
              <a:t>as long as </a:t>
            </a:r>
            <a:r>
              <a:rPr lang="en-US" altLang="en-US" sz="1800" i="1">
                <a:solidFill>
                  <a:schemeClr val="accent2"/>
                </a:solidFill>
              </a:rPr>
              <a:t>some</a:t>
            </a:r>
            <a:r>
              <a:rPr lang="en-US" altLang="en-US" sz="1800" i="1"/>
              <a:t> </a:t>
            </a:r>
            <a:r>
              <a:rPr lang="en-US" altLang="en-US" sz="1800"/>
              <a:t>current goes through zener, it’ll work</a:t>
            </a:r>
          </a:p>
          <a:p>
            <a:pPr lvl="1" eaLnBrk="1" hangingPunct="1"/>
            <a:r>
              <a:rPr lang="en-US" altLang="en-US" sz="1800"/>
              <a:t>good for rough regulation</a:t>
            </a:r>
          </a:p>
          <a:p>
            <a:pPr eaLnBrk="1" hangingPunct="1"/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Conditions for working:</a:t>
            </a:r>
          </a:p>
          <a:p>
            <a:pPr lvl="1" eaLnBrk="1" hangingPunct="1"/>
            <a:r>
              <a:rPr lang="en-US" altLang="en-US" sz="1800"/>
              <a:t>let’s maintain some minimal current, </a:t>
            </a:r>
            <a:r>
              <a:rPr lang="en-US" altLang="en-US" sz="1800" i="1"/>
              <a:t>I</a:t>
            </a:r>
            <a:r>
              <a:rPr lang="en-US" altLang="en-US" sz="1800" baseline="-25000"/>
              <a:t>z</a:t>
            </a:r>
            <a:r>
              <a:rPr lang="en-US" altLang="en-US" sz="1800"/>
              <a:t> through zener (say a few mA)</a:t>
            </a:r>
          </a:p>
          <a:p>
            <a:pPr lvl="1" eaLnBrk="1" hangingPunct="1"/>
            <a:r>
              <a:rPr lang="en-US" altLang="en-US" sz="1800"/>
              <a:t>then </a:t>
            </a:r>
            <a:r>
              <a:rPr lang="en-US" altLang="en-US" sz="1800">
                <a:solidFill>
                  <a:schemeClr val="accent2"/>
                </a:solidFill>
              </a:rPr>
              <a:t>(</a:t>
            </a:r>
            <a:r>
              <a:rPr lang="en-US" altLang="en-US" sz="1800" i="1">
                <a:solidFill>
                  <a:schemeClr val="accent2"/>
                </a:solidFill>
              </a:rPr>
              <a:t>V</a:t>
            </a:r>
            <a:r>
              <a:rPr lang="en-US" altLang="en-US" sz="1800" baseline="-25000">
                <a:solidFill>
                  <a:schemeClr val="accent2"/>
                </a:solidFill>
              </a:rPr>
              <a:t>in</a:t>
            </a:r>
            <a:r>
              <a:rPr lang="en-US" altLang="en-US" sz="1800">
                <a:solidFill>
                  <a:schemeClr val="accent2"/>
                </a:solidFill>
              </a:rPr>
              <a:t> </a:t>
            </a:r>
            <a:r>
              <a:rPr lang="en-US" altLang="en-US" sz="1800">
                <a:solidFill>
                  <a:schemeClr val="accent2"/>
                </a:solidFill>
                <a:sym typeface="Symbol" panose="05050102010706020507" pitchFamily="18" charset="2"/>
              </a:rPr>
              <a:t> </a:t>
            </a:r>
            <a:r>
              <a:rPr lang="en-US" altLang="en-US" sz="1800" i="1">
                <a:solidFill>
                  <a:schemeClr val="accent2"/>
                </a:solidFill>
                <a:sym typeface="Symbol" panose="05050102010706020507" pitchFamily="18" charset="2"/>
              </a:rPr>
              <a:t>V</a:t>
            </a:r>
            <a:r>
              <a:rPr lang="en-US" altLang="en-US" sz="1800" baseline="-25000">
                <a:solidFill>
                  <a:schemeClr val="accent2"/>
                </a:solidFill>
                <a:sym typeface="Symbol" panose="05050102010706020507" pitchFamily="18" charset="2"/>
              </a:rPr>
              <a:t>out</a:t>
            </a:r>
            <a:r>
              <a:rPr lang="en-US" altLang="en-US" sz="1800">
                <a:solidFill>
                  <a:schemeClr val="accent2"/>
                </a:solidFill>
                <a:sym typeface="Symbol" panose="05050102010706020507" pitchFamily="18" charset="2"/>
              </a:rPr>
              <a:t>)/</a:t>
            </a:r>
            <a:r>
              <a:rPr lang="en-US" altLang="en-US" sz="1800" i="1">
                <a:solidFill>
                  <a:schemeClr val="accent2"/>
                </a:solidFill>
                <a:sym typeface="Symbol" panose="05050102010706020507" pitchFamily="18" charset="2"/>
              </a:rPr>
              <a:t>R</a:t>
            </a:r>
            <a:r>
              <a:rPr lang="en-US" altLang="en-US" sz="1800" baseline="-25000">
                <a:solidFill>
                  <a:schemeClr val="accent2"/>
                </a:solidFill>
                <a:sym typeface="Symbol" panose="05050102010706020507" pitchFamily="18" charset="2"/>
              </a:rPr>
              <a:t>1</a:t>
            </a:r>
            <a:r>
              <a:rPr lang="en-US" altLang="en-US" sz="1800">
                <a:solidFill>
                  <a:schemeClr val="accent2"/>
                </a:solidFill>
                <a:sym typeface="Symbol" panose="05050102010706020507" pitchFamily="18" charset="2"/>
              </a:rPr>
              <a:t> = </a:t>
            </a:r>
            <a:r>
              <a:rPr lang="en-US" altLang="en-US" sz="1800" i="1">
                <a:solidFill>
                  <a:schemeClr val="accent2"/>
                </a:solidFill>
                <a:sym typeface="Symbol" panose="05050102010706020507" pitchFamily="18" charset="2"/>
              </a:rPr>
              <a:t>I</a:t>
            </a:r>
            <a:r>
              <a:rPr lang="en-US" altLang="en-US" sz="1800" baseline="-25000">
                <a:solidFill>
                  <a:schemeClr val="accent2"/>
                </a:solidFill>
                <a:sym typeface="Symbol" panose="05050102010706020507" pitchFamily="18" charset="2"/>
              </a:rPr>
              <a:t>z</a:t>
            </a:r>
            <a:r>
              <a:rPr lang="en-US" altLang="en-US" sz="1800">
                <a:solidFill>
                  <a:schemeClr val="accent2"/>
                </a:solidFill>
                <a:sym typeface="Symbol" panose="05050102010706020507" pitchFamily="18" charset="2"/>
              </a:rPr>
              <a:t> + </a:t>
            </a:r>
            <a:r>
              <a:rPr lang="en-US" altLang="en-US" sz="1800" i="1">
                <a:solidFill>
                  <a:schemeClr val="accent2"/>
                </a:solidFill>
                <a:sym typeface="Symbol" panose="05050102010706020507" pitchFamily="18" charset="2"/>
              </a:rPr>
              <a:t>V</a:t>
            </a:r>
            <a:r>
              <a:rPr lang="en-US" altLang="en-US" sz="1800" baseline="-25000">
                <a:solidFill>
                  <a:schemeClr val="accent2"/>
                </a:solidFill>
                <a:sym typeface="Symbol" panose="05050102010706020507" pitchFamily="18" charset="2"/>
              </a:rPr>
              <a:t>out</a:t>
            </a:r>
            <a:r>
              <a:rPr lang="en-US" altLang="en-US" sz="1800">
                <a:solidFill>
                  <a:schemeClr val="accent2"/>
                </a:solidFill>
                <a:sym typeface="Symbol" panose="05050102010706020507" pitchFamily="18" charset="2"/>
              </a:rPr>
              <a:t>/</a:t>
            </a:r>
            <a:r>
              <a:rPr lang="en-US" altLang="en-US" sz="1800" i="1">
                <a:solidFill>
                  <a:schemeClr val="accent2"/>
                </a:solidFill>
                <a:sym typeface="Symbol" panose="05050102010706020507" pitchFamily="18" charset="2"/>
              </a:rPr>
              <a:t>R</a:t>
            </a:r>
            <a:r>
              <a:rPr lang="en-US" altLang="en-US" sz="1800" baseline="-25000">
                <a:solidFill>
                  <a:schemeClr val="accent2"/>
                </a:solidFill>
                <a:sym typeface="Symbol" panose="05050102010706020507" pitchFamily="18" charset="2"/>
              </a:rPr>
              <a:t>load</a:t>
            </a:r>
            <a:r>
              <a:rPr lang="en-US" altLang="en-US" sz="1800">
                <a:sym typeface="Symbol" panose="05050102010706020507" pitchFamily="18" charset="2"/>
              </a:rPr>
              <a:t> sets the requirement on </a:t>
            </a:r>
            <a:r>
              <a:rPr lang="en-US" altLang="en-US" sz="1800" i="1">
                <a:sym typeface="Symbol" panose="05050102010706020507" pitchFamily="18" charset="2"/>
              </a:rPr>
              <a:t>R</a:t>
            </a:r>
            <a:r>
              <a:rPr lang="en-US" altLang="en-US" sz="1800" baseline="-25000">
                <a:sym typeface="Symbol" panose="05050102010706020507" pitchFamily="18" charset="2"/>
              </a:rPr>
              <a:t>1</a:t>
            </a:r>
            <a:r>
              <a:rPr lang="en-US" altLang="en-US" sz="1800">
                <a:sym typeface="Symbol" panose="05050102010706020507" pitchFamily="18" charset="2"/>
              </a:rPr>
              <a:t> </a:t>
            </a:r>
          </a:p>
          <a:p>
            <a:pPr lvl="1" eaLnBrk="1" hangingPunct="1"/>
            <a:r>
              <a:rPr lang="en-US" altLang="en-US" sz="1800">
                <a:sym typeface="Symbol" panose="05050102010706020507" pitchFamily="18" charset="2"/>
              </a:rPr>
              <a:t>because presumably all else is known</a:t>
            </a:r>
          </a:p>
          <a:p>
            <a:pPr lvl="1" eaLnBrk="1" hangingPunct="1"/>
            <a:r>
              <a:rPr lang="en-US" altLang="en-US" sz="1800">
                <a:sym typeface="Symbol" panose="05050102010706020507" pitchFamily="18" charset="2"/>
              </a:rPr>
              <a:t>if load current increases too much, zener shuts off (node drops below breakdown) and you just have a voltage divider with the load</a:t>
            </a:r>
            <a:endParaRPr lang="en-US" altLang="en-US" sz="1800"/>
          </a:p>
        </p:txBody>
      </p:sp>
      <p:grpSp>
        <p:nvGrpSpPr>
          <p:cNvPr id="48135" name="Group 42">
            <a:extLst>
              <a:ext uri="{FF2B5EF4-FFF2-40B4-BE49-F238E27FC236}">
                <a16:creationId xmlns:a16="http://schemas.microsoft.com/office/drawing/2014/main" id="{1A9E0D2D-01CA-2D76-0A5B-564E82B65C7E}"/>
              </a:ext>
            </a:extLst>
          </p:cNvPr>
          <p:cNvGrpSpPr>
            <a:grpSpLocks/>
          </p:cNvGrpSpPr>
          <p:nvPr/>
        </p:nvGrpSpPr>
        <p:grpSpPr bwMode="auto">
          <a:xfrm>
            <a:off x="6705600" y="3962400"/>
            <a:ext cx="2066925" cy="2590800"/>
            <a:chOff x="4248" y="1488"/>
            <a:chExt cx="1302" cy="1632"/>
          </a:xfrm>
        </p:grpSpPr>
        <p:sp>
          <p:nvSpPr>
            <p:cNvPr id="48141" name="Freeform 5">
              <a:extLst>
                <a:ext uri="{FF2B5EF4-FFF2-40B4-BE49-F238E27FC236}">
                  <a16:creationId xmlns:a16="http://schemas.microsoft.com/office/drawing/2014/main" id="{92DC21E2-0E60-8100-EA6D-120CFD4B60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0" y="1680"/>
              <a:ext cx="96" cy="480"/>
            </a:xfrm>
            <a:custGeom>
              <a:avLst/>
              <a:gdLst>
                <a:gd name="T0" fmla="*/ 48 w 96"/>
                <a:gd name="T1" fmla="*/ 0 h 480"/>
                <a:gd name="T2" fmla="*/ 48 w 96"/>
                <a:gd name="T3" fmla="*/ 96 h 480"/>
                <a:gd name="T4" fmla="*/ 96 w 96"/>
                <a:gd name="T5" fmla="*/ 144 h 480"/>
                <a:gd name="T6" fmla="*/ 0 w 96"/>
                <a:gd name="T7" fmla="*/ 192 h 480"/>
                <a:gd name="T8" fmla="*/ 96 w 96"/>
                <a:gd name="T9" fmla="*/ 240 h 480"/>
                <a:gd name="T10" fmla="*/ 0 w 96"/>
                <a:gd name="T11" fmla="*/ 288 h 480"/>
                <a:gd name="T12" fmla="*/ 96 w 96"/>
                <a:gd name="T13" fmla="*/ 336 h 480"/>
                <a:gd name="T14" fmla="*/ 0 w 96"/>
                <a:gd name="T15" fmla="*/ 384 h 480"/>
                <a:gd name="T16" fmla="*/ 48 w 96"/>
                <a:gd name="T17" fmla="*/ 432 h 480"/>
                <a:gd name="T18" fmla="*/ 48 w 96"/>
                <a:gd name="T19" fmla="*/ 480 h 48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96"/>
                <a:gd name="T31" fmla="*/ 0 h 480"/>
                <a:gd name="T32" fmla="*/ 96 w 96"/>
                <a:gd name="T33" fmla="*/ 480 h 48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96" h="480">
                  <a:moveTo>
                    <a:pt x="48" y="0"/>
                  </a:moveTo>
                  <a:lnTo>
                    <a:pt x="48" y="96"/>
                  </a:lnTo>
                  <a:lnTo>
                    <a:pt x="96" y="144"/>
                  </a:lnTo>
                  <a:lnTo>
                    <a:pt x="0" y="192"/>
                  </a:lnTo>
                  <a:lnTo>
                    <a:pt x="96" y="240"/>
                  </a:lnTo>
                  <a:lnTo>
                    <a:pt x="0" y="288"/>
                  </a:lnTo>
                  <a:lnTo>
                    <a:pt x="96" y="336"/>
                  </a:lnTo>
                  <a:lnTo>
                    <a:pt x="0" y="384"/>
                  </a:lnTo>
                  <a:lnTo>
                    <a:pt x="48" y="432"/>
                  </a:lnTo>
                  <a:lnTo>
                    <a:pt x="48" y="48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8142" name="Line 16">
              <a:extLst>
                <a:ext uri="{FF2B5EF4-FFF2-40B4-BE49-F238E27FC236}">
                  <a16:creationId xmlns:a16="http://schemas.microsoft.com/office/drawing/2014/main" id="{DD3B5C9D-4498-6876-12D1-0EECADC262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2160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8143" name="Line 17">
              <a:extLst>
                <a:ext uri="{FF2B5EF4-FFF2-40B4-BE49-F238E27FC236}">
                  <a16:creationId xmlns:a16="http://schemas.microsoft.com/office/drawing/2014/main" id="{62AC93CC-7185-BC27-E2B7-9EDA14E94D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2256"/>
              <a:ext cx="52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8144" name="Oval 18">
              <a:extLst>
                <a:ext uri="{FF2B5EF4-FFF2-40B4-BE49-F238E27FC236}">
                  <a16:creationId xmlns:a16="http://schemas.microsoft.com/office/drawing/2014/main" id="{17426DFD-6A38-52D7-C947-CF1DB1CFD0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8" y="2241"/>
              <a:ext cx="23" cy="2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48145" name="Group 19">
              <a:extLst>
                <a:ext uri="{FF2B5EF4-FFF2-40B4-BE49-F238E27FC236}">
                  <a16:creationId xmlns:a16="http://schemas.microsoft.com/office/drawing/2014/main" id="{78A2FA26-F1F7-7A4A-556D-09B995ABC0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72" y="2928"/>
              <a:ext cx="192" cy="192"/>
              <a:chOff x="4032" y="1968"/>
              <a:chExt cx="192" cy="192"/>
            </a:xfrm>
          </p:grpSpPr>
          <p:sp>
            <p:nvSpPr>
              <p:cNvPr id="48163" name="Line 20">
                <a:extLst>
                  <a:ext uri="{FF2B5EF4-FFF2-40B4-BE49-F238E27FC236}">
                    <a16:creationId xmlns:a16="http://schemas.microsoft.com/office/drawing/2014/main" id="{BB49538D-8A56-C3DF-4830-2CC48AB45B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8" y="1968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8164" name="Line 21">
                <a:extLst>
                  <a:ext uri="{FF2B5EF4-FFF2-40B4-BE49-F238E27FC236}">
                    <a16:creationId xmlns:a16="http://schemas.microsoft.com/office/drawing/2014/main" id="{F6595C26-DB78-FF39-329E-D27BAC30B8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7" y="2160"/>
                <a:ext cx="2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8165" name="Line 22">
                <a:extLst>
                  <a:ext uri="{FF2B5EF4-FFF2-40B4-BE49-F238E27FC236}">
                    <a16:creationId xmlns:a16="http://schemas.microsoft.com/office/drawing/2014/main" id="{DA2D6E8F-4682-BD4A-4440-EB169F71FE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2112"/>
                <a:ext cx="9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8166" name="Line 23">
                <a:extLst>
                  <a:ext uri="{FF2B5EF4-FFF2-40B4-BE49-F238E27FC236}">
                    <a16:creationId xmlns:a16="http://schemas.microsoft.com/office/drawing/2014/main" id="{873D7224-DD37-2F68-E7A1-BCE3BFB656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2" y="2064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48146" name="Text Box 24">
              <a:extLst>
                <a:ext uri="{FF2B5EF4-FFF2-40B4-BE49-F238E27FC236}">
                  <a16:creationId xmlns:a16="http://schemas.microsoft.com/office/drawing/2014/main" id="{8BBB144C-B017-C508-D454-45E5968AF6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1" y="1803"/>
              <a:ext cx="27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 i="1">
                  <a:solidFill>
                    <a:srgbClr val="000000"/>
                  </a:solidFill>
                </a:rPr>
                <a:t>R</a:t>
              </a:r>
              <a:r>
                <a:rPr lang="en-US" altLang="en-US" sz="1800" baseline="-25000">
                  <a:solidFill>
                    <a:srgbClr val="000000"/>
                  </a:solidFill>
                </a:rPr>
                <a:t>1</a:t>
              </a:r>
              <a:endParaRPr lang="en-US" altLang="en-US" sz="1800"/>
            </a:p>
          </p:txBody>
        </p:sp>
        <p:sp>
          <p:nvSpPr>
            <p:cNvPr id="48147" name="Text Box 25">
              <a:extLst>
                <a:ext uri="{FF2B5EF4-FFF2-40B4-BE49-F238E27FC236}">
                  <a16:creationId xmlns:a16="http://schemas.microsoft.com/office/drawing/2014/main" id="{480168D0-668B-801E-FFDD-B73C7ED7FF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52" y="2496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 i="1">
                  <a:solidFill>
                    <a:srgbClr val="000000"/>
                  </a:solidFill>
                </a:rPr>
                <a:t>Z</a:t>
              </a:r>
              <a:endParaRPr lang="en-US" altLang="en-US" sz="1800"/>
            </a:p>
          </p:txBody>
        </p:sp>
        <p:sp>
          <p:nvSpPr>
            <p:cNvPr id="48148" name="Text Box 26">
              <a:extLst>
                <a:ext uri="{FF2B5EF4-FFF2-40B4-BE49-F238E27FC236}">
                  <a16:creationId xmlns:a16="http://schemas.microsoft.com/office/drawing/2014/main" id="{1261C9F9-2810-AC5E-76F8-D89220AEE4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1488"/>
              <a:ext cx="28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 i="1">
                  <a:solidFill>
                    <a:srgbClr val="000000"/>
                  </a:solidFill>
                </a:rPr>
                <a:t>V</a:t>
              </a:r>
              <a:r>
                <a:rPr lang="en-US" altLang="en-US" sz="1800" baseline="-25000">
                  <a:solidFill>
                    <a:srgbClr val="000000"/>
                  </a:solidFill>
                </a:rPr>
                <a:t>in</a:t>
              </a:r>
              <a:endParaRPr lang="en-US" altLang="en-US" sz="1800"/>
            </a:p>
          </p:txBody>
        </p:sp>
        <p:sp>
          <p:nvSpPr>
            <p:cNvPr id="48149" name="Text Box 27">
              <a:extLst>
                <a:ext uri="{FF2B5EF4-FFF2-40B4-BE49-F238E27FC236}">
                  <a16:creationId xmlns:a16="http://schemas.microsoft.com/office/drawing/2014/main" id="{519A0702-054B-3BF2-5862-FB1E0DA721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2121"/>
              <a:ext cx="65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 i="1">
                  <a:solidFill>
                    <a:srgbClr val="000000"/>
                  </a:solidFill>
                </a:rPr>
                <a:t>V</a:t>
              </a:r>
              <a:r>
                <a:rPr lang="en-US" altLang="en-US" sz="1800" baseline="-25000">
                  <a:solidFill>
                    <a:srgbClr val="000000"/>
                  </a:solidFill>
                </a:rPr>
                <a:t>out</a:t>
              </a:r>
              <a:r>
                <a:rPr lang="en-US" altLang="en-US" sz="1800">
                  <a:solidFill>
                    <a:srgbClr val="000000"/>
                  </a:solidFill>
                </a:rPr>
                <a:t> = </a:t>
              </a:r>
              <a:r>
                <a:rPr lang="en-US" altLang="en-US" sz="1800" i="1">
                  <a:solidFill>
                    <a:srgbClr val="000000"/>
                  </a:solidFill>
                </a:rPr>
                <a:t>V</a:t>
              </a:r>
              <a:r>
                <a:rPr lang="en-US" altLang="en-US" sz="1800" baseline="-25000">
                  <a:solidFill>
                    <a:srgbClr val="000000"/>
                  </a:solidFill>
                </a:rPr>
                <a:t>z</a:t>
              </a:r>
              <a:endParaRPr lang="en-US" altLang="en-US" sz="1800"/>
            </a:p>
          </p:txBody>
        </p:sp>
        <p:sp>
          <p:nvSpPr>
            <p:cNvPr id="48150" name="Freeform 28">
              <a:extLst>
                <a:ext uri="{FF2B5EF4-FFF2-40B4-BE49-F238E27FC236}">
                  <a16:creationId xmlns:a16="http://schemas.microsoft.com/office/drawing/2014/main" id="{5F22A578-3867-07EF-F267-B48DD594A3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8" y="2256"/>
              <a:ext cx="96" cy="480"/>
            </a:xfrm>
            <a:custGeom>
              <a:avLst/>
              <a:gdLst>
                <a:gd name="T0" fmla="*/ 48 w 96"/>
                <a:gd name="T1" fmla="*/ 0 h 480"/>
                <a:gd name="T2" fmla="*/ 48 w 96"/>
                <a:gd name="T3" fmla="*/ 96 h 480"/>
                <a:gd name="T4" fmla="*/ 96 w 96"/>
                <a:gd name="T5" fmla="*/ 144 h 480"/>
                <a:gd name="T6" fmla="*/ 0 w 96"/>
                <a:gd name="T7" fmla="*/ 192 h 480"/>
                <a:gd name="T8" fmla="*/ 96 w 96"/>
                <a:gd name="T9" fmla="*/ 240 h 480"/>
                <a:gd name="T10" fmla="*/ 0 w 96"/>
                <a:gd name="T11" fmla="*/ 288 h 480"/>
                <a:gd name="T12" fmla="*/ 96 w 96"/>
                <a:gd name="T13" fmla="*/ 336 h 480"/>
                <a:gd name="T14" fmla="*/ 0 w 96"/>
                <a:gd name="T15" fmla="*/ 384 h 480"/>
                <a:gd name="T16" fmla="*/ 48 w 96"/>
                <a:gd name="T17" fmla="*/ 432 h 480"/>
                <a:gd name="T18" fmla="*/ 48 w 96"/>
                <a:gd name="T19" fmla="*/ 480 h 48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96"/>
                <a:gd name="T31" fmla="*/ 0 h 480"/>
                <a:gd name="T32" fmla="*/ 96 w 96"/>
                <a:gd name="T33" fmla="*/ 480 h 48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96" h="480">
                  <a:moveTo>
                    <a:pt x="48" y="0"/>
                  </a:moveTo>
                  <a:lnTo>
                    <a:pt x="48" y="96"/>
                  </a:lnTo>
                  <a:lnTo>
                    <a:pt x="96" y="144"/>
                  </a:lnTo>
                  <a:lnTo>
                    <a:pt x="0" y="192"/>
                  </a:lnTo>
                  <a:lnTo>
                    <a:pt x="96" y="240"/>
                  </a:lnTo>
                  <a:lnTo>
                    <a:pt x="0" y="288"/>
                  </a:lnTo>
                  <a:lnTo>
                    <a:pt x="96" y="336"/>
                  </a:lnTo>
                  <a:lnTo>
                    <a:pt x="0" y="384"/>
                  </a:lnTo>
                  <a:lnTo>
                    <a:pt x="48" y="432"/>
                  </a:lnTo>
                  <a:lnTo>
                    <a:pt x="48" y="48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48151" name="Group 29">
              <a:extLst>
                <a:ext uri="{FF2B5EF4-FFF2-40B4-BE49-F238E27FC236}">
                  <a16:creationId xmlns:a16="http://schemas.microsoft.com/office/drawing/2014/main" id="{28215EE8-AC64-C135-3CF3-210A497391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0" y="2736"/>
              <a:ext cx="192" cy="192"/>
              <a:chOff x="4032" y="1968"/>
              <a:chExt cx="192" cy="192"/>
            </a:xfrm>
          </p:grpSpPr>
          <p:sp>
            <p:nvSpPr>
              <p:cNvPr id="48159" name="Line 30">
                <a:extLst>
                  <a:ext uri="{FF2B5EF4-FFF2-40B4-BE49-F238E27FC236}">
                    <a16:creationId xmlns:a16="http://schemas.microsoft.com/office/drawing/2014/main" id="{C201722C-B80A-0F09-062E-01A47C7321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8" y="1968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8160" name="Line 31">
                <a:extLst>
                  <a:ext uri="{FF2B5EF4-FFF2-40B4-BE49-F238E27FC236}">
                    <a16:creationId xmlns:a16="http://schemas.microsoft.com/office/drawing/2014/main" id="{FFEE6348-97A2-95B0-DDE3-2A003EE33C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7" y="2160"/>
                <a:ext cx="2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8161" name="Line 32">
                <a:extLst>
                  <a:ext uri="{FF2B5EF4-FFF2-40B4-BE49-F238E27FC236}">
                    <a16:creationId xmlns:a16="http://schemas.microsoft.com/office/drawing/2014/main" id="{2665BC93-8A5E-5736-A860-6B9CFE51F3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2112"/>
                <a:ext cx="9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8162" name="Line 33">
                <a:extLst>
                  <a:ext uri="{FF2B5EF4-FFF2-40B4-BE49-F238E27FC236}">
                    <a16:creationId xmlns:a16="http://schemas.microsoft.com/office/drawing/2014/main" id="{FDE52C9D-F97C-65CE-7DCF-D539642D99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2" y="2064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48152" name="Text Box 34">
              <a:extLst>
                <a:ext uri="{FF2B5EF4-FFF2-40B4-BE49-F238E27FC236}">
                  <a16:creationId xmlns:a16="http://schemas.microsoft.com/office/drawing/2014/main" id="{B5188CDD-6E38-6486-B84A-C12ECF1E7C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1" y="2409"/>
              <a:ext cx="40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 i="1">
                  <a:solidFill>
                    <a:srgbClr val="000000"/>
                  </a:solidFill>
                </a:rPr>
                <a:t>R</a:t>
              </a:r>
              <a:r>
                <a:rPr lang="en-US" altLang="en-US" sz="1800" baseline="-25000">
                  <a:solidFill>
                    <a:srgbClr val="000000"/>
                  </a:solidFill>
                </a:rPr>
                <a:t>load</a:t>
              </a:r>
              <a:endParaRPr lang="en-US" altLang="en-US" sz="1800"/>
            </a:p>
          </p:txBody>
        </p:sp>
        <p:grpSp>
          <p:nvGrpSpPr>
            <p:cNvPr id="48153" name="Group 41">
              <a:extLst>
                <a:ext uri="{FF2B5EF4-FFF2-40B4-BE49-F238E27FC236}">
                  <a16:creationId xmlns:a16="http://schemas.microsoft.com/office/drawing/2014/main" id="{486E3A76-93D5-016D-900C-1A9142788399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3984" y="2472"/>
              <a:ext cx="768" cy="240"/>
              <a:chOff x="2304" y="2592"/>
              <a:chExt cx="768" cy="240"/>
            </a:xfrm>
          </p:grpSpPr>
          <p:sp>
            <p:nvSpPr>
              <p:cNvPr id="48154" name="Line 36">
                <a:extLst>
                  <a:ext uri="{FF2B5EF4-FFF2-40B4-BE49-F238E27FC236}">
                    <a16:creationId xmlns:a16="http://schemas.microsoft.com/office/drawing/2014/main" id="{C395F66E-FEBB-AAD3-10AB-0006490433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2688" y="2328"/>
                <a:ext cx="0" cy="76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8155" name="AutoShape 37">
                <a:extLst>
                  <a:ext uri="{FF2B5EF4-FFF2-40B4-BE49-F238E27FC236}">
                    <a16:creationId xmlns:a16="http://schemas.microsoft.com/office/drawing/2014/main" id="{FB2A1AAA-7AF5-16F6-C3C0-4DDB699903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V="1">
                <a:off x="2616" y="2664"/>
                <a:ext cx="144" cy="96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 w="317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8156" name="Line 38">
                <a:extLst>
                  <a:ext uri="{FF2B5EF4-FFF2-40B4-BE49-F238E27FC236}">
                    <a16:creationId xmlns:a16="http://schemas.microsoft.com/office/drawing/2014/main" id="{5A8416F6-016B-E849-96CA-9FA0426213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2663" y="2711"/>
                <a:ext cx="144" cy="0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8157" name="Line 39">
                <a:extLst>
                  <a:ext uri="{FF2B5EF4-FFF2-40B4-BE49-F238E27FC236}">
                    <a16:creationId xmlns:a16="http://schemas.microsoft.com/office/drawing/2014/main" id="{B8E0C4D1-DEF6-1F3B-C8E0-E88A62897D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688" y="2592"/>
                <a:ext cx="48" cy="48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48158" name="Line 40">
                <a:extLst>
                  <a:ext uri="{FF2B5EF4-FFF2-40B4-BE49-F238E27FC236}">
                    <a16:creationId xmlns:a16="http://schemas.microsoft.com/office/drawing/2014/main" id="{21A628F3-32CD-CDE0-68F0-55BD09E5A9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736" y="2784"/>
                <a:ext cx="48" cy="48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</p:grpSp>
      <p:pic>
        <p:nvPicPr>
          <p:cNvPr id="48136" name="Picture 43" descr="zener">
            <a:extLst>
              <a:ext uri="{FF2B5EF4-FFF2-40B4-BE49-F238E27FC236}">
                <a16:creationId xmlns:a16="http://schemas.microsoft.com/office/drawing/2014/main" id="{7656E115-A848-C098-0ED4-6B2DF49E41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1143000"/>
            <a:ext cx="2514600" cy="208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7" name="Line 44">
            <a:extLst>
              <a:ext uri="{FF2B5EF4-FFF2-40B4-BE49-F238E27FC236}">
                <a16:creationId xmlns:a16="http://schemas.microsoft.com/office/drawing/2014/main" id="{92854978-8E23-E8CF-03F1-FD36563F94B3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2590800"/>
            <a:ext cx="914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48138" name="Text Box 45">
            <a:extLst>
              <a:ext uri="{FF2B5EF4-FFF2-40B4-BE49-F238E27FC236}">
                <a16:creationId xmlns:a16="http://schemas.microsoft.com/office/drawing/2014/main" id="{4D19D198-5715-5171-5039-8EDBA53213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7925" y="2438400"/>
            <a:ext cx="14049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>
                <a:solidFill>
                  <a:schemeClr val="accent2"/>
                </a:solidFill>
              </a:rPr>
              <a:t>zener voltage</a:t>
            </a:r>
          </a:p>
        </p:txBody>
      </p:sp>
      <p:sp>
        <p:nvSpPr>
          <p:cNvPr id="48139" name="Text Box 46">
            <a:extLst>
              <a:ext uri="{FF2B5EF4-FFF2-40B4-BE49-F238E27FC236}">
                <a16:creationId xmlns:a16="http://schemas.microsoft.com/office/drawing/2014/main" id="{21559FDB-C84B-04B7-8A80-1A0554F002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3200400"/>
            <a:ext cx="30988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>
                <a:solidFill>
                  <a:schemeClr val="hlink"/>
                </a:solidFill>
              </a:rPr>
              <a:t>high slope is what makes the</a:t>
            </a:r>
          </a:p>
          <a:p>
            <a:r>
              <a:rPr lang="en-US" altLang="en-US" sz="1600">
                <a:solidFill>
                  <a:schemeClr val="hlink"/>
                </a:solidFill>
              </a:rPr>
              <a:t>zener a decent voltage regulator</a:t>
            </a:r>
          </a:p>
        </p:txBody>
      </p:sp>
      <p:sp>
        <p:nvSpPr>
          <p:cNvPr id="48140" name="Line 47">
            <a:extLst>
              <a:ext uri="{FF2B5EF4-FFF2-40B4-BE49-F238E27FC236}">
                <a16:creationId xmlns:a16="http://schemas.microsoft.com/office/drawing/2014/main" id="{4128396A-9226-ED21-3508-4EB6D1AC27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43600" y="2743200"/>
            <a:ext cx="609600" cy="45720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Date Placeholder 4">
            <a:extLst>
              <a:ext uri="{FF2B5EF4-FFF2-40B4-BE49-F238E27FC236}">
                <a16:creationId xmlns:a16="http://schemas.microsoft.com/office/drawing/2014/main" id="{F1279D8F-00FA-273B-6F3E-EBB4A30CF0F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Winter 2012</a:t>
            </a:r>
          </a:p>
        </p:txBody>
      </p:sp>
      <p:sp>
        <p:nvSpPr>
          <p:cNvPr id="50179" name="Footer Placeholder 5">
            <a:extLst>
              <a:ext uri="{FF2B5EF4-FFF2-40B4-BE49-F238E27FC236}">
                <a16:creationId xmlns:a16="http://schemas.microsoft.com/office/drawing/2014/main" id="{5672C2AF-6C72-DD18-6B8D-D376361BD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UCSD: Physics 121; 2012</a:t>
            </a:r>
          </a:p>
        </p:txBody>
      </p:sp>
      <p:sp>
        <p:nvSpPr>
          <p:cNvPr id="50180" name="Slide Number Placeholder 6">
            <a:extLst>
              <a:ext uri="{FF2B5EF4-FFF2-40B4-BE49-F238E27FC236}">
                <a16:creationId xmlns:a16="http://schemas.microsoft.com/office/drawing/2014/main" id="{B31B8F59-3DB8-96F6-2AAF-C61A5D4A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90AC1D5-703F-42F0-A1B5-6C0F0324BA0E}" type="slidenum">
              <a:rPr lang="en-US" altLang="en-US" sz="1400"/>
              <a:pPr/>
              <a:t>17</a:t>
            </a:fld>
            <a:endParaRPr lang="en-US" altLang="en-US" sz="1400"/>
          </a:p>
        </p:txBody>
      </p:sp>
      <p:pic>
        <p:nvPicPr>
          <p:cNvPr id="50181" name="Picture 2" descr="TO220">
            <a:extLst>
              <a:ext uri="{FF2B5EF4-FFF2-40B4-BE49-F238E27FC236}">
                <a16:creationId xmlns:a16="http://schemas.microsoft.com/office/drawing/2014/main" id="{CE0D9983-A5AD-4301-1106-CE4D59C7A8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4064000"/>
            <a:ext cx="2514600" cy="241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4" name="Rectangle 4">
            <a:extLst>
              <a:ext uri="{FF2B5EF4-FFF2-40B4-BE49-F238E27FC236}">
                <a16:creationId xmlns:a16="http://schemas.microsoft.com/office/drawing/2014/main" id="{B425F3C4-2C67-4613-2A5B-AC2CD7955C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762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Voltage Regulator IC</a:t>
            </a:r>
          </a:p>
        </p:txBody>
      </p:sp>
      <p:sp>
        <p:nvSpPr>
          <p:cNvPr id="87045" name="Rectangle 5">
            <a:extLst>
              <a:ext uri="{FF2B5EF4-FFF2-40B4-BE49-F238E27FC236}">
                <a16:creationId xmlns:a16="http://schemas.microsoft.com/office/drawing/2014/main" id="{95A6AE22-AF66-EB3C-FA0D-6D278CD83D4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914400"/>
            <a:ext cx="4191000" cy="5029200"/>
          </a:xfrm>
        </p:spPr>
        <p:txBody>
          <a:bodyPr/>
          <a:lstStyle/>
          <a:p>
            <a:pPr eaLnBrk="1" hangingPunct="1">
              <a:defRPr/>
            </a:pPr>
            <a:r>
              <a:rPr lang="en-US" sz="2000"/>
              <a:t>Can trim down ripply voltage to precise, rock-steady value</a:t>
            </a:r>
          </a:p>
          <a:p>
            <a:pPr eaLnBrk="1" hangingPunct="1">
              <a:defRPr/>
            </a:pPr>
            <a:r>
              <a:rPr lang="en-US" sz="2000"/>
              <a:t>Now things get complicated!</a:t>
            </a:r>
          </a:p>
          <a:p>
            <a:pPr lvl="1" eaLnBrk="1" hangingPunct="1">
              <a:defRPr/>
            </a:pPr>
            <a:r>
              <a:rPr lang="en-US" sz="1800"/>
              <a:t>We are now in the realm of integrated circuits (ICs)</a:t>
            </a:r>
          </a:p>
          <a:p>
            <a:pPr eaLnBrk="1" hangingPunct="1">
              <a:defRPr/>
            </a:pPr>
            <a:r>
              <a:rPr lang="en-US" sz="2000"/>
              <a:t>ICs are whole circuits in small packages</a:t>
            </a:r>
          </a:p>
          <a:p>
            <a:pPr eaLnBrk="1" hangingPunct="1">
              <a:defRPr/>
            </a:pPr>
            <a:r>
              <a:rPr lang="en-US" sz="2000"/>
              <a:t>ICs contain resistors, capacitors, diodes, transistors, etc.</a:t>
            </a:r>
          </a:p>
        </p:txBody>
      </p:sp>
      <p:pic>
        <p:nvPicPr>
          <p:cNvPr id="50184" name="Picture 6">
            <a:extLst>
              <a:ext uri="{FF2B5EF4-FFF2-40B4-BE49-F238E27FC236}">
                <a16:creationId xmlns:a16="http://schemas.microsoft.com/office/drawing/2014/main" id="{254DE5B9-ADF9-A237-445D-409B2812A9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300" y="1295400"/>
            <a:ext cx="39751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5" name="Text Box 8">
            <a:extLst>
              <a:ext uri="{FF2B5EF4-FFF2-40B4-BE49-F238E27FC236}">
                <a16:creationId xmlns:a16="http://schemas.microsoft.com/office/drawing/2014/main" id="{C4D75236-F7E4-E14A-3B85-E8630CA941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6925" y="804863"/>
            <a:ext cx="1377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solidFill>
                  <a:schemeClr val="hlink"/>
                </a:solidFill>
              </a:rPr>
              <a:t>note zeners</a:t>
            </a:r>
          </a:p>
        </p:txBody>
      </p:sp>
      <p:sp>
        <p:nvSpPr>
          <p:cNvPr id="50186" name="Line 9">
            <a:extLst>
              <a:ext uri="{FF2B5EF4-FFF2-40B4-BE49-F238E27FC236}">
                <a16:creationId xmlns:a16="http://schemas.microsoft.com/office/drawing/2014/main" id="{DA546DA0-63EC-1366-7B29-80AD61E1189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34200" y="1143000"/>
            <a:ext cx="609600" cy="91440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0187" name="Line 10">
            <a:extLst>
              <a:ext uri="{FF2B5EF4-FFF2-40B4-BE49-F238E27FC236}">
                <a16:creationId xmlns:a16="http://schemas.microsoft.com/office/drawing/2014/main" id="{BAB67C25-4176-F79D-DD93-318BA01BE0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15000" y="1143000"/>
            <a:ext cx="1524000" cy="114300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0188" name="AutoShape 11">
            <a:extLst>
              <a:ext uri="{FF2B5EF4-FFF2-40B4-BE49-F238E27FC236}">
                <a16:creationId xmlns:a16="http://schemas.microsoft.com/office/drawing/2014/main" id="{A20B3A93-E771-0353-4A26-52CDA02F97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4495800"/>
            <a:ext cx="1219200" cy="381000"/>
          </a:xfrm>
          <a:prstGeom prst="rightArrow">
            <a:avLst>
              <a:gd name="adj1" fmla="val 50000"/>
              <a:gd name="adj2" fmla="val 80000"/>
            </a:avLst>
          </a:prstGeom>
          <a:solidFill>
            <a:srgbClr val="0DC1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Date Placeholder 3">
            <a:extLst>
              <a:ext uri="{FF2B5EF4-FFF2-40B4-BE49-F238E27FC236}">
                <a16:creationId xmlns:a16="http://schemas.microsoft.com/office/drawing/2014/main" id="{DEA8A6B4-D9B6-D345-44AA-8A4801F548D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Winter 2012</a:t>
            </a:r>
          </a:p>
        </p:txBody>
      </p:sp>
      <p:sp>
        <p:nvSpPr>
          <p:cNvPr id="52227" name="Footer Placeholder 4">
            <a:extLst>
              <a:ext uri="{FF2B5EF4-FFF2-40B4-BE49-F238E27FC236}">
                <a16:creationId xmlns:a16="http://schemas.microsoft.com/office/drawing/2014/main" id="{E9681FCB-5109-491E-EAFA-E73F97FF2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UCSD: Physics 121; 2012</a:t>
            </a:r>
          </a:p>
        </p:txBody>
      </p:sp>
      <p:sp>
        <p:nvSpPr>
          <p:cNvPr id="52228" name="Slide Number Placeholder 5">
            <a:extLst>
              <a:ext uri="{FF2B5EF4-FFF2-40B4-BE49-F238E27FC236}">
                <a16:creationId xmlns:a16="http://schemas.microsoft.com/office/drawing/2014/main" id="{DCD3667E-F43B-6817-3F1A-C8814804E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8B08180-6102-41ED-86A2-A77D4B57F314}" type="slidenum">
              <a:rPr lang="en-US" altLang="en-US" sz="1400"/>
              <a:pPr/>
              <a:t>18</a:t>
            </a:fld>
            <a:endParaRPr lang="en-US" altLang="en-US" sz="1400"/>
          </a:p>
        </p:txBody>
      </p:sp>
      <p:pic>
        <p:nvPicPr>
          <p:cNvPr id="52229" name="Picture 5" descr="LM317">
            <a:extLst>
              <a:ext uri="{FF2B5EF4-FFF2-40B4-BE49-F238E27FC236}">
                <a16:creationId xmlns:a16="http://schemas.microsoft.com/office/drawing/2014/main" id="{9D73DCBC-7AC0-D7F5-9110-DB7053047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4662488"/>
            <a:ext cx="3227388" cy="2195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7282" name="Rectangle 2">
            <a:extLst>
              <a:ext uri="{FF2B5EF4-FFF2-40B4-BE49-F238E27FC236}">
                <a16:creationId xmlns:a16="http://schemas.microsoft.com/office/drawing/2014/main" id="{06758BCB-82F4-6871-8805-E5CF63D338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762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Voltage Regulators</a:t>
            </a:r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5AED4D77-7D93-14C9-5518-4A9FE94899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838200"/>
            <a:ext cx="7772400" cy="5562600"/>
          </a:xfrm>
        </p:spPr>
        <p:txBody>
          <a:bodyPr/>
          <a:lstStyle/>
          <a:p>
            <a:pPr eaLnBrk="1" hangingPunct="1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The most common voltage regulators are the </a:t>
            </a:r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LM78XX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(</a:t>
            </a:r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voltages) and </a:t>
            </a:r>
            <a:r>
              <a:rPr lang="en-US" altLang="en-US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LM79XX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(</a:t>
            </a:r>
            <a:r>
              <a:rPr lang="en-US" altLang="en-US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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 voltages)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lvl="1" eaLnBrk="1" hangingPunct="1"/>
            <a:r>
              <a:rPr lang="en-US" altLang="en-US"/>
              <a:t>XX represents the voltage</a:t>
            </a:r>
          </a:p>
          <a:p>
            <a:pPr marL="1085850" lvl="2" eaLnBrk="1" hangingPunct="1"/>
            <a:r>
              <a:rPr lang="en-US" altLang="en-US"/>
              <a:t>78</a:t>
            </a:r>
            <a:r>
              <a:rPr lang="en-US" altLang="en-US">
                <a:solidFill>
                  <a:schemeClr val="accent2"/>
                </a:solidFill>
              </a:rPr>
              <a:t>15</a:t>
            </a:r>
            <a:r>
              <a:rPr lang="en-US" altLang="en-US"/>
              <a:t> is </a:t>
            </a:r>
            <a:r>
              <a:rPr lang="en-US" altLang="en-US">
                <a:solidFill>
                  <a:schemeClr val="accent2"/>
                </a:solidFill>
              </a:rPr>
              <a:t>+15</a:t>
            </a:r>
            <a:r>
              <a:rPr lang="en-US" altLang="en-US"/>
              <a:t>; 79</a:t>
            </a:r>
            <a:r>
              <a:rPr lang="en-US" altLang="en-US">
                <a:solidFill>
                  <a:schemeClr val="hlink"/>
                </a:solidFill>
              </a:rPr>
              <a:t>15</a:t>
            </a:r>
            <a:r>
              <a:rPr lang="en-US" altLang="en-US"/>
              <a:t> is </a:t>
            </a:r>
            <a:r>
              <a:rPr lang="en-US" altLang="en-US">
                <a:solidFill>
                  <a:schemeClr val="hlink"/>
                </a:solidFill>
                <a:sym typeface="Symbol" panose="05050102010706020507" pitchFamily="18" charset="2"/>
              </a:rPr>
              <a:t>15</a:t>
            </a:r>
            <a:r>
              <a:rPr lang="en-US" altLang="en-US">
                <a:sym typeface="Symbol" panose="05050102010706020507" pitchFamily="18" charset="2"/>
              </a:rPr>
              <a:t>; 78</a:t>
            </a: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05</a:t>
            </a:r>
            <a:r>
              <a:rPr lang="en-US" altLang="en-US">
                <a:sym typeface="Symbol" panose="05050102010706020507" pitchFamily="18" charset="2"/>
              </a:rPr>
              <a:t> is </a:t>
            </a: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+5</a:t>
            </a:r>
            <a:r>
              <a:rPr lang="en-US" altLang="en-US">
                <a:sym typeface="Symbol" panose="05050102010706020507" pitchFamily="18" charset="2"/>
              </a:rPr>
              <a:t>, etc</a:t>
            </a:r>
          </a:p>
          <a:p>
            <a:pPr lvl="1" eaLnBrk="1" hangingPunct="1"/>
            <a:r>
              <a:rPr lang="en-US" altLang="en-US"/>
              <a:t>typically needs input &gt; 3 volts above output (reg.) voltage</a:t>
            </a:r>
          </a:p>
          <a:p>
            <a:pPr eaLnBrk="1" hangingPunct="1"/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/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/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A versatile regulator is the </a:t>
            </a:r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LM317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(</a:t>
            </a:r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) or </a:t>
            </a:r>
            <a:r>
              <a:rPr lang="en-US" altLang="en-US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LM337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(</a:t>
            </a:r>
            <a:r>
              <a:rPr lang="en-US" altLang="en-US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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)</a:t>
            </a:r>
          </a:p>
          <a:p>
            <a:pPr lvl="1" eaLnBrk="1" hangingPunct="1"/>
            <a:r>
              <a:rPr lang="en-US" altLang="en-US"/>
              <a:t>1.2–37 V output</a:t>
            </a:r>
          </a:p>
          <a:p>
            <a:pPr lvl="1" eaLnBrk="1" hangingPunct="1"/>
            <a:r>
              <a:rPr lang="en-US" altLang="en-US" i="1">
                <a:solidFill>
                  <a:schemeClr val="accent2"/>
                </a:solidFill>
              </a:rPr>
              <a:t>V</a:t>
            </a:r>
            <a:r>
              <a:rPr lang="en-US" altLang="en-US" baseline="-25000">
                <a:solidFill>
                  <a:schemeClr val="accent2"/>
                </a:solidFill>
              </a:rPr>
              <a:t>out</a:t>
            </a:r>
            <a:r>
              <a:rPr lang="en-US" altLang="en-US">
                <a:solidFill>
                  <a:schemeClr val="accent2"/>
                </a:solidFill>
              </a:rPr>
              <a:t> = 1.25(1+</a:t>
            </a:r>
            <a:r>
              <a:rPr lang="en-US" altLang="en-US" i="1">
                <a:solidFill>
                  <a:schemeClr val="accent2"/>
                </a:solidFill>
              </a:rPr>
              <a:t>R</a:t>
            </a:r>
            <a:r>
              <a:rPr lang="en-US" altLang="en-US" baseline="-25000">
                <a:solidFill>
                  <a:schemeClr val="accent2"/>
                </a:solidFill>
              </a:rPr>
              <a:t>2</a:t>
            </a:r>
            <a:r>
              <a:rPr lang="en-US" altLang="en-US">
                <a:solidFill>
                  <a:schemeClr val="accent2"/>
                </a:solidFill>
              </a:rPr>
              <a:t>/</a:t>
            </a:r>
            <a:r>
              <a:rPr lang="en-US" altLang="en-US" i="1">
                <a:solidFill>
                  <a:schemeClr val="accent2"/>
                </a:solidFill>
              </a:rPr>
              <a:t>R</a:t>
            </a:r>
            <a:r>
              <a:rPr lang="en-US" altLang="en-US" baseline="-25000">
                <a:solidFill>
                  <a:schemeClr val="accent2"/>
                </a:solidFill>
              </a:rPr>
              <a:t>1</a:t>
            </a:r>
            <a:r>
              <a:rPr lang="en-US" altLang="en-US">
                <a:solidFill>
                  <a:schemeClr val="accent2"/>
                </a:solidFill>
              </a:rPr>
              <a:t>) + </a:t>
            </a:r>
            <a:r>
              <a:rPr lang="en-US" altLang="en-US" i="1">
                <a:solidFill>
                  <a:schemeClr val="accent2"/>
                </a:solidFill>
              </a:rPr>
              <a:t>I</a:t>
            </a:r>
            <a:r>
              <a:rPr lang="en-US" altLang="en-US" baseline="-25000">
                <a:solidFill>
                  <a:schemeClr val="accent2"/>
                </a:solidFill>
              </a:rPr>
              <a:t>adj</a:t>
            </a:r>
            <a:r>
              <a:rPr lang="en-US" altLang="en-US" i="1">
                <a:solidFill>
                  <a:schemeClr val="accent2"/>
                </a:solidFill>
              </a:rPr>
              <a:t>R</a:t>
            </a:r>
            <a:r>
              <a:rPr lang="en-US" altLang="en-US" baseline="-25000">
                <a:solidFill>
                  <a:schemeClr val="accent2"/>
                </a:solidFill>
              </a:rPr>
              <a:t>2</a:t>
            </a:r>
            <a:endParaRPr lang="en-US" altLang="en-US" i="1" baseline="-25000"/>
          </a:p>
          <a:p>
            <a:pPr lvl="1" eaLnBrk="1" hangingPunct="1"/>
            <a:r>
              <a:rPr lang="en-US" altLang="en-US"/>
              <a:t>Up to 1.5 A</a:t>
            </a:r>
          </a:p>
          <a:p>
            <a:pPr lvl="1" eaLnBrk="1" hangingPunct="1"/>
            <a:r>
              <a:rPr lang="en-US" altLang="en-US"/>
              <a:t>picture at right can go to 25 V</a:t>
            </a:r>
          </a:p>
          <a:p>
            <a:pPr lvl="1" eaLnBrk="1" hangingPunct="1"/>
            <a:r>
              <a:rPr lang="en-US" altLang="en-US">
                <a:solidFill>
                  <a:schemeClr val="folHlink"/>
                </a:solidFill>
              </a:rPr>
              <a:t>datasheetcatalog.com</a:t>
            </a:r>
            <a:r>
              <a:rPr lang="en-US" altLang="en-US"/>
              <a:t> for details</a:t>
            </a:r>
          </a:p>
        </p:txBody>
      </p:sp>
      <p:pic>
        <p:nvPicPr>
          <p:cNvPr id="52232" name="Picture 4" descr="lmxxx_pins">
            <a:extLst>
              <a:ext uri="{FF2B5EF4-FFF2-40B4-BE49-F238E27FC236}">
                <a16:creationId xmlns:a16="http://schemas.microsoft.com/office/drawing/2014/main" id="{B1804289-5E49-277A-8157-7017B65C2C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667000"/>
            <a:ext cx="2465388" cy="132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3" name="Text Box 6">
            <a:extLst>
              <a:ext uri="{FF2B5EF4-FFF2-40B4-BE49-F238E27FC236}">
                <a16:creationId xmlns:a16="http://schemas.microsoft.com/office/drawing/2014/main" id="{1F438C90-11E4-D197-245A-B30966FE8C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3494088"/>
            <a:ext cx="39227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>
                <a:solidFill>
                  <a:schemeClr val="hlink"/>
                </a:solidFill>
              </a:rPr>
              <a:t>beware that housing is not always ground</a:t>
            </a:r>
          </a:p>
        </p:txBody>
      </p:sp>
      <p:sp>
        <p:nvSpPr>
          <p:cNvPr id="52234" name="Line 7">
            <a:extLst>
              <a:ext uri="{FF2B5EF4-FFF2-40B4-BE49-F238E27FC236}">
                <a16:creationId xmlns:a16="http://schemas.microsoft.com/office/drawing/2014/main" id="{0D73136A-9FC6-2B74-B712-664CABCBF79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95800" y="3657600"/>
            <a:ext cx="533400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Date Placeholder 3">
            <a:extLst>
              <a:ext uri="{FF2B5EF4-FFF2-40B4-BE49-F238E27FC236}">
                <a16:creationId xmlns:a16="http://schemas.microsoft.com/office/drawing/2014/main" id="{509AFFE9-FEB1-F2F5-ADAF-B8FB29673AD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Winter 2012</a:t>
            </a:r>
          </a:p>
        </p:txBody>
      </p:sp>
      <p:sp>
        <p:nvSpPr>
          <p:cNvPr id="54275" name="Footer Placeholder 4">
            <a:extLst>
              <a:ext uri="{FF2B5EF4-FFF2-40B4-BE49-F238E27FC236}">
                <a16:creationId xmlns:a16="http://schemas.microsoft.com/office/drawing/2014/main" id="{8AF1A497-6CFD-E606-BC4A-B9725B5FD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UCSD: Physics 121; 2012</a:t>
            </a:r>
          </a:p>
        </p:txBody>
      </p:sp>
      <p:sp>
        <p:nvSpPr>
          <p:cNvPr id="54276" name="Slide Number Placeholder 5">
            <a:extLst>
              <a:ext uri="{FF2B5EF4-FFF2-40B4-BE49-F238E27FC236}">
                <a16:creationId xmlns:a16="http://schemas.microsoft.com/office/drawing/2014/main" id="{5FF30B8E-1F94-5CBB-D9D6-DA804F2AB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BF762C4-5A50-4EA0-B60D-20BEC698631B}" type="slidenum">
              <a:rPr lang="en-US" altLang="en-US" sz="1400"/>
              <a:pPr/>
              <a:t>19</a:t>
            </a:fld>
            <a:endParaRPr lang="en-US" altLang="en-US" sz="1400"/>
          </a:p>
        </p:txBody>
      </p:sp>
      <p:sp>
        <p:nvSpPr>
          <p:cNvPr id="108546" name="Rectangle 2">
            <a:extLst>
              <a:ext uri="{FF2B5EF4-FFF2-40B4-BE49-F238E27FC236}">
                <a16:creationId xmlns:a16="http://schemas.microsoft.com/office/drawing/2014/main" id="{6D949766-3446-4D69-6E06-60BE76F9A2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Transistors</a:t>
            </a:r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60545F73-3772-921A-53F4-5D0F4B4A5F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70104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Transistors are versatile, highly non-linear devices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Two frequent modes of operation: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amplifiers/buffers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switches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Two main flavors: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npn (more common) or pnp, describing doping structure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Also many varieties: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bipolar junction transistors (BJTs) such as npn, pnp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field effect transistors (FETs): n-channel and p-channel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metal-oxide-semiconductor FETs (MOSFETs)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We’ll just hit the essentials of the BJT here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MOSFET in later lecture</a:t>
            </a:r>
          </a:p>
        </p:txBody>
      </p:sp>
      <p:pic>
        <p:nvPicPr>
          <p:cNvPr id="54279" name="Picture 6" descr="to92-usa">
            <a:extLst>
              <a:ext uri="{FF2B5EF4-FFF2-40B4-BE49-F238E27FC236}">
                <a16:creationId xmlns:a16="http://schemas.microsoft.com/office/drawing/2014/main" id="{E0A0CC24-A268-BE23-81D7-3CF33E2CB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600200"/>
            <a:ext cx="1344613" cy="17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4280" name="Group 7">
            <a:extLst>
              <a:ext uri="{FF2B5EF4-FFF2-40B4-BE49-F238E27FC236}">
                <a16:creationId xmlns:a16="http://schemas.microsoft.com/office/drawing/2014/main" id="{23A7659C-FE39-3165-AC92-32FAFCE497C1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3429000"/>
            <a:ext cx="846138" cy="990600"/>
            <a:chOff x="4896" y="3456"/>
            <a:chExt cx="533" cy="624"/>
          </a:xfrm>
        </p:grpSpPr>
        <p:grpSp>
          <p:nvGrpSpPr>
            <p:cNvPr id="54292" name="Group 8">
              <a:extLst>
                <a:ext uri="{FF2B5EF4-FFF2-40B4-BE49-F238E27FC236}">
                  <a16:creationId xmlns:a16="http://schemas.microsoft.com/office/drawing/2014/main" id="{CE1FC6E7-413A-E489-6563-9EA6787014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2" y="3552"/>
              <a:ext cx="240" cy="480"/>
              <a:chOff x="2256" y="2208"/>
              <a:chExt cx="240" cy="480"/>
            </a:xfrm>
          </p:grpSpPr>
          <p:sp>
            <p:nvSpPr>
              <p:cNvPr id="54296" name="Line 9">
                <a:extLst>
                  <a:ext uri="{FF2B5EF4-FFF2-40B4-BE49-F238E27FC236}">
                    <a16:creationId xmlns:a16="http://schemas.microsoft.com/office/drawing/2014/main" id="{AA6248D2-4E27-9392-32A9-BB77A80A11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0" y="2352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4297" name="Line 10">
                <a:extLst>
                  <a:ext uri="{FF2B5EF4-FFF2-40B4-BE49-F238E27FC236}">
                    <a16:creationId xmlns:a16="http://schemas.microsoft.com/office/drawing/2014/main" id="{E8442C6C-4556-579B-84B9-49573E6E36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00" y="2304"/>
                <a:ext cx="96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4298" name="Line 11">
                <a:extLst>
                  <a:ext uri="{FF2B5EF4-FFF2-40B4-BE49-F238E27FC236}">
                    <a16:creationId xmlns:a16="http://schemas.microsoft.com/office/drawing/2014/main" id="{B7230776-CC0A-8FE8-5D24-11789F51D2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0" y="2496"/>
                <a:ext cx="96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4299" name="Line 12">
                <a:extLst>
                  <a:ext uri="{FF2B5EF4-FFF2-40B4-BE49-F238E27FC236}">
                    <a16:creationId xmlns:a16="http://schemas.microsoft.com/office/drawing/2014/main" id="{E382CB68-6835-519F-7953-856CA1C672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96" y="2208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4300" name="Line 13">
                <a:extLst>
                  <a:ext uri="{FF2B5EF4-FFF2-40B4-BE49-F238E27FC236}">
                    <a16:creationId xmlns:a16="http://schemas.microsoft.com/office/drawing/2014/main" id="{267F8C38-A813-A9FD-CAD5-400F47F1CC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56" y="2448"/>
                <a:ext cx="14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4301" name="Line 14">
                <a:extLst>
                  <a:ext uri="{FF2B5EF4-FFF2-40B4-BE49-F238E27FC236}">
                    <a16:creationId xmlns:a16="http://schemas.microsoft.com/office/drawing/2014/main" id="{14684C68-9DB9-B9F5-44C3-34FD723203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6" y="2592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54293" name="Text Box 15">
              <a:extLst>
                <a:ext uri="{FF2B5EF4-FFF2-40B4-BE49-F238E27FC236}">
                  <a16:creationId xmlns:a16="http://schemas.microsoft.com/office/drawing/2014/main" id="{533E6112-6E60-28A2-05D8-B89DDD7573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3648"/>
              <a:ext cx="1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200">
                  <a:solidFill>
                    <a:srgbClr val="000000"/>
                  </a:solidFill>
                </a:rPr>
                <a:t>B</a:t>
              </a:r>
              <a:endParaRPr lang="en-US" altLang="en-US" sz="1200"/>
            </a:p>
          </p:txBody>
        </p:sp>
        <p:sp>
          <p:nvSpPr>
            <p:cNvPr id="54294" name="Text Box 16">
              <a:extLst>
                <a:ext uri="{FF2B5EF4-FFF2-40B4-BE49-F238E27FC236}">
                  <a16:creationId xmlns:a16="http://schemas.microsoft.com/office/drawing/2014/main" id="{990BC467-5EC2-0BCD-C19E-672306659B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4" y="3456"/>
              <a:ext cx="18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200">
                  <a:solidFill>
                    <a:srgbClr val="000000"/>
                  </a:solidFill>
                </a:rPr>
                <a:t>C</a:t>
              </a:r>
              <a:endParaRPr lang="en-US" altLang="en-US" sz="1200"/>
            </a:p>
          </p:txBody>
        </p:sp>
        <p:sp>
          <p:nvSpPr>
            <p:cNvPr id="54295" name="Text Box 17">
              <a:extLst>
                <a:ext uri="{FF2B5EF4-FFF2-40B4-BE49-F238E27FC236}">
                  <a16:creationId xmlns:a16="http://schemas.microsoft.com/office/drawing/2014/main" id="{878C0E36-B8BC-1320-D4D2-67648100B7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4" y="3907"/>
              <a:ext cx="1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200">
                  <a:solidFill>
                    <a:srgbClr val="000000"/>
                  </a:solidFill>
                </a:rPr>
                <a:t>E</a:t>
              </a:r>
              <a:endParaRPr lang="en-US" altLang="en-US" sz="1200"/>
            </a:p>
          </p:txBody>
        </p:sp>
      </p:grpSp>
      <p:sp>
        <p:nvSpPr>
          <p:cNvPr id="54281" name="Line 20">
            <a:extLst>
              <a:ext uri="{FF2B5EF4-FFF2-40B4-BE49-F238E27FC236}">
                <a16:creationId xmlns:a16="http://schemas.microsoft.com/office/drawing/2014/main" id="{8DEA2474-09CF-C605-1DB3-5F6B0116205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86800" y="3810000"/>
            <a:ext cx="0" cy="3048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4282" name="Line 21">
            <a:extLst>
              <a:ext uri="{FF2B5EF4-FFF2-40B4-BE49-F238E27FC236}">
                <a16:creationId xmlns:a16="http://schemas.microsoft.com/office/drawing/2014/main" id="{572D9CB6-BE31-FD2F-A7C0-E1018BB105D9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4038600"/>
            <a:ext cx="152400" cy="152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4283" name="Line 22">
            <a:extLst>
              <a:ext uri="{FF2B5EF4-FFF2-40B4-BE49-F238E27FC236}">
                <a16:creationId xmlns:a16="http://schemas.microsoft.com/office/drawing/2014/main" id="{BA716DB2-9933-8D7B-D10B-DC54C359628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86800" y="3733800"/>
            <a:ext cx="152400" cy="152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4284" name="Line 23">
            <a:extLst>
              <a:ext uri="{FF2B5EF4-FFF2-40B4-BE49-F238E27FC236}">
                <a16:creationId xmlns:a16="http://schemas.microsoft.com/office/drawing/2014/main" id="{24C6C56D-2476-D622-656E-E67A4357D026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9200" y="4191000"/>
            <a:ext cx="0" cy="152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4285" name="Line 24">
            <a:extLst>
              <a:ext uri="{FF2B5EF4-FFF2-40B4-BE49-F238E27FC236}">
                <a16:creationId xmlns:a16="http://schemas.microsoft.com/office/drawing/2014/main" id="{D30FDF5D-90C7-8A55-E433-3FF80DF7508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458200" y="3962400"/>
            <a:ext cx="228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4286" name="Line 25">
            <a:extLst>
              <a:ext uri="{FF2B5EF4-FFF2-40B4-BE49-F238E27FC236}">
                <a16:creationId xmlns:a16="http://schemas.microsoft.com/office/drawing/2014/main" id="{C30CCB5F-E9E5-3879-97B3-EB44C0FE6C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39200" y="3581400"/>
            <a:ext cx="0" cy="152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54287" name="Text Box 26">
            <a:extLst>
              <a:ext uri="{FF2B5EF4-FFF2-40B4-BE49-F238E27FC236}">
                <a16:creationId xmlns:a16="http://schemas.microsoft.com/office/drawing/2014/main" id="{8C82E19E-B7AD-7B57-1F6E-43A638A5AB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00" y="3733800"/>
            <a:ext cx="2857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>
                <a:solidFill>
                  <a:srgbClr val="000000"/>
                </a:solidFill>
              </a:rPr>
              <a:t>B</a:t>
            </a:r>
            <a:endParaRPr lang="en-US" altLang="en-US" sz="1200"/>
          </a:p>
        </p:txBody>
      </p:sp>
      <p:sp>
        <p:nvSpPr>
          <p:cNvPr id="54288" name="Text Box 27">
            <a:extLst>
              <a:ext uri="{FF2B5EF4-FFF2-40B4-BE49-F238E27FC236}">
                <a16:creationId xmlns:a16="http://schemas.microsoft.com/office/drawing/2014/main" id="{1877840F-D8BB-F02C-C593-F41AE7C62D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8250" y="3429000"/>
            <a:ext cx="2857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>
                <a:solidFill>
                  <a:srgbClr val="000000"/>
                </a:solidFill>
              </a:rPr>
              <a:t>E</a:t>
            </a:r>
            <a:endParaRPr lang="en-US" altLang="en-US" sz="1200"/>
          </a:p>
        </p:txBody>
      </p:sp>
      <p:sp>
        <p:nvSpPr>
          <p:cNvPr id="54289" name="Text Box 28">
            <a:extLst>
              <a:ext uri="{FF2B5EF4-FFF2-40B4-BE49-F238E27FC236}">
                <a16:creationId xmlns:a16="http://schemas.microsoft.com/office/drawing/2014/main" id="{A840FEBE-0CAF-BAEF-64F2-53FAC45BFF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8250" y="4144963"/>
            <a:ext cx="2936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>
                <a:solidFill>
                  <a:srgbClr val="000000"/>
                </a:solidFill>
              </a:rPr>
              <a:t>C</a:t>
            </a:r>
            <a:endParaRPr lang="en-US" altLang="en-US" sz="1200"/>
          </a:p>
        </p:txBody>
      </p:sp>
      <p:sp>
        <p:nvSpPr>
          <p:cNvPr id="54290" name="Text Box 29">
            <a:extLst>
              <a:ext uri="{FF2B5EF4-FFF2-40B4-BE49-F238E27FC236}">
                <a16:creationId xmlns:a16="http://schemas.microsoft.com/office/drawing/2014/main" id="{54D46ABA-F682-7775-428A-BC17F12870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2225" y="4386263"/>
            <a:ext cx="565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accent2"/>
                </a:solidFill>
              </a:rPr>
              <a:t>npn</a:t>
            </a:r>
            <a:endParaRPr lang="en-US" altLang="en-US" sz="1800"/>
          </a:p>
        </p:txBody>
      </p:sp>
      <p:sp>
        <p:nvSpPr>
          <p:cNvPr id="54291" name="Text Box 30">
            <a:extLst>
              <a:ext uri="{FF2B5EF4-FFF2-40B4-BE49-F238E27FC236}">
                <a16:creationId xmlns:a16="http://schemas.microsoft.com/office/drawing/2014/main" id="{0AE456EB-4380-1340-5D2B-0BA8A4053A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4357688"/>
            <a:ext cx="565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>
                <a:solidFill>
                  <a:schemeClr val="accent2"/>
                </a:solidFill>
              </a:rPr>
              <a:t>pnp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Date Placeholder 3">
            <a:extLst>
              <a:ext uri="{FF2B5EF4-FFF2-40B4-BE49-F238E27FC236}">
                <a16:creationId xmlns:a16="http://schemas.microsoft.com/office/drawing/2014/main" id="{4B51ABF2-D566-D160-082A-7603E2DE8D9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Winter 2012</a:t>
            </a:r>
          </a:p>
        </p:txBody>
      </p:sp>
      <p:sp>
        <p:nvSpPr>
          <p:cNvPr id="56323" name="Footer Placeholder 4">
            <a:extLst>
              <a:ext uri="{FF2B5EF4-FFF2-40B4-BE49-F238E27FC236}">
                <a16:creationId xmlns:a16="http://schemas.microsoft.com/office/drawing/2014/main" id="{CCE181CD-BE72-F320-CA03-4A6C2E916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UCSD: Physics 121; 2012</a:t>
            </a:r>
          </a:p>
        </p:txBody>
      </p:sp>
      <p:sp>
        <p:nvSpPr>
          <p:cNvPr id="56324" name="Slide Number Placeholder 5">
            <a:extLst>
              <a:ext uri="{FF2B5EF4-FFF2-40B4-BE49-F238E27FC236}">
                <a16:creationId xmlns:a16="http://schemas.microsoft.com/office/drawing/2014/main" id="{78253ABA-861F-900B-1961-62E7C5388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E2B82E8-D1DF-4D37-9817-EDB9633285F5}" type="slidenum">
              <a:rPr lang="en-US" altLang="en-US" sz="1400"/>
              <a:pPr/>
              <a:t>20</a:t>
            </a:fld>
            <a:endParaRPr lang="en-US" altLang="en-US" sz="1400"/>
          </a:p>
        </p:txBody>
      </p:sp>
      <p:sp>
        <p:nvSpPr>
          <p:cNvPr id="109570" name="Rectangle 2">
            <a:extLst>
              <a:ext uri="{FF2B5EF4-FFF2-40B4-BE49-F238E27FC236}">
                <a16:creationId xmlns:a16="http://schemas.microsoft.com/office/drawing/2014/main" id="{2B593F9B-8DDB-677C-FA86-10F70DE5DF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BJT Amplifier Mode</a:t>
            </a:r>
          </a:p>
        </p:txBody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34A47820-92F8-E09C-FED7-0B0F04D256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Central idea is that </a:t>
            </a:r>
            <a:r>
              <a:rPr lang="en-US" alt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when in the right regime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, the BJT </a:t>
            </a:r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collector-emitter current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is proportional to the </a:t>
            </a:r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base current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:</a:t>
            </a:r>
          </a:p>
          <a:p>
            <a:pPr lvl="1" eaLnBrk="1" hangingPunct="1"/>
            <a:r>
              <a:rPr lang="en-US" altLang="en-US"/>
              <a:t>namely, </a:t>
            </a:r>
            <a:r>
              <a:rPr lang="en-US" altLang="en-US" i="1"/>
              <a:t>I</a:t>
            </a:r>
            <a:r>
              <a:rPr lang="en-US" altLang="en-US" baseline="-25000"/>
              <a:t>ce</a:t>
            </a:r>
            <a:r>
              <a:rPr lang="en-US" altLang="en-US"/>
              <a:t> = </a:t>
            </a:r>
            <a:r>
              <a:rPr lang="en-US" altLang="en-US" i="1">
                <a:sym typeface="Symbol" panose="05050102010706020507" pitchFamily="18" charset="2"/>
              </a:rPr>
              <a:t>I</a:t>
            </a:r>
            <a:r>
              <a:rPr lang="en-US" altLang="en-US" baseline="-25000">
                <a:sym typeface="Symbol" panose="05050102010706020507" pitchFamily="18" charset="2"/>
              </a:rPr>
              <a:t>b</a:t>
            </a:r>
            <a:r>
              <a:rPr lang="en-US" altLang="en-US">
                <a:sym typeface="Symbol" panose="05050102010706020507" pitchFamily="18" charset="2"/>
              </a:rPr>
              <a:t>, where </a:t>
            </a:r>
            <a:r>
              <a:rPr lang="en-US" altLang="en-US" i="1">
                <a:sym typeface="Symbol" panose="05050102010706020507" pitchFamily="18" charset="2"/>
              </a:rPr>
              <a:t></a:t>
            </a:r>
            <a:r>
              <a:rPr lang="en-US" altLang="en-US">
                <a:sym typeface="Symbol" panose="05050102010706020507" pitchFamily="18" charset="2"/>
              </a:rPr>
              <a:t> (sometimes </a:t>
            </a:r>
            <a:r>
              <a:rPr lang="en-US" altLang="en-US" i="1">
                <a:sym typeface="Symbol" panose="05050102010706020507" pitchFamily="18" charset="2"/>
              </a:rPr>
              <a:t>h</a:t>
            </a:r>
            <a:r>
              <a:rPr lang="en-US" altLang="en-US" baseline="-25000">
                <a:sym typeface="Symbol" panose="05050102010706020507" pitchFamily="18" charset="2"/>
              </a:rPr>
              <a:t>fe</a:t>
            </a:r>
            <a:r>
              <a:rPr lang="en-US" altLang="en-US">
                <a:sym typeface="Symbol" panose="05050102010706020507" pitchFamily="18" charset="2"/>
              </a:rPr>
              <a:t>) is typically ~100</a:t>
            </a:r>
            <a:endParaRPr lang="en-US" altLang="en-US"/>
          </a:p>
          <a:p>
            <a:pPr lvl="1" eaLnBrk="1" hangingPunct="1"/>
            <a:r>
              <a:rPr lang="en-US" altLang="en-US"/>
              <a:t>In this regime, the base-emitter voltage is ~0.6 V</a:t>
            </a:r>
          </a:p>
          <a:p>
            <a:pPr lvl="1" eaLnBrk="1" hangingPunct="1"/>
            <a:r>
              <a:rPr lang="en-US" altLang="en-US"/>
              <a:t>below, </a:t>
            </a:r>
            <a:r>
              <a:rPr lang="en-US" altLang="en-US" i="1"/>
              <a:t>I</a:t>
            </a:r>
            <a:r>
              <a:rPr lang="en-US" altLang="en-US" baseline="-25000"/>
              <a:t>b</a:t>
            </a:r>
            <a:r>
              <a:rPr lang="en-US" altLang="en-US"/>
              <a:t> = (</a:t>
            </a:r>
            <a:r>
              <a:rPr lang="en-US" altLang="en-US" i="1"/>
              <a:t>V</a:t>
            </a:r>
            <a:r>
              <a:rPr lang="en-US" altLang="en-US" baseline="-25000"/>
              <a:t>in</a:t>
            </a:r>
            <a:r>
              <a:rPr lang="en-US" altLang="en-US"/>
              <a:t> </a:t>
            </a:r>
            <a:r>
              <a:rPr lang="en-US" altLang="en-US">
                <a:sym typeface="Symbol" panose="05050102010706020507" pitchFamily="18" charset="2"/>
              </a:rPr>
              <a:t> 0.6)/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 baseline="-25000">
                <a:sym typeface="Symbol" panose="05050102010706020507" pitchFamily="18" charset="2"/>
              </a:rPr>
              <a:t>b</a:t>
            </a:r>
            <a:r>
              <a:rPr lang="en-US" altLang="en-US">
                <a:sym typeface="Symbol" panose="05050102010706020507" pitchFamily="18" charset="2"/>
              </a:rPr>
              <a:t>; </a:t>
            </a:r>
            <a:r>
              <a:rPr lang="en-US" altLang="en-US" i="1">
                <a:sym typeface="Symbol" panose="05050102010706020507" pitchFamily="18" charset="2"/>
              </a:rPr>
              <a:t>I</a:t>
            </a:r>
            <a:r>
              <a:rPr lang="en-US" altLang="en-US" baseline="-25000">
                <a:sym typeface="Symbol" panose="05050102010706020507" pitchFamily="18" charset="2"/>
              </a:rPr>
              <a:t>ce</a:t>
            </a:r>
            <a:r>
              <a:rPr lang="en-US" altLang="en-US">
                <a:sym typeface="Symbol" panose="05050102010706020507" pitchFamily="18" charset="2"/>
              </a:rPr>
              <a:t> =</a:t>
            </a:r>
            <a:r>
              <a:rPr lang="en-US" altLang="en-US"/>
              <a:t> </a:t>
            </a:r>
            <a:r>
              <a:rPr lang="en-US" altLang="en-US" i="1">
                <a:sym typeface="Symbol" panose="05050102010706020507" pitchFamily="18" charset="2"/>
              </a:rPr>
              <a:t>I</a:t>
            </a:r>
            <a:r>
              <a:rPr lang="en-US" altLang="en-US" baseline="-25000">
                <a:sym typeface="Symbol" panose="05050102010706020507" pitchFamily="18" charset="2"/>
              </a:rPr>
              <a:t>b</a:t>
            </a:r>
            <a:r>
              <a:rPr lang="en-US" altLang="en-US">
                <a:sym typeface="Symbol" panose="05050102010706020507" pitchFamily="18" charset="2"/>
              </a:rPr>
              <a:t> = </a:t>
            </a:r>
            <a:r>
              <a:rPr lang="en-US" altLang="en-US"/>
              <a:t> </a:t>
            </a:r>
            <a:r>
              <a:rPr lang="en-US" altLang="en-US" i="1">
                <a:sym typeface="Symbol" panose="05050102010706020507" pitchFamily="18" charset="2"/>
              </a:rPr>
              <a:t></a:t>
            </a:r>
            <a:r>
              <a:rPr lang="en-US" altLang="en-US">
                <a:sym typeface="Symbol" panose="05050102010706020507" pitchFamily="18" charset="2"/>
              </a:rPr>
              <a:t>(</a:t>
            </a:r>
            <a:r>
              <a:rPr lang="en-US" altLang="en-US" i="1">
                <a:sym typeface="Symbol" panose="05050102010706020507" pitchFamily="18" charset="2"/>
              </a:rPr>
              <a:t>V</a:t>
            </a:r>
            <a:r>
              <a:rPr lang="en-US" altLang="en-US" baseline="-25000">
                <a:sym typeface="Symbol" panose="05050102010706020507" pitchFamily="18" charset="2"/>
              </a:rPr>
              <a:t>in</a:t>
            </a:r>
            <a:r>
              <a:rPr lang="en-US" altLang="en-US">
                <a:sym typeface="Symbol" panose="05050102010706020507" pitchFamily="18" charset="2"/>
              </a:rPr>
              <a:t>  0.6)/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 baseline="-25000">
                <a:sym typeface="Symbol" panose="05050102010706020507" pitchFamily="18" charset="2"/>
              </a:rPr>
              <a:t>b</a:t>
            </a:r>
            <a:r>
              <a:rPr lang="en-US" altLang="en-US">
                <a:sym typeface="Symbol" panose="05050102010706020507" pitchFamily="18" charset="2"/>
              </a:rPr>
              <a:t> </a:t>
            </a: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so that </a:t>
            </a:r>
            <a:r>
              <a:rPr lang="en-US" altLang="en-US" i="1">
                <a:sym typeface="Symbol" panose="05050102010706020507" pitchFamily="18" charset="2"/>
              </a:rPr>
              <a:t>V</a:t>
            </a:r>
            <a:r>
              <a:rPr lang="en-US" altLang="en-US" baseline="-25000">
                <a:sym typeface="Symbol" panose="05050102010706020507" pitchFamily="18" charset="2"/>
              </a:rPr>
              <a:t>out</a:t>
            </a:r>
            <a:r>
              <a:rPr lang="en-US" altLang="en-US">
                <a:sym typeface="Symbol" panose="05050102010706020507" pitchFamily="18" charset="2"/>
              </a:rPr>
              <a:t> = </a:t>
            </a:r>
            <a:r>
              <a:rPr lang="en-US" altLang="en-US" i="1">
                <a:sym typeface="Symbol" panose="05050102010706020507" pitchFamily="18" charset="2"/>
              </a:rPr>
              <a:t>V</a:t>
            </a:r>
            <a:r>
              <a:rPr lang="en-US" altLang="en-US" baseline="-25000">
                <a:sym typeface="Symbol" panose="05050102010706020507" pitchFamily="18" charset="2"/>
              </a:rPr>
              <a:t>cc</a:t>
            </a:r>
            <a:r>
              <a:rPr lang="en-US" altLang="en-US">
                <a:sym typeface="Symbol" panose="05050102010706020507" pitchFamily="18" charset="2"/>
              </a:rPr>
              <a:t>  </a:t>
            </a:r>
            <a:r>
              <a:rPr lang="en-US" altLang="en-US" i="1">
                <a:sym typeface="Symbol" panose="05050102010706020507" pitchFamily="18" charset="2"/>
              </a:rPr>
              <a:t>I</a:t>
            </a:r>
            <a:r>
              <a:rPr lang="en-US" altLang="en-US" baseline="-25000">
                <a:sym typeface="Symbol" panose="05050102010706020507" pitchFamily="18" charset="2"/>
              </a:rPr>
              <a:t>ce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 baseline="-25000">
                <a:sym typeface="Symbol" panose="05050102010706020507" pitchFamily="18" charset="2"/>
              </a:rPr>
              <a:t>c</a:t>
            </a:r>
            <a:r>
              <a:rPr lang="en-US" altLang="en-US">
                <a:sym typeface="Symbol" panose="05050102010706020507" pitchFamily="18" charset="2"/>
              </a:rPr>
              <a:t> = </a:t>
            </a:r>
            <a:r>
              <a:rPr lang="en-US" altLang="en-US" i="1">
                <a:sym typeface="Symbol" panose="05050102010706020507" pitchFamily="18" charset="2"/>
              </a:rPr>
              <a:t>V</a:t>
            </a:r>
            <a:r>
              <a:rPr lang="en-US" altLang="en-US" baseline="-25000">
                <a:sym typeface="Symbol" panose="05050102010706020507" pitchFamily="18" charset="2"/>
              </a:rPr>
              <a:t>cc</a:t>
            </a:r>
            <a:r>
              <a:rPr lang="en-US" altLang="en-US">
                <a:sym typeface="Symbol" panose="05050102010706020507" pitchFamily="18" charset="2"/>
              </a:rPr>
              <a:t>  </a:t>
            </a:r>
            <a:r>
              <a:rPr lang="en-US" altLang="en-US" i="1">
                <a:sym typeface="Symbol" panose="05050102010706020507" pitchFamily="18" charset="2"/>
              </a:rPr>
              <a:t></a:t>
            </a:r>
            <a:r>
              <a:rPr lang="en-US" altLang="en-US">
                <a:sym typeface="Symbol" panose="05050102010706020507" pitchFamily="18" charset="2"/>
              </a:rPr>
              <a:t>(</a:t>
            </a:r>
            <a:r>
              <a:rPr lang="en-US" altLang="en-US" i="1">
                <a:sym typeface="Symbol" panose="05050102010706020507" pitchFamily="18" charset="2"/>
              </a:rPr>
              <a:t>V</a:t>
            </a:r>
            <a:r>
              <a:rPr lang="en-US" altLang="en-US" baseline="-25000">
                <a:sym typeface="Symbol" panose="05050102010706020507" pitchFamily="18" charset="2"/>
              </a:rPr>
              <a:t>in</a:t>
            </a:r>
            <a:r>
              <a:rPr lang="en-US" altLang="en-US">
                <a:sym typeface="Symbol" panose="05050102010706020507" pitchFamily="18" charset="2"/>
              </a:rPr>
              <a:t>  0.6)(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 baseline="-25000">
                <a:sym typeface="Symbol" panose="05050102010706020507" pitchFamily="18" charset="2"/>
              </a:rPr>
              <a:t>c</a:t>
            </a:r>
            <a:r>
              <a:rPr lang="en-US" altLang="en-US">
                <a:sym typeface="Symbol" panose="05050102010706020507" pitchFamily="18" charset="2"/>
              </a:rPr>
              <a:t>/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 baseline="-25000">
                <a:sym typeface="Symbol" panose="05050102010706020507" pitchFamily="18" charset="2"/>
              </a:rPr>
              <a:t>b</a:t>
            </a:r>
            <a:r>
              <a:rPr lang="en-US" altLang="en-US">
                <a:sym typeface="Symbol" panose="05050102010706020507" pitchFamily="18" charset="2"/>
              </a:rPr>
              <a:t>)</a:t>
            </a: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ignoring DC biases, wiggles on </a:t>
            </a:r>
            <a:r>
              <a:rPr lang="en-US" altLang="en-US" i="1">
                <a:sym typeface="Symbol" panose="05050102010706020507" pitchFamily="18" charset="2"/>
              </a:rPr>
              <a:t>V</a:t>
            </a:r>
            <a:r>
              <a:rPr lang="en-US" altLang="en-US" baseline="-25000">
                <a:sym typeface="Symbol" panose="05050102010706020507" pitchFamily="18" charset="2"/>
              </a:rPr>
              <a:t>in</a:t>
            </a:r>
            <a:r>
              <a:rPr lang="en-US" altLang="en-US">
                <a:sym typeface="Symbol" panose="05050102010706020507" pitchFamily="18" charset="2"/>
              </a:rPr>
              <a:t> become </a:t>
            </a:r>
            <a:r>
              <a:rPr lang="en-US" altLang="en-US" i="1">
                <a:sym typeface="Symbol" panose="05050102010706020507" pitchFamily="18" charset="2"/>
              </a:rPr>
              <a:t> </a:t>
            </a:r>
            <a:r>
              <a:rPr lang="en-US" altLang="en-US">
                <a:sym typeface="Symbol" panose="05050102010706020507" pitchFamily="18" charset="2"/>
              </a:rPr>
              <a:t>(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 baseline="-25000">
                <a:sym typeface="Symbol" panose="05050102010706020507" pitchFamily="18" charset="2"/>
              </a:rPr>
              <a:t>c</a:t>
            </a:r>
            <a:r>
              <a:rPr lang="en-US" altLang="en-US">
                <a:sym typeface="Symbol" panose="05050102010706020507" pitchFamily="18" charset="2"/>
              </a:rPr>
              <a:t>/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 baseline="-25000">
                <a:sym typeface="Symbol" panose="05050102010706020507" pitchFamily="18" charset="2"/>
              </a:rPr>
              <a:t>b</a:t>
            </a:r>
            <a:r>
              <a:rPr lang="en-US" altLang="en-US">
                <a:sym typeface="Symbol" panose="05050102010706020507" pitchFamily="18" charset="2"/>
              </a:rPr>
              <a:t>) bigger (and inverted): thus </a:t>
            </a: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amplified</a:t>
            </a:r>
            <a:endParaRPr lang="en-US" altLang="en-US">
              <a:sym typeface="Symbol" panose="05050102010706020507" pitchFamily="18" charset="2"/>
            </a:endParaRPr>
          </a:p>
        </p:txBody>
      </p:sp>
      <p:grpSp>
        <p:nvGrpSpPr>
          <p:cNvPr id="56327" name="Group 41">
            <a:extLst>
              <a:ext uri="{FF2B5EF4-FFF2-40B4-BE49-F238E27FC236}">
                <a16:creationId xmlns:a16="http://schemas.microsoft.com/office/drawing/2014/main" id="{3B662D1A-5340-78AD-957C-4AD32590B189}"/>
              </a:ext>
            </a:extLst>
          </p:cNvPr>
          <p:cNvGrpSpPr>
            <a:grpSpLocks/>
          </p:cNvGrpSpPr>
          <p:nvPr/>
        </p:nvGrpSpPr>
        <p:grpSpPr bwMode="auto">
          <a:xfrm>
            <a:off x="2705100" y="4419600"/>
            <a:ext cx="2546350" cy="2133600"/>
            <a:chOff x="1704" y="2784"/>
            <a:chExt cx="1604" cy="1344"/>
          </a:xfrm>
        </p:grpSpPr>
        <p:grpSp>
          <p:nvGrpSpPr>
            <p:cNvPr id="56340" name="Group 40">
              <a:extLst>
                <a:ext uri="{FF2B5EF4-FFF2-40B4-BE49-F238E27FC236}">
                  <a16:creationId xmlns:a16="http://schemas.microsoft.com/office/drawing/2014/main" id="{E0E00813-FED9-9176-1ADE-447E87D203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0" y="2976"/>
              <a:ext cx="1104" cy="1152"/>
              <a:chOff x="1920" y="2976"/>
              <a:chExt cx="1104" cy="1152"/>
            </a:xfrm>
          </p:grpSpPr>
          <p:grpSp>
            <p:nvGrpSpPr>
              <p:cNvPr id="56346" name="Group 10">
                <a:extLst>
                  <a:ext uri="{FF2B5EF4-FFF2-40B4-BE49-F238E27FC236}">
                    <a16:creationId xmlns:a16="http://schemas.microsoft.com/office/drawing/2014/main" id="{168FEA54-8DB0-9833-4F64-C0C58226C3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0" y="3456"/>
                <a:ext cx="240" cy="480"/>
                <a:chOff x="2256" y="2208"/>
                <a:chExt cx="240" cy="480"/>
              </a:xfrm>
            </p:grpSpPr>
            <p:sp>
              <p:nvSpPr>
                <p:cNvPr id="56355" name="Line 4">
                  <a:extLst>
                    <a:ext uri="{FF2B5EF4-FFF2-40B4-BE49-F238E27FC236}">
                      <a16:creationId xmlns:a16="http://schemas.microsoft.com/office/drawing/2014/main" id="{C532778B-CCD2-EF98-F3E0-CC3D7C9654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00" y="2352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6356" name="Line 5">
                  <a:extLst>
                    <a:ext uri="{FF2B5EF4-FFF2-40B4-BE49-F238E27FC236}">
                      <a16:creationId xmlns:a16="http://schemas.microsoft.com/office/drawing/2014/main" id="{5B3AF439-BA7F-77A0-9A28-3328C690C2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400" y="2304"/>
                  <a:ext cx="96" cy="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6357" name="Line 6">
                  <a:extLst>
                    <a:ext uri="{FF2B5EF4-FFF2-40B4-BE49-F238E27FC236}">
                      <a16:creationId xmlns:a16="http://schemas.microsoft.com/office/drawing/2014/main" id="{B16CB9EF-2ED5-360F-D93C-D4DE9DFBD7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00" y="2496"/>
                  <a:ext cx="96" cy="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6358" name="Line 7">
                  <a:extLst>
                    <a:ext uri="{FF2B5EF4-FFF2-40B4-BE49-F238E27FC236}">
                      <a16:creationId xmlns:a16="http://schemas.microsoft.com/office/drawing/2014/main" id="{203E6E7A-7CC0-73E3-D592-C07FC8F390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496" y="2208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6359" name="Line 8">
                  <a:extLst>
                    <a:ext uri="{FF2B5EF4-FFF2-40B4-BE49-F238E27FC236}">
                      <a16:creationId xmlns:a16="http://schemas.microsoft.com/office/drawing/2014/main" id="{A9051A9F-1222-FA8F-7526-E775DCF4D6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56" y="2448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6360" name="Line 9">
                  <a:extLst>
                    <a:ext uri="{FF2B5EF4-FFF2-40B4-BE49-F238E27FC236}">
                      <a16:creationId xmlns:a16="http://schemas.microsoft.com/office/drawing/2014/main" id="{9AEC3C66-0E70-5651-4BDD-FAF968B0B0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96" y="2592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56347" name="Freeform 11">
                <a:extLst>
                  <a:ext uri="{FF2B5EF4-FFF2-40B4-BE49-F238E27FC236}">
                    <a16:creationId xmlns:a16="http://schemas.microsoft.com/office/drawing/2014/main" id="{19B30120-054B-1837-8131-10C753A1F0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2" y="2976"/>
                <a:ext cx="96" cy="480"/>
              </a:xfrm>
              <a:custGeom>
                <a:avLst/>
                <a:gdLst>
                  <a:gd name="T0" fmla="*/ 48 w 96"/>
                  <a:gd name="T1" fmla="*/ 0 h 480"/>
                  <a:gd name="T2" fmla="*/ 48 w 96"/>
                  <a:gd name="T3" fmla="*/ 96 h 480"/>
                  <a:gd name="T4" fmla="*/ 96 w 96"/>
                  <a:gd name="T5" fmla="*/ 144 h 480"/>
                  <a:gd name="T6" fmla="*/ 0 w 96"/>
                  <a:gd name="T7" fmla="*/ 192 h 480"/>
                  <a:gd name="T8" fmla="*/ 96 w 96"/>
                  <a:gd name="T9" fmla="*/ 240 h 480"/>
                  <a:gd name="T10" fmla="*/ 0 w 96"/>
                  <a:gd name="T11" fmla="*/ 288 h 480"/>
                  <a:gd name="T12" fmla="*/ 96 w 96"/>
                  <a:gd name="T13" fmla="*/ 336 h 480"/>
                  <a:gd name="T14" fmla="*/ 0 w 96"/>
                  <a:gd name="T15" fmla="*/ 384 h 480"/>
                  <a:gd name="T16" fmla="*/ 48 w 96"/>
                  <a:gd name="T17" fmla="*/ 432 h 480"/>
                  <a:gd name="T18" fmla="*/ 48 w 96"/>
                  <a:gd name="T19" fmla="*/ 480 h 48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6"/>
                  <a:gd name="T31" fmla="*/ 0 h 480"/>
                  <a:gd name="T32" fmla="*/ 96 w 96"/>
                  <a:gd name="T33" fmla="*/ 480 h 48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6" h="480">
                    <a:moveTo>
                      <a:pt x="48" y="0"/>
                    </a:moveTo>
                    <a:lnTo>
                      <a:pt x="48" y="96"/>
                    </a:lnTo>
                    <a:lnTo>
                      <a:pt x="96" y="144"/>
                    </a:lnTo>
                    <a:lnTo>
                      <a:pt x="0" y="192"/>
                    </a:lnTo>
                    <a:lnTo>
                      <a:pt x="96" y="240"/>
                    </a:lnTo>
                    <a:lnTo>
                      <a:pt x="0" y="288"/>
                    </a:lnTo>
                    <a:lnTo>
                      <a:pt x="96" y="336"/>
                    </a:lnTo>
                    <a:lnTo>
                      <a:pt x="0" y="384"/>
                    </a:lnTo>
                    <a:lnTo>
                      <a:pt x="48" y="432"/>
                    </a:lnTo>
                    <a:lnTo>
                      <a:pt x="48" y="48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56348" name="Group 12">
                <a:extLst>
                  <a:ext uri="{FF2B5EF4-FFF2-40B4-BE49-F238E27FC236}">
                    <a16:creationId xmlns:a16="http://schemas.microsoft.com/office/drawing/2014/main" id="{3885BB26-AB6A-C57D-F04E-C99801C4FD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44" y="3936"/>
                <a:ext cx="192" cy="192"/>
                <a:chOff x="4032" y="1968"/>
                <a:chExt cx="192" cy="192"/>
              </a:xfrm>
            </p:grpSpPr>
            <p:sp>
              <p:nvSpPr>
                <p:cNvPr id="56351" name="Line 13">
                  <a:extLst>
                    <a:ext uri="{FF2B5EF4-FFF2-40B4-BE49-F238E27FC236}">
                      <a16:creationId xmlns:a16="http://schemas.microsoft.com/office/drawing/2014/main" id="{04C969D0-73C7-5E8A-6852-B5141DA0F6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28" y="1968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6352" name="Line 14">
                  <a:extLst>
                    <a:ext uri="{FF2B5EF4-FFF2-40B4-BE49-F238E27FC236}">
                      <a16:creationId xmlns:a16="http://schemas.microsoft.com/office/drawing/2014/main" id="{37518C8A-56F4-44BB-DCBC-496A3EC180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17" y="2160"/>
                  <a:ext cx="23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6353" name="Line 15">
                  <a:extLst>
                    <a:ext uri="{FF2B5EF4-FFF2-40B4-BE49-F238E27FC236}">
                      <a16:creationId xmlns:a16="http://schemas.microsoft.com/office/drawing/2014/main" id="{2ACF4F1C-578D-566E-4E29-EAB33E40B1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80" y="211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6354" name="Line 16">
                  <a:extLst>
                    <a:ext uri="{FF2B5EF4-FFF2-40B4-BE49-F238E27FC236}">
                      <a16:creationId xmlns:a16="http://schemas.microsoft.com/office/drawing/2014/main" id="{C2B2E512-7F6A-0130-063B-9EF88EE3ED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32" y="2064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56349" name="Freeform 17">
                <a:extLst>
                  <a:ext uri="{FF2B5EF4-FFF2-40B4-BE49-F238E27FC236}">
                    <a16:creationId xmlns:a16="http://schemas.microsoft.com/office/drawing/2014/main" id="{06C06C74-EE1B-84E0-86DD-49E7EE51559E}"/>
                  </a:ext>
                </a:extLst>
              </p:cNvPr>
              <p:cNvSpPr>
                <a:spLocks/>
              </p:cNvSpPr>
              <p:nvPr/>
            </p:nvSpPr>
            <p:spPr bwMode="auto">
              <a:xfrm rot="-5400000">
                <a:off x="2112" y="3456"/>
                <a:ext cx="96" cy="480"/>
              </a:xfrm>
              <a:custGeom>
                <a:avLst/>
                <a:gdLst>
                  <a:gd name="T0" fmla="*/ 48 w 96"/>
                  <a:gd name="T1" fmla="*/ 0 h 480"/>
                  <a:gd name="T2" fmla="*/ 48 w 96"/>
                  <a:gd name="T3" fmla="*/ 96 h 480"/>
                  <a:gd name="T4" fmla="*/ 96 w 96"/>
                  <a:gd name="T5" fmla="*/ 144 h 480"/>
                  <a:gd name="T6" fmla="*/ 0 w 96"/>
                  <a:gd name="T7" fmla="*/ 192 h 480"/>
                  <a:gd name="T8" fmla="*/ 96 w 96"/>
                  <a:gd name="T9" fmla="*/ 240 h 480"/>
                  <a:gd name="T10" fmla="*/ 0 w 96"/>
                  <a:gd name="T11" fmla="*/ 288 h 480"/>
                  <a:gd name="T12" fmla="*/ 96 w 96"/>
                  <a:gd name="T13" fmla="*/ 336 h 480"/>
                  <a:gd name="T14" fmla="*/ 0 w 96"/>
                  <a:gd name="T15" fmla="*/ 384 h 480"/>
                  <a:gd name="T16" fmla="*/ 48 w 96"/>
                  <a:gd name="T17" fmla="*/ 432 h 480"/>
                  <a:gd name="T18" fmla="*/ 48 w 96"/>
                  <a:gd name="T19" fmla="*/ 480 h 48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6"/>
                  <a:gd name="T31" fmla="*/ 0 h 480"/>
                  <a:gd name="T32" fmla="*/ 96 w 96"/>
                  <a:gd name="T33" fmla="*/ 480 h 48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6" h="480">
                    <a:moveTo>
                      <a:pt x="48" y="0"/>
                    </a:moveTo>
                    <a:lnTo>
                      <a:pt x="48" y="96"/>
                    </a:lnTo>
                    <a:lnTo>
                      <a:pt x="96" y="144"/>
                    </a:lnTo>
                    <a:lnTo>
                      <a:pt x="0" y="192"/>
                    </a:lnTo>
                    <a:lnTo>
                      <a:pt x="96" y="240"/>
                    </a:lnTo>
                    <a:lnTo>
                      <a:pt x="0" y="288"/>
                    </a:lnTo>
                    <a:lnTo>
                      <a:pt x="96" y="336"/>
                    </a:lnTo>
                    <a:lnTo>
                      <a:pt x="0" y="384"/>
                    </a:lnTo>
                    <a:lnTo>
                      <a:pt x="48" y="432"/>
                    </a:lnTo>
                    <a:lnTo>
                      <a:pt x="48" y="48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6350" name="Line 23">
                <a:extLst>
                  <a:ext uri="{FF2B5EF4-FFF2-40B4-BE49-F238E27FC236}">
                    <a16:creationId xmlns:a16="http://schemas.microsoft.com/office/drawing/2014/main" id="{15B935E3-729F-0BA8-156E-83C282540B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0" y="3504"/>
                <a:ext cx="38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56341" name="Text Box 26">
              <a:extLst>
                <a:ext uri="{FF2B5EF4-FFF2-40B4-BE49-F238E27FC236}">
                  <a16:creationId xmlns:a16="http://schemas.microsoft.com/office/drawing/2014/main" id="{450294A6-031A-571F-0C64-B52EE93265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4" y="3449"/>
              <a:ext cx="29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</a:rPr>
                <a:t>out</a:t>
              </a:r>
            </a:p>
          </p:txBody>
        </p:sp>
        <p:sp>
          <p:nvSpPr>
            <p:cNvPr id="56342" name="Text Box 27">
              <a:extLst>
                <a:ext uri="{FF2B5EF4-FFF2-40B4-BE49-F238E27FC236}">
                  <a16:creationId xmlns:a16="http://schemas.microsoft.com/office/drawing/2014/main" id="{B95D94C9-650C-BCE4-F134-6682F581F6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3120"/>
              <a:ext cx="25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</a:rPr>
                <a:t>R</a:t>
              </a:r>
              <a:r>
                <a:rPr lang="en-US" altLang="en-US" sz="1600" baseline="-25000">
                  <a:solidFill>
                    <a:srgbClr val="000000"/>
                  </a:solidFill>
                </a:rPr>
                <a:t>c</a:t>
              </a:r>
              <a:endParaRPr lang="en-US" altLang="en-US" sz="1600">
                <a:solidFill>
                  <a:srgbClr val="000000"/>
                </a:solidFill>
              </a:endParaRPr>
            </a:p>
          </p:txBody>
        </p:sp>
        <p:sp>
          <p:nvSpPr>
            <p:cNvPr id="56343" name="Text Box 28">
              <a:extLst>
                <a:ext uri="{FF2B5EF4-FFF2-40B4-BE49-F238E27FC236}">
                  <a16:creationId xmlns:a16="http://schemas.microsoft.com/office/drawing/2014/main" id="{5B4DA632-ACB3-0445-174D-B1CF90F053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3408"/>
              <a:ext cx="25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</a:rPr>
                <a:t>R</a:t>
              </a:r>
              <a:r>
                <a:rPr lang="en-US" altLang="en-US" sz="1600" baseline="-25000">
                  <a:solidFill>
                    <a:srgbClr val="000000"/>
                  </a:solidFill>
                </a:rPr>
                <a:t>b</a:t>
              </a:r>
              <a:endParaRPr lang="en-US" altLang="en-US" sz="1600">
                <a:solidFill>
                  <a:srgbClr val="000000"/>
                </a:solidFill>
              </a:endParaRPr>
            </a:p>
          </p:txBody>
        </p:sp>
        <p:sp>
          <p:nvSpPr>
            <p:cNvPr id="56344" name="Text Box 29">
              <a:extLst>
                <a:ext uri="{FF2B5EF4-FFF2-40B4-BE49-F238E27FC236}">
                  <a16:creationId xmlns:a16="http://schemas.microsoft.com/office/drawing/2014/main" id="{1A67454D-AF1A-2104-6790-8F71F662EA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4" y="3600"/>
              <a:ext cx="2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</a:rPr>
                <a:t>in</a:t>
              </a:r>
            </a:p>
          </p:txBody>
        </p:sp>
        <p:sp>
          <p:nvSpPr>
            <p:cNvPr id="56345" name="Text Box 30">
              <a:extLst>
                <a:ext uri="{FF2B5EF4-FFF2-40B4-BE49-F238E27FC236}">
                  <a16:creationId xmlns:a16="http://schemas.microsoft.com/office/drawing/2014/main" id="{1F04B0DE-9E15-9D66-A9AE-3D34A70BC6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3" y="2784"/>
              <a:ext cx="28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</a:rPr>
                <a:t>V</a:t>
              </a:r>
              <a:r>
                <a:rPr lang="en-US" altLang="en-US" sz="1600" baseline="-25000">
                  <a:solidFill>
                    <a:srgbClr val="000000"/>
                  </a:solidFill>
                </a:rPr>
                <a:t>cc</a:t>
              </a:r>
              <a:endParaRPr lang="en-US" altLang="en-US" sz="1600">
                <a:solidFill>
                  <a:srgbClr val="000000"/>
                </a:solidFill>
              </a:endParaRPr>
            </a:p>
          </p:txBody>
        </p:sp>
      </p:grpSp>
      <p:grpSp>
        <p:nvGrpSpPr>
          <p:cNvPr id="56328" name="Group 46">
            <a:extLst>
              <a:ext uri="{FF2B5EF4-FFF2-40B4-BE49-F238E27FC236}">
                <a16:creationId xmlns:a16="http://schemas.microsoft.com/office/drawing/2014/main" id="{670C5E2F-62ED-62B5-56EC-5BB1EB6273F5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5486400"/>
            <a:ext cx="846138" cy="990600"/>
            <a:chOff x="4896" y="3456"/>
            <a:chExt cx="533" cy="624"/>
          </a:xfrm>
        </p:grpSpPr>
        <p:grpSp>
          <p:nvGrpSpPr>
            <p:cNvPr id="56330" name="Group 33">
              <a:extLst>
                <a:ext uri="{FF2B5EF4-FFF2-40B4-BE49-F238E27FC236}">
                  <a16:creationId xmlns:a16="http://schemas.microsoft.com/office/drawing/2014/main" id="{164942FD-7CD4-E356-705A-93AD0105E0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2" y="3552"/>
              <a:ext cx="240" cy="480"/>
              <a:chOff x="2256" y="2208"/>
              <a:chExt cx="240" cy="480"/>
            </a:xfrm>
          </p:grpSpPr>
          <p:sp>
            <p:nvSpPr>
              <p:cNvPr id="56334" name="Line 34">
                <a:extLst>
                  <a:ext uri="{FF2B5EF4-FFF2-40B4-BE49-F238E27FC236}">
                    <a16:creationId xmlns:a16="http://schemas.microsoft.com/office/drawing/2014/main" id="{0AA9FEF0-0531-3783-9EEA-343D656918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0" y="2352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6335" name="Line 35">
                <a:extLst>
                  <a:ext uri="{FF2B5EF4-FFF2-40B4-BE49-F238E27FC236}">
                    <a16:creationId xmlns:a16="http://schemas.microsoft.com/office/drawing/2014/main" id="{8B02EB51-0735-7084-5B99-144DDD9F8E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00" y="2304"/>
                <a:ext cx="96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6336" name="Line 36">
                <a:extLst>
                  <a:ext uri="{FF2B5EF4-FFF2-40B4-BE49-F238E27FC236}">
                    <a16:creationId xmlns:a16="http://schemas.microsoft.com/office/drawing/2014/main" id="{9DC68875-A7FB-6F9A-A578-875DE0FDD1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0" y="2496"/>
                <a:ext cx="96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6337" name="Line 37">
                <a:extLst>
                  <a:ext uri="{FF2B5EF4-FFF2-40B4-BE49-F238E27FC236}">
                    <a16:creationId xmlns:a16="http://schemas.microsoft.com/office/drawing/2014/main" id="{3DD817B5-41FB-1976-D8FF-0288535AED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96" y="2208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6338" name="Line 38">
                <a:extLst>
                  <a:ext uri="{FF2B5EF4-FFF2-40B4-BE49-F238E27FC236}">
                    <a16:creationId xmlns:a16="http://schemas.microsoft.com/office/drawing/2014/main" id="{61D39582-3761-5CCA-1BC6-1C56597AB2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56" y="2448"/>
                <a:ext cx="14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56339" name="Line 39">
                <a:extLst>
                  <a:ext uri="{FF2B5EF4-FFF2-40B4-BE49-F238E27FC236}">
                    <a16:creationId xmlns:a16="http://schemas.microsoft.com/office/drawing/2014/main" id="{938568AB-367B-6E54-CEB6-EC6C827305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6" y="2592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56331" name="Text Box 42">
              <a:extLst>
                <a:ext uri="{FF2B5EF4-FFF2-40B4-BE49-F238E27FC236}">
                  <a16:creationId xmlns:a16="http://schemas.microsoft.com/office/drawing/2014/main" id="{4F84ACFC-D5C8-7E8A-1872-C75E022D24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3648"/>
              <a:ext cx="1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200">
                  <a:solidFill>
                    <a:srgbClr val="000000"/>
                  </a:solidFill>
                </a:rPr>
                <a:t>B</a:t>
              </a:r>
              <a:endParaRPr lang="en-US" altLang="en-US" sz="1200"/>
            </a:p>
          </p:txBody>
        </p:sp>
        <p:sp>
          <p:nvSpPr>
            <p:cNvPr id="56332" name="Text Box 43">
              <a:extLst>
                <a:ext uri="{FF2B5EF4-FFF2-40B4-BE49-F238E27FC236}">
                  <a16:creationId xmlns:a16="http://schemas.microsoft.com/office/drawing/2014/main" id="{AFE8CC4B-59E0-641C-267B-44EE38A129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4" y="3456"/>
              <a:ext cx="18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200">
                  <a:solidFill>
                    <a:srgbClr val="000000"/>
                  </a:solidFill>
                </a:rPr>
                <a:t>C</a:t>
              </a:r>
              <a:endParaRPr lang="en-US" altLang="en-US" sz="1200"/>
            </a:p>
          </p:txBody>
        </p:sp>
        <p:sp>
          <p:nvSpPr>
            <p:cNvPr id="56333" name="Text Box 44">
              <a:extLst>
                <a:ext uri="{FF2B5EF4-FFF2-40B4-BE49-F238E27FC236}">
                  <a16:creationId xmlns:a16="http://schemas.microsoft.com/office/drawing/2014/main" id="{5631D472-2B68-D167-3F81-19145D5DEC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4" y="3907"/>
              <a:ext cx="1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200">
                  <a:solidFill>
                    <a:srgbClr val="000000"/>
                  </a:solidFill>
                </a:rPr>
                <a:t>E</a:t>
              </a:r>
              <a:endParaRPr lang="en-US" altLang="en-US" sz="1200"/>
            </a:p>
          </p:txBody>
        </p:sp>
      </p:grpSp>
      <p:pic>
        <p:nvPicPr>
          <p:cNvPr id="56329" name="Picture 45" descr="to92-usa">
            <a:extLst>
              <a:ext uri="{FF2B5EF4-FFF2-40B4-BE49-F238E27FC236}">
                <a16:creationId xmlns:a16="http://schemas.microsoft.com/office/drawing/2014/main" id="{8927B7E9-8797-9459-6456-4E695D17D4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4989513"/>
            <a:ext cx="1344613" cy="179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Date Placeholder 3">
            <a:extLst>
              <a:ext uri="{FF2B5EF4-FFF2-40B4-BE49-F238E27FC236}">
                <a16:creationId xmlns:a16="http://schemas.microsoft.com/office/drawing/2014/main" id="{FB6EC2E7-127F-1413-11EC-80A1169600C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Winter 2012</a:t>
            </a:r>
          </a:p>
        </p:txBody>
      </p:sp>
      <p:sp>
        <p:nvSpPr>
          <p:cNvPr id="58371" name="Footer Placeholder 4">
            <a:extLst>
              <a:ext uri="{FF2B5EF4-FFF2-40B4-BE49-F238E27FC236}">
                <a16:creationId xmlns:a16="http://schemas.microsoft.com/office/drawing/2014/main" id="{729C3C1E-84B6-9000-9ABF-5950ED8C0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UCSD: Physics 121; 2012</a:t>
            </a:r>
          </a:p>
        </p:txBody>
      </p:sp>
      <p:sp>
        <p:nvSpPr>
          <p:cNvPr id="58372" name="Slide Number Placeholder 5">
            <a:extLst>
              <a:ext uri="{FF2B5EF4-FFF2-40B4-BE49-F238E27FC236}">
                <a16:creationId xmlns:a16="http://schemas.microsoft.com/office/drawing/2014/main" id="{127E9FD9-D2CE-001F-51A7-A6EA455D5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BFE763F-C4BB-4861-8CEA-720A85F12122}" type="slidenum">
              <a:rPr lang="en-US" altLang="en-US" sz="1400"/>
              <a:pPr/>
              <a:t>21</a:t>
            </a:fld>
            <a:endParaRPr lang="en-US" altLang="en-US" sz="1400"/>
          </a:p>
        </p:txBody>
      </p:sp>
      <p:sp>
        <p:nvSpPr>
          <p:cNvPr id="110594" name="Rectangle 2">
            <a:extLst>
              <a:ext uri="{FF2B5EF4-FFF2-40B4-BE49-F238E27FC236}">
                <a16:creationId xmlns:a16="http://schemas.microsoft.com/office/drawing/2014/main" id="{91EC0B12-C077-8ED7-384F-E58FF91BB7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Switching: Driving to Saturation</a:t>
            </a:r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2E2D4DE9-1608-2BA7-7884-7858962572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What would happen if the base current is </a:t>
            </a:r>
            <a:r>
              <a:rPr lang="en-US" altLang="en-US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so big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that the collector current got </a:t>
            </a:r>
            <a:r>
              <a:rPr lang="en-US" altLang="en-US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so big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that the voltage drop across </a:t>
            </a:r>
            <a:r>
              <a:rPr lang="en-US" altLang="en-US" i="1">
                <a:effectLst>
                  <a:outerShdw blurRad="38100" dist="38100" dir="2700000" algn="tl">
                    <a:srgbClr val="C0C0C0"/>
                  </a:outerShdw>
                </a:effectLst>
              </a:rPr>
              <a:t>R</a:t>
            </a:r>
            <a:r>
              <a:rPr lang="en-US" altLang="en-US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c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wants to exceed </a:t>
            </a:r>
            <a:r>
              <a:rPr lang="en-US" altLang="en-US" i="1">
                <a:effectLst>
                  <a:outerShdw blurRad="38100" dist="38100" dir="2700000" algn="tl">
                    <a:srgbClr val="C0C0C0"/>
                  </a:outerShdw>
                </a:effectLst>
              </a:rPr>
              <a:t>V</a:t>
            </a:r>
            <a:r>
              <a:rPr lang="en-US" altLang="en-US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cc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?</a:t>
            </a:r>
          </a:p>
          <a:p>
            <a:pPr lvl="1" eaLnBrk="1" hangingPunct="1"/>
            <a:r>
              <a:rPr lang="en-US" altLang="en-US"/>
              <a:t>we call this </a:t>
            </a:r>
            <a:r>
              <a:rPr lang="en-US" altLang="en-US">
                <a:solidFill>
                  <a:schemeClr val="folHlink"/>
                </a:solidFill>
              </a:rPr>
              <a:t>saturated</a:t>
            </a:r>
            <a:r>
              <a:rPr lang="en-US" altLang="en-US"/>
              <a:t>: </a:t>
            </a:r>
            <a:r>
              <a:rPr lang="en-US" altLang="en-US" i="1"/>
              <a:t>V</a:t>
            </a:r>
            <a:r>
              <a:rPr lang="en-US" altLang="en-US" baseline="-25000"/>
              <a:t>c</a:t>
            </a:r>
            <a:r>
              <a:rPr lang="en-US" altLang="en-US"/>
              <a:t> </a:t>
            </a:r>
            <a:r>
              <a:rPr lang="en-US" altLang="en-US">
                <a:sym typeface="Symbol" panose="05050102010706020507" pitchFamily="18" charset="2"/>
              </a:rPr>
              <a:t> </a:t>
            </a:r>
            <a:r>
              <a:rPr lang="en-US" altLang="en-US" i="1">
                <a:sym typeface="Symbol" panose="05050102010706020507" pitchFamily="18" charset="2"/>
              </a:rPr>
              <a:t>V</a:t>
            </a:r>
            <a:r>
              <a:rPr lang="en-US" altLang="en-US" baseline="-25000">
                <a:sym typeface="Symbol" panose="05050102010706020507" pitchFamily="18" charset="2"/>
              </a:rPr>
              <a:t>e</a:t>
            </a:r>
            <a:r>
              <a:rPr lang="en-US" altLang="en-US">
                <a:sym typeface="Symbol" panose="05050102010706020507" pitchFamily="18" charset="2"/>
              </a:rPr>
              <a:t> cannot dip below ~0.2 V</a:t>
            </a: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even if </a:t>
            </a:r>
            <a:r>
              <a:rPr lang="en-US" altLang="en-US" i="1">
                <a:sym typeface="Symbol" panose="05050102010706020507" pitchFamily="18" charset="2"/>
              </a:rPr>
              <a:t>I</a:t>
            </a:r>
            <a:r>
              <a:rPr lang="en-US" altLang="en-US" baseline="-25000">
                <a:sym typeface="Symbol" panose="05050102010706020507" pitchFamily="18" charset="2"/>
              </a:rPr>
              <a:t>b</a:t>
            </a:r>
            <a:r>
              <a:rPr lang="en-US" altLang="en-US">
                <a:sym typeface="Symbol" panose="05050102010706020507" pitchFamily="18" charset="2"/>
              </a:rPr>
              <a:t> is increased, </a:t>
            </a:r>
            <a:r>
              <a:rPr lang="en-US" altLang="en-US" i="1">
                <a:sym typeface="Symbol" panose="05050102010706020507" pitchFamily="18" charset="2"/>
              </a:rPr>
              <a:t>I</a:t>
            </a:r>
            <a:r>
              <a:rPr lang="en-US" altLang="en-US" baseline="-25000">
                <a:sym typeface="Symbol" panose="05050102010706020507" pitchFamily="18" charset="2"/>
              </a:rPr>
              <a:t>c</a:t>
            </a:r>
            <a:r>
              <a:rPr lang="en-US" altLang="en-US">
                <a:sym typeface="Symbol" panose="05050102010706020507" pitchFamily="18" charset="2"/>
              </a:rPr>
              <a:t> won’t budge any more</a:t>
            </a:r>
          </a:p>
          <a:p>
            <a:pPr eaLnBrk="1" hangingPunct="1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The example below is a good </a:t>
            </a:r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logic inverter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lvl="1" eaLnBrk="1" hangingPunct="1"/>
            <a:r>
              <a:rPr lang="en-US" altLang="en-US"/>
              <a:t>if </a:t>
            </a:r>
            <a:r>
              <a:rPr lang="en-US" altLang="en-US" i="1"/>
              <a:t>V</a:t>
            </a:r>
            <a:r>
              <a:rPr lang="en-US" altLang="en-US" baseline="-25000"/>
              <a:t>cc</a:t>
            </a:r>
            <a:r>
              <a:rPr lang="en-US" altLang="en-US"/>
              <a:t> = 5 V; </a:t>
            </a:r>
            <a:r>
              <a:rPr lang="en-US" altLang="en-US" i="1"/>
              <a:t>R</a:t>
            </a:r>
            <a:r>
              <a:rPr lang="en-US" altLang="en-US" baseline="-25000"/>
              <a:t>c</a:t>
            </a:r>
            <a:r>
              <a:rPr lang="en-US" altLang="en-US"/>
              <a:t> = 1 k</a:t>
            </a:r>
            <a:r>
              <a:rPr lang="en-US" altLang="en-US">
                <a:sym typeface="Symbol" panose="05050102010706020507" pitchFamily="18" charset="2"/>
              </a:rPr>
              <a:t>; </a:t>
            </a:r>
            <a:r>
              <a:rPr lang="en-US" altLang="en-US" i="1">
                <a:sym typeface="Symbol" panose="05050102010706020507" pitchFamily="18" charset="2"/>
              </a:rPr>
              <a:t>I</a:t>
            </a:r>
            <a:r>
              <a:rPr lang="en-US" altLang="en-US" baseline="-25000">
                <a:sym typeface="Symbol" panose="05050102010706020507" pitchFamily="18" charset="2"/>
              </a:rPr>
              <a:t>c</a:t>
            </a:r>
            <a:r>
              <a:rPr lang="en-US" altLang="en-US">
                <a:sym typeface="Symbol" panose="05050102010706020507" pitchFamily="18" charset="2"/>
              </a:rPr>
              <a:t>(sat)  5 mA; need </a:t>
            </a:r>
            <a:r>
              <a:rPr lang="en-US" altLang="en-US" i="1">
                <a:sym typeface="Symbol" panose="05050102010706020507" pitchFamily="18" charset="2"/>
              </a:rPr>
              <a:t>I</a:t>
            </a:r>
            <a:r>
              <a:rPr lang="en-US" altLang="en-US" baseline="-25000">
                <a:sym typeface="Symbol" panose="05050102010706020507" pitchFamily="18" charset="2"/>
              </a:rPr>
              <a:t>b</a:t>
            </a:r>
            <a:r>
              <a:rPr lang="en-US" altLang="en-US">
                <a:sym typeface="Symbol" panose="05050102010706020507" pitchFamily="18" charset="2"/>
              </a:rPr>
              <a:t> &gt; 0.05 mA</a:t>
            </a: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so R</a:t>
            </a:r>
            <a:r>
              <a:rPr lang="en-US" altLang="en-US" baseline="-25000">
                <a:sym typeface="Symbol" panose="05050102010706020507" pitchFamily="18" charset="2"/>
              </a:rPr>
              <a:t>b</a:t>
            </a:r>
            <a:r>
              <a:rPr lang="en-US" altLang="en-US">
                <a:sym typeface="Symbol" panose="05050102010706020507" pitchFamily="18" charset="2"/>
              </a:rPr>
              <a:t> &lt; 20 k would put us safely into saturation if </a:t>
            </a:r>
            <a:r>
              <a:rPr lang="en-US" altLang="en-US" i="1">
                <a:sym typeface="Symbol" panose="05050102010706020507" pitchFamily="18" charset="2"/>
              </a:rPr>
              <a:t>V</a:t>
            </a:r>
            <a:r>
              <a:rPr lang="en-US" altLang="en-US" baseline="-25000">
                <a:sym typeface="Symbol" panose="05050102010706020507" pitchFamily="18" charset="2"/>
              </a:rPr>
              <a:t>in</a:t>
            </a:r>
            <a:r>
              <a:rPr lang="en-US" altLang="en-US">
                <a:sym typeface="Symbol" panose="05050102010706020507" pitchFamily="18" charset="2"/>
              </a:rPr>
              <a:t> = 5V</a:t>
            </a: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now </a:t>
            </a: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5 V in  ~0.2 V out</a:t>
            </a:r>
            <a:r>
              <a:rPr lang="en-US" altLang="en-US">
                <a:sym typeface="Symbol" panose="05050102010706020507" pitchFamily="18" charset="2"/>
              </a:rPr>
              <a:t>; </a:t>
            </a: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&lt; 0.6 V in  5 V out</a:t>
            </a:r>
          </a:p>
        </p:txBody>
      </p:sp>
      <p:grpSp>
        <p:nvGrpSpPr>
          <p:cNvPr id="58375" name="Group 4">
            <a:extLst>
              <a:ext uri="{FF2B5EF4-FFF2-40B4-BE49-F238E27FC236}">
                <a16:creationId xmlns:a16="http://schemas.microsoft.com/office/drawing/2014/main" id="{CCE25C58-EA1A-8570-02E9-09532A5E7B89}"/>
              </a:ext>
            </a:extLst>
          </p:cNvPr>
          <p:cNvGrpSpPr>
            <a:grpSpLocks/>
          </p:cNvGrpSpPr>
          <p:nvPr/>
        </p:nvGrpSpPr>
        <p:grpSpPr bwMode="auto">
          <a:xfrm>
            <a:off x="2705100" y="4572000"/>
            <a:ext cx="2546350" cy="2133600"/>
            <a:chOff x="1704" y="2400"/>
            <a:chExt cx="1604" cy="1344"/>
          </a:xfrm>
        </p:grpSpPr>
        <p:grpSp>
          <p:nvGrpSpPr>
            <p:cNvPr id="58376" name="Group 5">
              <a:extLst>
                <a:ext uri="{FF2B5EF4-FFF2-40B4-BE49-F238E27FC236}">
                  <a16:creationId xmlns:a16="http://schemas.microsoft.com/office/drawing/2014/main" id="{08C39756-CB41-4214-322C-5E1F8A3F76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0" y="2592"/>
              <a:ext cx="1104" cy="1152"/>
              <a:chOff x="1920" y="2400"/>
              <a:chExt cx="1104" cy="1152"/>
            </a:xfrm>
          </p:grpSpPr>
          <p:grpSp>
            <p:nvGrpSpPr>
              <p:cNvPr id="58382" name="Group 6">
                <a:extLst>
                  <a:ext uri="{FF2B5EF4-FFF2-40B4-BE49-F238E27FC236}">
                    <a16:creationId xmlns:a16="http://schemas.microsoft.com/office/drawing/2014/main" id="{D7895D0A-FFE1-29CB-F162-49A7A1E57D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0" y="2880"/>
                <a:ext cx="240" cy="480"/>
                <a:chOff x="2256" y="2208"/>
                <a:chExt cx="240" cy="480"/>
              </a:xfrm>
            </p:grpSpPr>
            <p:sp>
              <p:nvSpPr>
                <p:cNvPr id="58391" name="Line 7">
                  <a:extLst>
                    <a:ext uri="{FF2B5EF4-FFF2-40B4-BE49-F238E27FC236}">
                      <a16:creationId xmlns:a16="http://schemas.microsoft.com/office/drawing/2014/main" id="{72156935-00D2-6C93-E0EC-B4847D67EB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00" y="2352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8392" name="Line 8">
                  <a:extLst>
                    <a:ext uri="{FF2B5EF4-FFF2-40B4-BE49-F238E27FC236}">
                      <a16:creationId xmlns:a16="http://schemas.microsoft.com/office/drawing/2014/main" id="{2E3949DF-4391-B6D4-EF3F-A8AA211221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400" y="2304"/>
                  <a:ext cx="96" cy="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8393" name="Line 9">
                  <a:extLst>
                    <a:ext uri="{FF2B5EF4-FFF2-40B4-BE49-F238E27FC236}">
                      <a16:creationId xmlns:a16="http://schemas.microsoft.com/office/drawing/2014/main" id="{B85DC942-1074-861A-4A9C-31BD59C9E7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00" y="2496"/>
                  <a:ext cx="96" cy="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8394" name="Line 10">
                  <a:extLst>
                    <a:ext uri="{FF2B5EF4-FFF2-40B4-BE49-F238E27FC236}">
                      <a16:creationId xmlns:a16="http://schemas.microsoft.com/office/drawing/2014/main" id="{E074843E-2AE8-73CE-2C41-F5EA947F0A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496" y="2208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8395" name="Line 11">
                  <a:extLst>
                    <a:ext uri="{FF2B5EF4-FFF2-40B4-BE49-F238E27FC236}">
                      <a16:creationId xmlns:a16="http://schemas.microsoft.com/office/drawing/2014/main" id="{7EA37E93-4639-4B29-9502-711D8D6A64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256" y="2448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8396" name="Line 12">
                  <a:extLst>
                    <a:ext uri="{FF2B5EF4-FFF2-40B4-BE49-F238E27FC236}">
                      <a16:creationId xmlns:a16="http://schemas.microsoft.com/office/drawing/2014/main" id="{0330C86B-27A7-0894-523A-9A9AEE0E1C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96" y="2592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58383" name="Freeform 13">
                <a:extLst>
                  <a:ext uri="{FF2B5EF4-FFF2-40B4-BE49-F238E27FC236}">
                    <a16:creationId xmlns:a16="http://schemas.microsoft.com/office/drawing/2014/main" id="{8BA14891-9CD6-DEA1-72E6-ED5730BF0B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2" y="2400"/>
                <a:ext cx="96" cy="480"/>
              </a:xfrm>
              <a:custGeom>
                <a:avLst/>
                <a:gdLst>
                  <a:gd name="T0" fmla="*/ 48 w 96"/>
                  <a:gd name="T1" fmla="*/ 0 h 480"/>
                  <a:gd name="T2" fmla="*/ 48 w 96"/>
                  <a:gd name="T3" fmla="*/ 96 h 480"/>
                  <a:gd name="T4" fmla="*/ 96 w 96"/>
                  <a:gd name="T5" fmla="*/ 144 h 480"/>
                  <a:gd name="T6" fmla="*/ 0 w 96"/>
                  <a:gd name="T7" fmla="*/ 192 h 480"/>
                  <a:gd name="T8" fmla="*/ 96 w 96"/>
                  <a:gd name="T9" fmla="*/ 240 h 480"/>
                  <a:gd name="T10" fmla="*/ 0 w 96"/>
                  <a:gd name="T11" fmla="*/ 288 h 480"/>
                  <a:gd name="T12" fmla="*/ 96 w 96"/>
                  <a:gd name="T13" fmla="*/ 336 h 480"/>
                  <a:gd name="T14" fmla="*/ 0 w 96"/>
                  <a:gd name="T15" fmla="*/ 384 h 480"/>
                  <a:gd name="T16" fmla="*/ 48 w 96"/>
                  <a:gd name="T17" fmla="*/ 432 h 480"/>
                  <a:gd name="T18" fmla="*/ 48 w 96"/>
                  <a:gd name="T19" fmla="*/ 480 h 48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6"/>
                  <a:gd name="T31" fmla="*/ 0 h 480"/>
                  <a:gd name="T32" fmla="*/ 96 w 96"/>
                  <a:gd name="T33" fmla="*/ 480 h 48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6" h="480">
                    <a:moveTo>
                      <a:pt x="48" y="0"/>
                    </a:moveTo>
                    <a:lnTo>
                      <a:pt x="48" y="96"/>
                    </a:lnTo>
                    <a:lnTo>
                      <a:pt x="96" y="144"/>
                    </a:lnTo>
                    <a:lnTo>
                      <a:pt x="0" y="192"/>
                    </a:lnTo>
                    <a:lnTo>
                      <a:pt x="96" y="240"/>
                    </a:lnTo>
                    <a:lnTo>
                      <a:pt x="0" y="288"/>
                    </a:lnTo>
                    <a:lnTo>
                      <a:pt x="96" y="336"/>
                    </a:lnTo>
                    <a:lnTo>
                      <a:pt x="0" y="384"/>
                    </a:lnTo>
                    <a:lnTo>
                      <a:pt x="48" y="432"/>
                    </a:lnTo>
                    <a:lnTo>
                      <a:pt x="48" y="48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58384" name="Group 14">
                <a:extLst>
                  <a:ext uri="{FF2B5EF4-FFF2-40B4-BE49-F238E27FC236}">
                    <a16:creationId xmlns:a16="http://schemas.microsoft.com/office/drawing/2014/main" id="{A3316087-7A69-5450-F632-CE66B1FE14C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44" y="3360"/>
                <a:ext cx="192" cy="192"/>
                <a:chOff x="4032" y="1968"/>
                <a:chExt cx="192" cy="192"/>
              </a:xfrm>
            </p:grpSpPr>
            <p:sp>
              <p:nvSpPr>
                <p:cNvPr id="58387" name="Line 15">
                  <a:extLst>
                    <a:ext uri="{FF2B5EF4-FFF2-40B4-BE49-F238E27FC236}">
                      <a16:creationId xmlns:a16="http://schemas.microsoft.com/office/drawing/2014/main" id="{28BD7285-AE4E-A04A-6D07-7E49F5386F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28" y="1968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8388" name="Line 16">
                  <a:extLst>
                    <a:ext uri="{FF2B5EF4-FFF2-40B4-BE49-F238E27FC236}">
                      <a16:creationId xmlns:a16="http://schemas.microsoft.com/office/drawing/2014/main" id="{8D291F2C-6C29-6777-BE49-569A1CF8AE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17" y="2160"/>
                  <a:ext cx="23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8389" name="Line 17">
                  <a:extLst>
                    <a:ext uri="{FF2B5EF4-FFF2-40B4-BE49-F238E27FC236}">
                      <a16:creationId xmlns:a16="http://schemas.microsoft.com/office/drawing/2014/main" id="{B232436D-9E98-F3EC-FF40-BAC93987BE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80" y="211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58390" name="Line 18">
                  <a:extLst>
                    <a:ext uri="{FF2B5EF4-FFF2-40B4-BE49-F238E27FC236}">
                      <a16:creationId xmlns:a16="http://schemas.microsoft.com/office/drawing/2014/main" id="{596D4F33-8D2F-CBBB-243A-67A597A014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32" y="2064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58385" name="Freeform 19">
                <a:extLst>
                  <a:ext uri="{FF2B5EF4-FFF2-40B4-BE49-F238E27FC236}">
                    <a16:creationId xmlns:a16="http://schemas.microsoft.com/office/drawing/2014/main" id="{ABC69F1F-FB8B-1248-D0F5-2072334209C6}"/>
                  </a:ext>
                </a:extLst>
              </p:cNvPr>
              <p:cNvSpPr>
                <a:spLocks/>
              </p:cNvSpPr>
              <p:nvPr/>
            </p:nvSpPr>
            <p:spPr bwMode="auto">
              <a:xfrm rot="-5400000">
                <a:off x="2112" y="2880"/>
                <a:ext cx="96" cy="480"/>
              </a:xfrm>
              <a:custGeom>
                <a:avLst/>
                <a:gdLst>
                  <a:gd name="T0" fmla="*/ 48 w 96"/>
                  <a:gd name="T1" fmla="*/ 0 h 480"/>
                  <a:gd name="T2" fmla="*/ 48 w 96"/>
                  <a:gd name="T3" fmla="*/ 96 h 480"/>
                  <a:gd name="T4" fmla="*/ 96 w 96"/>
                  <a:gd name="T5" fmla="*/ 144 h 480"/>
                  <a:gd name="T6" fmla="*/ 0 w 96"/>
                  <a:gd name="T7" fmla="*/ 192 h 480"/>
                  <a:gd name="T8" fmla="*/ 96 w 96"/>
                  <a:gd name="T9" fmla="*/ 240 h 480"/>
                  <a:gd name="T10" fmla="*/ 0 w 96"/>
                  <a:gd name="T11" fmla="*/ 288 h 480"/>
                  <a:gd name="T12" fmla="*/ 96 w 96"/>
                  <a:gd name="T13" fmla="*/ 336 h 480"/>
                  <a:gd name="T14" fmla="*/ 0 w 96"/>
                  <a:gd name="T15" fmla="*/ 384 h 480"/>
                  <a:gd name="T16" fmla="*/ 48 w 96"/>
                  <a:gd name="T17" fmla="*/ 432 h 480"/>
                  <a:gd name="T18" fmla="*/ 48 w 96"/>
                  <a:gd name="T19" fmla="*/ 480 h 48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6"/>
                  <a:gd name="T31" fmla="*/ 0 h 480"/>
                  <a:gd name="T32" fmla="*/ 96 w 96"/>
                  <a:gd name="T33" fmla="*/ 480 h 48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6" h="480">
                    <a:moveTo>
                      <a:pt x="48" y="0"/>
                    </a:moveTo>
                    <a:lnTo>
                      <a:pt x="48" y="96"/>
                    </a:lnTo>
                    <a:lnTo>
                      <a:pt x="96" y="144"/>
                    </a:lnTo>
                    <a:lnTo>
                      <a:pt x="0" y="192"/>
                    </a:lnTo>
                    <a:lnTo>
                      <a:pt x="96" y="240"/>
                    </a:lnTo>
                    <a:lnTo>
                      <a:pt x="0" y="288"/>
                    </a:lnTo>
                    <a:lnTo>
                      <a:pt x="96" y="336"/>
                    </a:lnTo>
                    <a:lnTo>
                      <a:pt x="0" y="384"/>
                    </a:lnTo>
                    <a:lnTo>
                      <a:pt x="48" y="432"/>
                    </a:lnTo>
                    <a:lnTo>
                      <a:pt x="48" y="48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8386" name="Line 20">
                <a:extLst>
                  <a:ext uri="{FF2B5EF4-FFF2-40B4-BE49-F238E27FC236}">
                    <a16:creationId xmlns:a16="http://schemas.microsoft.com/office/drawing/2014/main" id="{4013869C-5723-BED5-EC65-490650AD91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0" y="2928"/>
                <a:ext cx="38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58377" name="Text Box 21">
              <a:extLst>
                <a:ext uri="{FF2B5EF4-FFF2-40B4-BE49-F238E27FC236}">
                  <a16:creationId xmlns:a16="http://schemas.microsoft.com/office/drawing/2014/main" id="{E68580FE-E741-4608-3D39-A58B262CFC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4" y="3065"/>
              <a:ext cx="29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</a:rPr>
                <a:t>out</a:t>
              </a:r>
            </a:p>
          </p:txBody>
        </p:sp>
        <p:sp>
          <p:nvSpPr>
            <p:cNvPr id="58378" name="Text Box 22">
              <a:extLst>
                <a:ext uri="{FF2B5EF4-FFF2-40B4-BE49-F238E27FC236}">
                  <a16:creationId xmlns:a16="http://schemas.microsoft.com/office/drawing/2014/main" id="{B73A5860-B3ED-8E1D-AA09-702047732C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2736"/>
              <a:ext cx="25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</a:rPr>
                <a:t>R</a:t>
              </a:r>
              <a:r>
                <a:rPr lang="en-US" altLang="en-US" sz="1600" baseline="-25000">
                  <a:solidFill>
                    <a:srgbClr val="000000"/>
                  </a:solidFill>
                </a:rPr>
                <a:t>c</a:t>
              </a:r>
              <a:endParaRPr lang="en-US" altLang="en-US" sz="1600">
                <a:solidFill>
                  <a:srgbClr val="000000"/>
                </a:solidFill>
              </a:endParaRPr>
            </a:p>
          </p:txBody>
        </p:sp>
        <p:sp>
          <p:nvSpPr>
            <p:cNvPr id="58379" name="Text Box 23">
              <a:extLst>
                <a:ext uri="{FF2B5EF4-FFF2-40B4-BE49-F238E27FC236}">
                  <a16:creationId xmlns:a16="http://schemas.microsoft.com/office/drawing/2014/main" id="{8E5101E8-EDA5-E1C7-8B3D-E5D08D66F7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3024"/>
              <a:ext cx="25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</a:rPr>
                <a:t>R</a:t>
              </a:r>
              <a:r>
                <a:rPr lang="en-US" altLang="en-US" sz="1600" baseline="-25000">
                  <a:solidFill>
                    <a:srgbClr val="000000"/>
                  </a:solidFill>
                </a:rPr>
                <a:t>b</a:t>
              </a:r>
              <a:endParaRPr lang="en-US" altLang="en-US" sz="1600">
                <a:solidFill>
                  <a:srgbClr val="000000"/>
                </a:solidFill>
              </a:endParaRPr>
            </a:p>
          </p:txBody>
        </p:sp>
        <p:sp>
          <p:nvSpPr>
            <p:cNvPr id="58380" name="Text Box 24">
              <a:extLst>
                <a:ext uri="{FF2B5EF4-FFF2-40B4-BE49-F238E27FC236}">
                  <a16:creationId xmlns:a16="http://schemas.microsoft.com/office/drawing/2014/main" id="{7E88F44F-C8A4-C391-E4DE-318CF91B22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4" y="3216"/>
              <a:ext cx="2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</a:rPr>
                <a:t>in</a:t>
              </a:r>
            </a:p>
          </p:txBody>
        </p:sp>
        <p:sp>
          <p:nvSpPr>
            <p:cNvPr id="58381" name="Text Box 25">
              <a:extLst>
                <a:ext uri="{FF2B5EF4-FFF2-40B4-BE49-F238E27FC236}">
                  <a16:creationId xmlns:a16="http://schemas.microsoft.com/office/drawing/2014/main" id="{45A44F62-040E-71F1-3486-FBD4EAB75F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3" y="2400"/>
              <a:ext cx="28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</a:rPr>
                <a:t>V</a:t>
              </a:r>
              <a:r>
                <a:rPr lang="en-US" altLang="en-US" sz="1600" baseline="-25000">
                  <a:solidFill>
                    <a:srgbClr val="000000"/>
                  </a:solidFill>
                </a:rPr>
                <a:t>cc</a:t>
              </a:r>
              <a:endParaRPr lang="en-US" altLang="en-US" sz="1600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Date Placeholder 3">
            <a:extLst>
              <a:ext uri="{FF2B5EF4-FFF2-40B4-BE49-F238E27FC236}">
                <a16:creationId xmlns:a16="http://schemas.microsoft.com/office/drawing/2014/main" id="{E30EA517-0647-1667-8B4B-73C56CAB38E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Winter 2012</a:t>
            </a:r>
          </a:p>
        </p:txBody>
      </p:sp>
      <p:sp>
        <p:nvSpPr>
          <p:cNvPr id="60419" name="Footer Placeholder 4">
            <a:extLst>
              <a:ext uri="{FF2B5EF4-FFF2-40B4-BE49-F238E27FC236}">
                <a16:creationId xmlns:a16="http://schemas.microsoft.com/office/drawing/2014/main" id="{D16F512B-0267-6793-3CDA-FFAA75F5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UCSD: Physics 121; 2012</a:t>
            </a:r>
          </a:p>
        </p:txBody>
      </p:sp>
      <p:sp>
        <p:nvSpPr>
          <p:cNvPr id="60420" name="Slide Number Placeholder 5">
            <a:extLst>
              <a:ext uri="{FF2B5EF4-FFF2-40B4-BE49-F238E27FC236}">
                <a16:creationId xmlns:a16="http://schemas.microsoft.com/office/drawing/2014/main" id="{550B7882-F032-925C-BB8F-14687EE6C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A5948AB-40F9-4AA1-92F1-7C83D3444262}" type="slidenum">
              <a:rPr lang="en-US" altLang="en-US" sz="1400"/>
              <a:pPr/>
              <a:t>22</a:t>
            </a:fld>
            <a:endParaRPr lang="en-US" altLang="en-US" sz="1400"/>
          </a:p>
        </p:txBody>
      </p:sp>
      <p:sp>
        <p:nvSpPr>
          <p:cNvPr id="111618" name="Rectangle 2">
            <a:extLst>
              <a:ext uri="{FF2B5EF4-FFF2-40B4-BE49-F238E27FC236}">
                <a16:creationId xmlns:a16="http://schemas.microsoft.com/office/drawing/2014/main" id="{216BFFEE-6C7E-5BFC-6D5D-EEAEDE2A06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Transistor Buffer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02C7AFDA-B5DD-CA79-789A-AD3FBFC94B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2514600"/>
            <a:ext cx="8077200" cy="3962400"/>
          </a:xfrm>
        </p:spPr>
        <p:txBody>
          <a:bodyPr/>
          <a:lstStyle/>
          <a:p>
            <a:pPr eaLnBrk="1" hangingPunct="1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In the hookup above (</a:t>
            </a:r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emitter follower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), </a:t>
            </a:r>
            <a:r>
              <a:rPr lang="en-US" altLang="en-US" i="1">
                <a:effectLst>
                  <a:outerShdw blurRad="38100" dist="38100" dir="2700000" algn="tl">
                    <a:srgbClr val="C0C0C0"/>
                  </a:outerShdw>
                </a:effectLst>
              </a:rPr>
              <a:t>V</a:t>
            </a:r>
            <a:r>
              <a:rPr lang="en-US" altLang="en-US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out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= </a:t>
            </a:r>
            <a:r>
              <a:rPr lang="en-US" altLang="en-US" i="1">
                <a:effectLst>
                  <a:outerShdw blurRad="38100" dist="38100" dir="2700000" algn="tl">
                    <a:srgbClr val="C0C0C0"/>
                  </a:outerShdw>
                </a:effectLst>
              </a:rPr>
              <a:t>V</a:t>
            </a:r>
            <a:r>
              <a:rPr lang="en-US" altLang="en-US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in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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0.6</a:t>
            </a:r>
          </a:p>
          <a:p>
            <a:pPr lvl="1" eaLnBrk="1" hangingPunct="1"/>
            <a:r>
              <a:rPr lang="en-US" altLang="en-US"/>
              <a:t>sounds useless, right?</a:t>
            </a:r>
          </a:p>
          <a:p>
            <a:pPr lvl="1" eaLnBrk="1" hangingPunct="1"/>
            <a:r>
              <a:rPr lang="en-US" altLang="en-US"/>
              <a:t>there is no voltage “gain,” but there </a:t>
            </a:r>
            <a:r>
              <a:rPr lang="en-US" altLang="en-US" i="1"/>
              <a:t>is</a:t>
            </a:r>
            <a:r>
              <a:rPr lang="en-US" altLang="en-US"/>
              <a:t> </a:t>
            </a:r>
            <a:r>
              <a:rPr lang="en-US" altLang="en-US">
                <a:solidFill>
                  <a:schemeClr val="accent2"/>
                </a:solidFill>
              </a:rPr>
              <a:t>current gain</a:t>
            </a:r>
            <a:endParaRPr lang="en-US" altLang="en-US"/>
          </a:p>
          <a:p>
            <a:pPr lvl="1" eaLnBrk="1" hangingPunct="1"/>
            <a:r>
              <a:rPr lang="en-US" altLang="en-US"/>
              <a:t>Imagine we wiggle </a:t>
            </a:r>
            <a:r>
              <a:rPr lang="en-US" altLang="en-US" i="1"/>
              <a:t>V</a:t>
            </a:r>
            <a:r>
              <a:rPr lang="en-US" altLang="en-US" baseline="-25000"/>
              <a:t>in</a:t>
            </a:r>
            <a:r>
              <a:rPr lang="en-US" altLang="en-US"/>
              <a:t> by </a:t>
            </a:r>
            <a:r>
              <a:rPr lang="en-US" altLang="en-US" i="1">
                <a:sym typeface="Symbol" panose="05050102010706020507" pitchFamily="18" charset="2"/>
              </a:rPr>
              <a:t></a:t>
            </a:r>
            <a:r>
              <a:rPr lang="en-US" altLang="en-US" i="1"/>
              <a:t>V</a:t>
            </a:r>
            <a:r>
              <a:rPr lang="en-US" altLang="en-US"/>
              <a:t>: </a:t>
            </a:r>
            <a:r>
              <a:rPr lang="en-US" altLang="en-US" i="1"/>
              <a:t>V</a:t>
            </a:r>
            <a:r>
              <a:rPr lang="en-US" altLang="en-US" baseline="-25000"/>
              <a:t>out</a:t>
            </a:r>
            <a:r>
              <a:rPr lang="en-US" altLang="en-US"/>
              <a:t> wiggles by the same </a:t>
            </a:r>
            <a:r>
              <a:rPr lang="en-US" altLang="en-US" i="1">
                <a:sym typeface="Symbol" panose="05050102010706020507" pitchFamily="18" charset="2"/>
              </a:rPr>
              <a:t></a:t>
            </a:r>
            <a:r>
              <a:rPr lang="en-US" altLang="en-US" i="1"/>
              <a:t>V</a:t>
            </a:r>
            <a:endParaRPr lang="en-US" altLang="en-US"/>
          </a:p>
          <a:p>
            <a:pPr lvl="1" eaLnBrk="1" hangingPunct="1"/>
            <a:r>
              <a:rPr lang="en-US" altLang="en-US"/>
              <a:t>so the transistor current changes by </a:t>
            </a:r>
            <a:r>
              <a:rPr lang="en-US" altLang="en-US" i="1">
                <a:sym typeface="Symbol" panose="05050102010706020507" pitchFamily="18" charset="2"/>
              </a:rPr>
              <a:t></a:t>
            </a:r>
            <a:r>
              <a:rPr lang="en-US" altLang="en-US" i="1"/>
              <a:t>I</a:t>
            </a:r>
            <a:r>
              <a:rPr lang="en-US" altLang="en-US" baseline="-25000"/>
              <a:t>e</a:t>
            </a:r>
            <a:r>
              <a:rPr lang="en-US" altLang="en-US"/>
              <a:t> = </a:t>
            </a:r>
            <a:r>
              <a:rPr lang="en-US" altLang="en-US" i="1">
                <a:sym typeface="Symbol" panose="05050102010706020507" pitchFamily="18" charset="2"/>
              </a:rPr>
              <a:t></a:t>
            </a:r>
            <a:r>
              <a:rPr lang="en-US" altLang="en-US" i="1"/>
              <a:t>V/R</a:t>
            </a:r>
            <a:r>
              <a:rPr lang="en-US" altLang="en-US"/>
              <a:t> </a:t>
            </a:r>
          </a:p>
          <a:p>
            <a:pPr lvl="1" eaLnBrk="1" hangingPunct="1"/>
            <a:r>
              <a:rPr lang="en-US" altLang="en-US"/>
              <a:t>but the base current changes 1/</a:t>
            </a:r>
            <a:r>
              <a:rPr lang="en-US" altLang="en-US" i="1">
                <a:sym typeface="Symbol" panose="05050102010706020507" pitchFamily="18" charset="2"/>
              </a:rPr>
              <a:t></a:t>
            </a:r>
            <a:r>
              <a:rPr lang="en-US" altLang="en-US">
                <a:sym typeface="Symbol" panose="05050102010706020507" pitchFamily="18" charset="2"/>
              </a:rPr>
              <a:t> times this (much less)</a:t>
            </a: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so the “wiggler” </a:t>
            </a:r>
            <a:r>
              <a:rPr lang="en-US" altLang="en-US" i="1">
                <a:solidFill>
                  <a:schemeClr val="accent2"/>
                </a:solidFill>
                <a:sym typeface="Symbol" panose="05050102010706020507" pitchFamily="18" charset="2"/>
              </a:rPr>
              <a:t>thinks</a:t>
            </a:r>
            <a:r>
              <a:rPr lang="en-US" altLang="en-US">
                <a:sym typeface="Symbol" panose="05050102010706020507" pitchFamily="18" charset="2"/>
              </a:rPr>
              <a:t> the load is </a:t>
            </a:r>
            <a:r>
              <a:rPr lang="en-US" altLang="en-US" i="1">
                <a:sym typeface="Symbol" panose="05050102010706020507" pitchFamily="18" charset="2"/>
              </a:rPr>
              <a:t></a:t>
            </a:r>
            <a:r>
              <a:rPr lang="en-US" altLang="en-US" i="1"/>
              <a:t>V/</a:t>
            </a:r>
            <a:r>
              <a:rPr lang="en-US" altLang="en-US" i="1">
                <a:sym typeface="Symbol" panose="05050102010706020507" pitchFamily="18" charset="2"/>
              </a:rPr>
              <a:t></a:t>
            </a:r>
            <a:r>
              <a:rPr lang="en-US" altLang="en-US" i="1"/>
              <a:t>I</a:t>
            </a:r>
            <a:r>
              <a:rPr lang="en-US" altLang="en-US" baseline="-25000"/>
              <a:t>b</a:t>
            </a:r>
            <a:r>
              <a:rPr lang="en-US" altLang="en-US"/>
              <a:t> = </a:t>
            </a:r>
            <a:r>
              <a:rPr lang="en-US" altLang="en-US" i="1">
                <a:sym typeface="Symbol" panose="05050102010706020507" pitchFamily="18" charset="2"/>
              </a:rPr>
              <a:t>·</a:t>
            </a:r>
            <a:r>
              <a:rPr lang="en-US" altLang="en-US" i="1"/>
              <a:t>V/</a:t>
            </a:r>
            <a:r>
              <a:rPr lang="en-US" altLang="en-US" i="1">
                <a:sym typeface="Symbol" panose="05050102010706020507" pitchFamily="18" charset="2"/>
              </a:rPr>
              <a:t></a:t>
            </a:r>
            <a:r>
              <a:rPr lang="en-US" altLang="en-US" i="1"/>
              <a:t>I</a:t>
            </a:r>
            <a:r>
              <a:rPr lang="en-US" altLang="en-US" baseline="-25000"/>
              <a:t>e</a:t>
            </a:r>
            <a:r>
              <a:rPr lang="en-US" altLang="en-US"/>
              <a:t> = </a:t>
            </a:r>
            <a:r>
              <a:rPr lang="en-US" altLang="en-US" i="1">
                <a:sym typeface="Symbol" panose="05050102010706020507" pitchFamily="18" charset="2"/>
              </a:rPr>
              <a:t>R</a:t>
            </a: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the load therefore is less formidable</a:t>
            </a:r>
          </a:p>
          <a:p>
            <a:pPr eaLnBrk="1" hangingPunct="1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The “buffer” is a way to drive a load without the driver feeling the pain (as much): it’s </a:t>
            </a:r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impedance isolation</a:t>
            </a:r>
            <a:endParaRPr lang="en-US" altLang="en-US" i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sym typeface="Symbol" panose="05050102010706020507" pitchFamily="18" charset="2"/>
            </a:endParaRPr>
          </a:p>
        </p:txBody>
      </p:sp>
      <p:grpSp>
        <p:nvGrpSpPr>
          <p:cNvPr id="60423" name="Group 27">
            <a:extLst>
              <a:ext uri="{FF2B5EF4-FFF2-40B4-BE49-F238E27FC236}">
                <a16:creationId xmlns:a16="http://schemas.microsoft.com/office/drawing/2014/main" id="{CDA8CA0C-16D3-429D-2695-DA55B4F323D7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228600"/>
            <a:ext cx="2317750" cy="2133600"/>
            <a:chOff x="1848" y="2880"/>
            <a:chExt cx="1460" cy="1344"/>
          </a:xfrm>
        </p:grpSpPr>
        <p:grpSp>
          <p:nvGrpSpPr>
            <p:cNvPr id="60424" name="Group 6">
              <a:extLst>
                <a:ext uri="{FF2B5EF4-FFF2-40B4-BE49-F238E27FC236}">
                  <a16:creationId xmlns:a16="http://schemas.microsoft.com/office/drawing/2014/main" id="{513C0A1C-2D97-611B-859C-A0A5684E76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0" y="3072"/>
              <a:ext cx="240" cy="480"/>
              <a:chOff x="2256" y="2208"/>
              <a:chExt cx="240" cy="480"/>
            </a:xfrm>
          </p:grpSpPr>
          <p:sp>
            <p:nvSpPr>
              <p:cNvPr id="60437" name="Line 7">
                <a:extLst>
                  <a:ext uri="{FF2B5EF4-FFF2-40B4-BE49-F238E27FC236}">
                    <a16:creationId xmlns:a16="http://schemas.microsoft.com/office/drawing/2014/main" id="{9C3E5C43-7EF2-F24A-7339-C8CAAE1137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0" y="2352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60438" name="Line 8">
                <a:extLst>
                  <a:ext uri="{FF2B5EF4-FFF2-40B4-BE49-F238E27FC236}">
                    <a16:creationId xmlns:a16="http://schemas.microsoft.com/office/drawing/2014/main" id="{7D5B2935-17D4-9881-7F49-BD46D4CE36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00" y="2304"/>
                <a:ext cx="96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60439" name="Line 9">
                <a:extLst>
                  <a:ext uri="{FF2B5EF4-FFF2-40B4-BE49-F238E27FC236}">
                    <a16:creationId xmlns:a16="http://schemas.microsoft.com/office/drawing/2014/main" id="{958B8B90-EC27-C7E0-4349-530E9A461E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0" y="2496"/>
                <a:ext cx="96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60440" name="Line 10">
                <a:extLst>
                  <a:ext uri="{FF2B5EF4-FFF2-40B4-BE49-F238E27FC236}">
                    <a16:creationId xmlns:a16="http://schemas.microsoft.com/office/drawing/2014/main" id="{52F6C0A5-6C96-3A7D-99AB-99467C490D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96" y="2208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60441" name="Line 11">
                <a:extLst>
                  <a:ext uri="{FF2B5EF4-FFF2-40B4-BE49-F238E27FC236}">
                    <a16:creationId xmlns:a16="http://schemas.microsoft.com/office/drawing/2014/main" id="{200D23AC-9459-D7E6-FAD0-4B5B3452A0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56" y="2448"/>
                <a:ext cx="14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60442" name="Line 12">
                <a:extLst>
                  <a:ext uri="{FF2B5EF4-FFF2-40B4-BE49-F238E27FC236}">
                    <a16:creationId xmlns:a16="http://schemas.microsoft.com/office/drawing/2014/main" id="{6DDD89F4-82A0-96CD-0031-F3CE97EE8C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6" y="2592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60425" name="Freeform 13">
              <a:extLst>
                <a:ext uri="{FF2B5EF4-FFF2-40B4-BE49-F238E27FC236}">
                  <a16:creationId xmlns:a16="http://schemas.microsoft.com/office/drawing/2014/main" id="{A255CDDA-6714-09CC-7E4D-872C9AB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2" y="3552"/>
              <a:ext cx="96" cy="480"/>
            </a:xfrm>
            <a:custGeom>
              <a:avLst/>
              <a:gdLst>
                <a:gd name="T0" fmla="*/ 48 w 96"/>
                <a:gd name="T1" fmla="*/ 0 h 480"/>
                <a:gd name="T2" fmla="*/ 48 w 96"/>
                <a:gd name="T3" fmla="*/ 96 h 480"/>
                <a:gd name="T4" fmla="*/ 96 w 96"/>
                <a:gd name="T5" fmla="*/ 144 h 480"/>
                <a:gd name="T6" fmla="*/ 0 w 96"/>
                <a:gd name="T7" fmla="*/ 192 h 480"/>
                <a:gd name="T8" fmla="*/ 96 w 96"/>
                <a:gd name="T9" fmla="*/ 240 h 480"/>
                <a:gd name="T10" fmla="*/ 0 w 96"/>
                <a:gd name="T11" fmla="*/ 288 h 480"/>
                <a:gd name="T12" fmla="*/ 96 w 96"/>
                <a:gd name="T13" fmla="*/ 336 h 480"/>
                <a:gd name="T14" fmla="*/ 0 w 96"/>
                <a:gd name="T15" fmla="*/ 384 h 480"/>
                <a:gd name="T16" fmla="*/ 48 w 96"/>
                <a:gd name="T17" fmla="*/ 432 h 480"/>
                <a:gd name="T18" fmla="*/ 48 w 96"/>
                <a:gd name="T19" fmla="*/ 480 h 48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96"/>
                <a:gd name="T31" fmla="*/ 0 h 480"/>
                <a:gd name="T32" fmla="*/ 96 w 96"/>
                <a:gd name="T33" fmla="*/ 480 h 48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96" h="480">
                  <a:moveTo>
                    <a:pt x="48" y="0"/>
                  </a:moveTo>
                  <a:lnTo>
                    <a:pt x="48" y="96"/>
                  </a:lnTo>
                  <a:lnTo>
                    <a:pt x="96" y="144"/>
                  </a:lnTo>
                  <a:lnTo>
                    <a:pt x="0" y="192"/>
                  </a:lnTo>
                  <a:lnTo>
                    <a:pt x="96" y="240"/>
                  </a:lnTo>
                  <a:lnTo>
                    <a:pt x="0" y="288"/>
                  </a:lnTo>
                  <a:lnTo>
                    <a:pt x="96" y="336"/>
                  </a:lnTo>
                  <a:lnTo>
                    <a:pt x="0" y="384"/>
                  </a:lnTo>
                  <a:lnTo>
                    <a:pt x="48" y="432"/>
                  </a:lnTo>
                  <a:lnTo>
                    <a:pt x="48" y="48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60426" name="Group 14">
              <a:extLst>
                <a:ext uri="{FF2B5EF4-FFF2-40B4-BE49-F238E27FC236}">
                  <a16:creationId xmlns:a16="http://schemas.microsoft.com/office/drawing/2014/main" id="{C3E714FC-663F-DC44-6884-BF7526B935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44" y="4032"/>
              <a:ext cx="192" cy="192"/>
              <a:chOff x="4032" y="1968"/>
              <a:chExt cx="192" cy="192"/>
            </a:xfrm>
          </p:grpSpPr>
          <p:sp>
            <p:nvSpPr>
              <p:cNvPr id="60433" name="Line 15">
                <a:extLst>
                  <a:ext uri="{FF2B5EF4-FFF2-40B4-BE49-F238E27FC236}">
                    <a16:creationId xmlns:a16="http://schemas.microsoft.com/office/drawing/2014/main" id="{D1FFD1EA-746A-554D-010B-62473A3A88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8" y="1968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60434" name="Line 16">
                <a:extLst>
                  <a:ext uri="{FF2B5EF4-FFF2-40B4-BE49-F238E27FC236}">
                    <a16:creationId xmlns:a16="http://schemas.microsoft.com/office/drawing/2014/main" id="{AAF17C0E-5A42-B42A-4E5C-15EA1F77E7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7" y="2160"/>
                <a:ext cx="2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60435" name="Line 17">
                <a:extLst>
                  <a:ext uri="{FF2B5EF4-FFF2-40B4-BE49-F238E27FC236}">
                    <a16:creationId xmlns:a16="http://schemas.microsoft.com/office/drawing/2014/main" id="{AA498679-3F24-EA30-6C0D-D364B81868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2112"/>
                <a:ext cx="9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60436" name="Line 18">
                <a:extLst>
                  <a:ext uri="{FF2B5EF4-FFF2-40B4-BE49-F238E27FC236}">
                    <a16:creationId xmlns:a16="http://schemas.microsoft.com/office/drawing/2014/main" id="{0317C6BB-3168-681D-2C0C-C9FA77989F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2" y="2064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60427" name="Line 20">
              <a:extLst>
                <a:ext uri="{FF2B5EF4-FFF2-40B4-BE49-F238E27FC236}">
                  <a16:creationId xmlns:a16="http://schemas.microsoft.com/office/drawing/2014/main" id="{F09C1B19-4B56-92DA-97E8-B3E5EC46A9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3552"/>
              <a:ext cx="38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0428" name="Text Box 21">
              <a:extLst>
                <a:ext uri="{FF2B5EF4-FFF2-40B4-BE49-F238E27FC236}">
                  <a16:creationId xmlns:a16="http://schemas.microsoft.com/office/drawing/2014/main" id="{9AD42D16-E47F-71F8-02D9-AF15C48970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4" y="3436"/>
              <a:ext cx="29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</a:rPr>
                <a:t>out</a:t>
              </a:r>
            </a:p>
          </p:txBody>
        </p:sp>
        <p:sp>
          <p:nvSpPr>
            <p:cNvPr id="60429" name="Text Box 22">
              <a:extLst>
                <a:ext uri="{FF2B5EF4-FFF2-40B4-BE49-F238E27FC236}">
                  <a16:creationId xmlns:a16="http://schemas.microsoft.com/office/drawing/2014/main" id="{BAB09DF6-7D11-C936-FD11-952EC0C7D5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2" y="3676"/>
              <a:ext cx="20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</a:rPr>
                <a:t>R</a:t>
              </a:r>
            </a:p>
          </p:txBody>
        </p:sp>
        <p:sp>
          <p:nvSpPr>
            <p:cNvPr id="60430" name="Text Box 24">
              <a:extLst>
                <a:ext uri="{FF2B5EF4-FFF2-40B4-BE49-F238E27FC236}">
                  <a16:creationId xmlns:a16="http://schemas.microsoft.com/office/drawing/2014/main" id="{8D50F159-563F-5B49-D067-2F885AEBCD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8" y="3196"/>
              <a:ext cx="2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</a:rPr>
                <a:t>in</a:t>
              </a:r>
            </a:p>
          </p:txBody>
        </p:sp>
        <p:sp>
          <p:nvSpPr>
            <p:cNvPr id="60431" name="Text Box 25">
              <a:extLst>
                <a:ext uri="{FF2B5EF4-FFF2-40B4-BE49-F238E27FC236}">
                  <a16:creationId xmlns:a16="http://schemas.microsoft.com/office/drawing/2014/main" id="{8ACE6C09-2207-3F73-3629-2B1EC585A8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3" y="2880"/>
              <a:ext cx="28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</a:rPr>
                <a:t>V</a:t>
              </a:r>
              <a:r>
                <a:rPr lang="en-US" altLang="en-US" sz="1600" baseline="-25000">
                  <a:solidFill>
                    <a:srgbClr val="000000"/>
                  </a:solidFill>
                </a:rPr>
                <a:t>cc</a:t>
              </a:r>
              <a:endParaRPr lang="en-US" altLang="en-US" sz="1600">
                <a:solidFill>
                  <a:srgbClr val="000000"/>
                </a:solidFill>
              </a:endParaRPr>
            </a:p>
          </p:txBody>
        </p:sp>
        <p:sp>
          <p:nvSpPr>
            <p:cNvPr id="60432" name="Line 26">
              <a:extLst>
                <a:ext uri="{FF2B5EF4-FFF2-40B4-BE49-F238E27FC236}">
                  <a16:creationId xmlns:a16="http://schemas.microsoft.com/office/drawing/2014/main" id="{CCB603C5-1FF7-8404-168A-93BDBE6D12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4" y="3312"/>
              <a:ext cx="3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Date Placeholder 4">
            <a:extLst>
              <a:ext uri="{FF2B5EF4-FFF2-40B4-BE49-F238E27FC236}">
                <a16:creationId xmlns:a16="http://schemas.microsoft.com/office/drawing/2014/main" id="{3E6541A1-E1CB-C83E-98E5-B41E252E2BF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Winter 2012</a:t>
            </a:r>
          </a:p>
        </p:txBody>
      </p:sp>
      <p:sp>
        <p:nvSpPr>
          <p:cNvPr id="62467" name="Footer Placeholder 5">
            <a:extLst>
              <a:ext uri="{FF2B5EF4-FFF2-40B4-BE49-F238E27FC236}">
                <a16:creationId xmlns:a16="http://schemas.microsoft.com/office/drawing/2014/main" id="{8F3613F4-A037-6C3F-D746-5E4BC5258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UCSD: Physics 121; 2012</a:t>
            </a:r>
          </a:p>
        </p:txBody>
      </p:sp>
      <p:sp>
        <p:nvSpPr>
          <p:cNvPr id="62468" name="Slide Number Placeholder 6">
            <a:extLst>
              <a:ext uri="{FF2B5EF4-FFF2-40B4-BE49-F238E27FC236}">
                <a16:creationId xmlns:a16="http://schemas.microsoft.com/office/drawing/2014/main" id="{2DF64904-EA00-94A9-F3A7-EE501DAE1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0799278-5A13-4FFA-871C-8F1DE2F9D69C}" type="slidenum">
              <a:rPr lang="en-US" altLang="en-US" sz="1400"/>
              <a:pPr/>
              <a:t>23</a:t>
            </a:fld>
            <a:endParaRPr lang="en-US" altLang="en-US" sz="1400"/>
          </a:p>
        </p:txBody>
      </p:sp>
      <p:sp>
        <p:nvSpPr>
          <p:cNvPr id="145410" name="Rectangle 2">
            <a:extLst>
              <a:ext uri="{FF2B5EF4-FFF2-40B4-BE49-F238E27FC236}">
                <a16:creationId xmlns:a16="http://schemas.microsoft.com/office/drawing/2014/main" id="{8286B86E-5562-7A5F-0DE2-CCBD20860B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Improved Zener Regulator</a:t>
            </a:r>
          </a:p>
        </p:txBody>
      </p:sp>
      <p:sp>
        <p:nvSpPr>
          <p:cNvPr id="145411" name="Rectangle 3">
            <a:extLst>
              <a:ext uri="{FF2B5EF4-FFF2-40B4-BE49-F238E27FC236}">
                <a16:creationId xmlns:a16="http://schemas.microsoft.com/office/drawing/2014/main" id="{B42EA457-D5B2-D2A7-E176-31D21AD54B6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219200"/>
            <a:ext cx="5105400" cy="5029200"/>
          </a:xfrm>
        </p:spPr>
        <p:txBody>
          <a:bodyPr/>
          <a:lstStyle/>
          <a:p>
            <a:pPr eaLnBrk="1" hangingPunct="1"/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By adding a transistor to the zener regulator from before, we no longer have to worry as much about the current being pulled away from the zener to the load</a:t>
            </a:r>
          </a:p>
          <a:p>
            <a:pPr lvl="1" eaLnBrk="1" hangingPunct="1"/>
            <a:r>
              <a:rPr lang="en-US" altLang="en-US" sz="1800"/>
              <a:t>the base current is small</a:t>
            </a:r>
          </a:p>
          <a:p>
            <a:pPr lvl="1" eaLnBrk="1" hangingPunct="1"/>
            <a:r>
              <a:rPr lang="en-US" altLang="en-US" sz="1800"/>
              <a:t>R</a:t>
            </a:r>
            <a:r>
              <a:rPr lang="en-US" altLang="en-US" sz="1800" baseline="-25000"/>
              <a:t>load</a:t>
            </a:r>
            <a:r>
              <a:rPr lang="en-US" altLang="en-US" sz="1800"/>
              <a:t> effectively looks </a:t>
            </a:r>
            <a:r>
              <a:rPr lang="en-US" altLang="en-US" sz="1800" i="1">
                <a:sym typeface="Symbol" panose="05050102010706020507" pitchFamily="18" charset="2"/>
              </a:rPr>
              <a:t></a:t>
            </a:r>
            <a:r>
              <a:rPr lang="en-US" altLang="en-US" sz="1800">
                <a:sym typeface="Symbol" panose="05050102010706020507" pitchFamily="18" charset="2"/>
              </a:rPr>
              <a:t> times bigger</a:t>
            </a:r>
          </a:p>
          <a:p>
            <a:pPr lvl="1" eaLnBrk="1" hangingPunct="1"/>
            <a:r>
              <a:rPr lang="en-US" altLang="en-US" sz="1800">
                <a:sym typeface="Symbol" panose="05050102010706020507" pitchFamily="18" charset="2"/>
              </a:rPr>
              <a:t>real current supplied through transistor</a:t>
            </a:r>
          </a:p>
          <a:p>
            <a:pPr eaLnBrk="1" hangingPunct="1"/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Can often find zeners at 5.6 V, 9.6 V, 12.6 V, 15.6 V, etc. because drop from base to emitter is about 0.6 V</a:t>
            </a:r>
          </a:p>
          <a:p>
            <a:pPr lvl="1" eaLnBrk="1" hangingPunct="1"/>
            <a:r>
              <a:rPr lang="en-US" altLang="en-US" sz="1800"/>
              <a:t>so transistor-buffered V</a:t>
            </a:r>
            <a:r>
              <a:rPr lang="en-US" altLang="en-US" sz="1800" baseline="-25000"/>
              <a:t>reg</a:t>
            </a:r>
            <a:r>
              <a:rPr lang="en-US" altLang="en-US" sz="1800"/>
              <a:t> comes out to 5.0, 9.0, etc.</a:t>
            </a:r>
          </a:p>
          <a:p>
            <a:pPr eaLnBrk="1" hangingPunct="1"/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lang="en-US" altLang="en-US" sz="2000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z </a:t>
            </a:r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varies less in this arrangement, so the regulated voltage is steadier</a:t>
            </a:r>
          </a:p>
        </p:txBody>
      </p:sp>
      <p:grpSp>
        <p:nvGrpSpPr>
          <p:cNvPr id="62471" name="Group 53">
            <a:extLst>
              <a:ext uri="{FF2B5EF4-FFF2-40B4-BE49-F238E27FC236}">
                <a16:creationId xmlns:a16="http://schemas.microsoft.com/office/drawing/2014/main" id="{77337F81-594D-2A2B-C485-34D79E10E473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2286000"/>
            <a:ext cx="1979613" cy="2667000"/>
            <a:chOff x="3792" y="1440"/>
            <a:chExt cx="1247" cy="1680"/>
          </a:xfrm>
        </p:grpSpPr>
        <p:grpSp>
          <p:nvGrpSpPr>
            <p:cNvPr id="62472" name="Group 6">
              <a:extLst>
                <a:ext uri="{FF2B5EF4-FFF2-40B4-BE49-F238E27FC236}">
                  <a16:creationId xmlns:a16="http://schemas.microsoft.com/office/drawing/2014/main" id="{BA204615-5F8E-C0C0-F062-F1F5B77602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92" y="1968"/>
              <a:ext cx="240" cy="480"/>
              <a:chOff x="2256" y="2208"/>
              <a:chExt cx="240" cy="480"/>
            </a:xfrm>
          </p:grpSpPr>
          <p:sp>
            <p:nvSpPr>
              <p:cNvPr id="62502" name="Line 7">
                <a:extLst>
                  <a:ext uri="{FF2B5EF4-FFF2-40B4-BE49-F238E27FC236}">
                    <a16:creationId xmlns:a16="http://schemas.microsoft.com/office/drawing/2014/main" id="{792860B9-F657-1283-62CA-B4629FE3DA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0" y="2352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62503" name="Line 8">
                <a:extLst>
                  <a:ext uri="{FF2B5EF4-FFF2-40B4-BE49-F238E27FC236}">
                    <a16:creationId xmlns:a16="http://schemas.microsoft.com/office/drawing/2014/main" id="{EFFF56E1-7A6E-39A0-7C8F-69994DA8BA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00" y="2304"/>
                <a:ext cx="96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62504" name="Line 9">
                <a:extLst>
                  <a:ext uri="{FF2B5EF4-FFF2-40B4-BE49-F238E27FC236}">
                    <a16:creationId xmlns:a16="http://schemas.microsoft.com/office/drawing/2014/main" id="{2F6E7E26-2DC0-DA5B-AB7A-D0B515491D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0" y="2496"/>
                <a:ext cx="96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62505" name="Line 10">
                <a:extLst>
                  <a:ext uri="{FF2B5EF4-FFF2-40B4-BE49-F238E27FC236}">
                    <a16:creationId xmlns:a16="http://schemas.microsoft.com/office/drawing/2014/main" id="{8BCAA12D-C121-06DA-E216-EA4F303345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96" y="2208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62506" name="Line 11">
                <a:extLst>
                  <a:ext uri="{FF2B5EF4-FFF2-40B4-BE49-F238E27FC236}">
                    <a16:creationId xmlns:a16="http://schemas.microsoft.com/office/drawing/2014/main" id="{36E64C93-BF96-9846-6864-566BC29E51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56" y="2448"/>
                <a:ext cx="14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62507" name="Line 12">
                <a:extLst>
                  <a:ext uri="{FF2B5EF4-FFF2-40B4-BE49-F238E27FC236}">
                    <a16:creationId xmlns:a16="http://schemas.microsoft.com/office/drawing/2014/main" id="{6E4F921A-6373-5BE1-2182-FF8C2D0995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6" y="2592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62473" name="Freeform 13">
              <a:extLst>
                <a:ext uri="{FF2B5EF4-FFF2-40B4-BE49-F238E27FC236}">
                  <a16:creationId xmlns:a16="http://schemas.microsoft.com/office/drawing/2014/main" id="{435CF9F9-DCE3-8BC4-2CAD-D96D8CBA25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4" y="2448"/>
              <a:ext cx="96" cy="480"/>
            </a:xfrm>
            <a:custGeom>
              <a:avLst/>
              <a:gdLst>
                <a:gd name="T0" fmla="*/ 48 w 96"/>
                <a:gd name="T1" fmla="*/ 0 h 480"/>
                <a:gd name="T2" fmla="*/ 48 w 96"/>
                <a:gd name="T3" fmla="*/ 96 h 480"/>
                <a:gd name="T4" fmla="*/ 96 w 96"/>
                <a:gd name="T5" fmla="*/ 144 h 480"/>
                <a:gd name="T6" fmla="*/ 0 w 96"/>
                <a:gd name="T7" fmla="*/ 192 h 480"/>
                <a:gd name="T8" fmla="*/ 96 w 96"/>
                <a:gd name="T9" fmla="*/ 240 h 480"/>
                <a:gd name="T10" fmla="*/ 0 w 96"/>
                <a:gd name="T11" fmla="*/ 288 h 480"/>
                <a:gd name="T12" fmla="*/ 96 w 96"/>
                <a:gd name="T13" fmla="*/ 336 h 480"/>
                <a:gd name="T14" fmla="*/ 0 w 96"/>
                <a:gd name="T15" fmla="*/ 384 h 480"/>
                <a:gd name="T16" fmla="*/ 48 w 96"/>
                <a:gd name="T17" fmla="*/ 432 h 480"/>
                <a:gd name="T18" fmla="*/ 48 w 96"/>
                <a:gd name="T19" fmla="*/ 480 h 48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96"/>
                <a:gd name="T31" fmla="*/ 0 h 480"/>
                <a:gd name="T32" fmla="*/ 96 w 96"/>
                <a:gd name="T33" fmla="*/ 480 h 48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96" h="480">
                  <a:moveTo>
                    <a:pt x="48" y="0"/>
                  </a:moveTo>
                  <a:lnTo>
                    <a:pt x="48" y="96"/>
                  </a:lnTo>
                  <a:lnTo>
                    <a:pt x="96" y="144"/>
                  </a:lnTo>
                  <a:lnTo>
                    <a:pt x="0" y="192"/>
                  </a:lnTo>
                  <a:lnTo>
                    <a:pt x="96" y="240"/>
                  </a:lnTo>
                  <a:lnTo>
                    <a:pt x="0" y="288"/>
                  </a:lnTo>
                  <a:lnTo>
                    <a:pt x="96" y="336"/>
                  </a:lnTo>
                  <a:lnTo>
                    <a:pt x="0" y="384"/>
                  </a:lnTo>
                  <a:lnTo>
                    <a:pt x="48" y="432"/>
                  </a:lnTo>
                  <a:lnTo>
                    <a:pt x="48" y="48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62474" name="Group 14">
              <a:extLst>
                <a:ext uri="{FF2B5EF4-FFF2-40B4-BE49-F238E27FC236}">
                  <a16:creationId xmlns:a16="http://schemas.microsoft.com/office/drawing/2014/main" id="{45FD08DB-0479-6F51-9DED-A2B57AE317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36" y="2928"/>
              <a:ext cx="192" cy="192"/>
              <a:chOff x="4032" y="1968"/>
              <a:chExt cx="192" cy="192"/>
            </a:xfrm>
          </p:grpSpPr>
          <p:sp>
            <p:nvSpPr>
              <p:cNvPr id="62498" name="Line 15">
                <a:extLst>
                  <a:ext uri="{FF2B5EF4-FFF2-40B4-BE49-F238E27FC236}">
                    <a16:creationId xmlns:a16="http://schemas.microsoft.com/office/drawing/2014/main" id="{A5804305-9690-23F6-2B81-238C4DB557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8" y="1968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62499" name="Line 16">
                <a:extLst>
                  <a:ext uri="{FF2B5EF4-FFF2-40B4-BE49-F238E27FC236}">
                    <a16:creationId xmlns:a16="http://schemas.microsoft.com/office/drawing/2014/main" id="{C738DC99-9891-2AA9-D24D-BEC311E7A8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7" y="2160"/>
                <a:ext cx="2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62500" name="Line 17">
                <a:extLst>
                  <a:ext uri="{FF2B5EF4-FFF2-40B4-BE49-F238E27FC236}">
                    <a16:creationId xmlns:a16="http://schemas.microsoft.com/office/drawing/2014/main" id="{455120A7-C4DA-BB4F-26E5-77A9A88EDB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2112"/>
                <a:ext cx="9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62501" name="Line 18">
                <a:extLst>
                  <a:ext uri="{FF2B5EF4-FFF2-40B4-BE49-F238E27FC236}">
                    <a16:creationId xmlns:a16="http://schemas.microsoft.com/office/drawing/2014/main" id="{EECBBB38-5C89-7E8D-6241-32E9FB8041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2" y="2064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62475" name="Text Box 20">
              <a:extLst>
                <a:ext uri="{FF2B5EF4-FFF2-40B4-BE49-F238E27FC236}">
                  <a16:creationId xmlns:a16="http://schemas.microsoft.com/office/drawing/2014/main" id="{12739C5A-85B4-0AEA-E775-DBBBAC708A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2332"/>
              <a:ext cx="32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</a:rPr>
                <a:t>V</a:t>
              </a:r>
              <a:r>
                <a:rPr lang="en-US" altLang="en-US" sz="1600" baseline="-25000">
                  <a:solidFill>
                    <a:srgbClr val="000000"/>
                  </a:solidFill>
                </a:rPr>
                <a:t>reg</a:t>
              </a:r>
              <a:endParaRPr lang="en-US" altLang="en-US" sz="1600">
                <a:solidFill>
                  <a:srgbClr val="000000"/>
                </a:solidFill>
              </a:endParaRPr>
            </a:p>
          </p:txBody>
        </p:sp>
        <p:sp>
          <p:nvSpPr>
            <p:cNvPr id="62476" name="Text Box 21">
              <a:extLst>
                <a:ext uri="{FF2B5EF4-FFF2-40B4-BE49-F238E27FC236}">
                  <a16:creationId xmlns:a16="http://schemas.microsoft.com/office/drawing/2014/main" id="{0615666F-4C4F-3E5A-14A2-331D8033E7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4" y="2572"/>
              <a:ext cx="37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</a:rPr>
                <a:t>R</a:t>
              </a:r>
              <a:r>
                <a:rPr lang="en-US" altLang="en-US" sz="1600" baseline="-25000">
                  <a:solidFill>
                    <a:srgbClr val="000000"/>
                  </a:solidFill>
                </a:rPr>
                <a:t>load</a:t>
              </a:r>
              <a:endParaRPr lang="en-US" altLang="en-US" sz="1600">
                <a:solidFill>
                  <a:srgbClr val="000000"/>
                </a:solidFill>
              </a:endParaRPr>
            </a:p>
          </p:txBody>
        </p:sp>
        <p:sp>
          <p:nvSpPr>
            <p:cNvPr id="62477" name="Text Box 22">
              <a:extLst>
                <a:ext uri="{FF2B5EF4-FFF2-40B4-BE49-F238E27FC236}">
                  <a16:creationId xmlns:a16="http://schemas.microsoft.com/office/drawing/2014/main" id="{288C459F-1B84-16B2-94E4-BBE1CD7834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2092"/>
              <a:ext cx="24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</a:rPr>
                <a:t>V</a:t>
              </a:r>
              <a:r>
                <a:rPr lang="en-US" altLang="en-US" sz="1600" baseline="-25000">
                  <a:solidFill>
                    <a:srgbClr val="000000"/>
                  </a:solidFill>
                </a:rPr>
                <a:t>z</a:t>
              </a:r>
              <a:endParaRPr lang="en-US" altLang="en-US" sz="1600">
                <a:solidFill>
                  <a:srgbClr val="000000"/>
                </a:solidFill>
              </a:endParaRPr>
            </a:p>
          </p:txBody>
        </p:sp>
        <p:sp>
          <p:nvSpPr>
            <p:cNvPr id="62478" name="Text Box 23">
              <a:extLst>
                <a:ext uri="{FF2B5EF4-FFF2-40B4-BE49-F238E27FC236}">
                  <a16:creationId xmlns:a16="http://schemas.microsoft.com/office/drawing/2014/main" id="{6F3DB2F8-29F6-B349-CF23-75B3510245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1440"/>
              <a:ext cx="2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</a:rPr>
                <a:t>V</a:t>
              </a:r>
              <a:r>
                <a:rPr lang="en-US" altLang="en-US" sz="1600" baseline="-25000">
                  <a:solidFill>
                    <a:srgbClr val="000000"/>
                  </a:solidFill>
                </a:rPr>
                <a:t>in</a:t>
              </a:r>
              <a:endParaRPr lang="en-US" altLang="en-US" sz="1600">
                <a:solidFill>
                  <a:srgbClr val="000000"/>
                </a:solidFill>
              </a:endParaRPr>
            </a:p>
          </p:txBody>
        </p:sp>
        <p:sp>
          <p:nvSpPr>
            <p:cNvPr id="62479" name="Line 24">
              <a:extLst>
                <a:ext uri="{FF2B5EF4-FFF2-40B4-BE49-F238E27FC236}">
                  <a16:creationId xmlns:a16="http://schemas.microsoft.com/office/drawing/2014/main" id="{5BF5FA8F-8203-A6AB-CCEB-0310C53EB8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56" y="2208"/>
              <a:ext cx="3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2480" name="Freeform 26">
              <a:extLst>
                <a:ext uri="{FF2B5EF4-FFF2-40B4-BE49-F238E27FC236}">
                  <a16:creationId xmlns:a16="http://schemas.microsoft.com/office/drawing/2014/main" id="{F181F7B6-5AF7-5E37-5D01-CAAF5B93B2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8" y="1632"/>
              <a:ext cx="96" cy="480"/>
            </a:xfrm>
            <a:custGeom>
              <a:avLst/>
              <a:gdLst>
                <a:gd name="T0" fmla="*/ 48 w 96"/>
                <a:gd name="T1" fmla="*/ 0 h 480"/>
                <a:gd name="T2" fmla="*/ 48 w 96"/>
                <a:gd name="T3" fmla="*/ 96 h 480"/>
                <a:gd name="T4" fmla="*/ 96 w 96"/>
                <a:gd name="T5" fmla="*/ 144 h 480"/>
                <a:gd name="T6" fmla="*/ 0 w 96"/>
                <a:gd name="T7" fmla="*/ 192 h 480"/>
                <a:gd name="T8" fmla="*/ 96 w 96"/>
                <a:gd name="T9" fmla="*/ 240 h 480"/>
                <a:gd name="T10" fmla="*/ 0 w 96"/>
                <a:gd name="T11" fmla="*/ 288 h 480"/>
                <a:gd name="T12" fmla="*/ 96 w 96"/>
                <a:gd name="T13" fmla="*/ 336 h 480"/>
                <a:gd name="T14" fmla="*/ 0 w 96"/>
                <a:gd name="T15" fmla="*/ 384 h 480"/>
                <a:gd name="T16" fmla="*/ 48 w 96"/>
                <a:gd name="T17" fmla="*/ 432 h 480"/>
                <a:gd name="T18" fmla="*/ 48 w 96"/>
                <a:gd name="T19" fmla="*/ 480 h 48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96"/>
                <a:gd name="T31" fmla="*/ 0 h 480"/>
                <a:gd name="T32" fmla="*/ 96 w 96"/>
                <a:gd name="T33" fmla="*/ 480 h 48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96" h="480">
                  <a:moveTo>
                    <a:pt x="48" y="0"/>
                  </a:moveTo>
                  <a:lnTo>
                    <a:pt x="48" y="96"/>
                  </a:lnTo>
                  <a:lnTo>
                    <a:pt x="96" y="144"/>
                  </a:lnTo>
                  <a:lnTo>
                    <a:pt x="0" y="192"/>
                  </a:lnTo>
                  <a:lnTo>
                    <a:pt x="96" y="240"/>
                  </a:lnTo>
                  <a:lnTo>
                    <a:pt x="0" y="288"/>
                  </a:lnTo>
                  <a:lnTo>
                    <a:pt x="96" y="336"/>
                  </a:lnTo>
                  <a:lnTo>
                    <a:pt x="0" y="384"/>
                  </a:lnTo>
                  <a:lnTo>
                    <a:pt x="48" y="432"/>
                  </a:lnTo>
                  <a:lnTo>
                    <a:pt x="48" y="48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2481" name="Line 27">
              <a:extLst>
                <a:ext uri="{FF2B5EF4-FFF2-40B4-BE49-F238E27FC236}">
                  <a16:creationId xmlns:a16="http://schemas.microsoft.com/office/drawing/2014/main" id="{E7CB5A1D-E395-BF2D-74CC-9ED9472EA1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6" y="2112"/>
              <a:ext cx="0" cy="2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62482" name="Oval 29">
              <a:extLst>
                <a:ext uri="{FF2B5EF4-FFF2-40B4-BE49-F238E27FC236}">
                  <a16:creationId xmlns:a16="http://schemas.microsoft.com/office/drawing/2014/main" id="{15AAC383-7655-BCAF-4930-24FE8E6E95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6" y="2193"/>
              <a:ext cx="23" cy="2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62483" name="Group 30">
              <a:extLst>
                <a:ext uri="{FF2B5EF4-FFF2-40B4-BE49-F238E27FC236}">
                  <a16:creationId xmlns:a16="http://schemas.microsoft.com/office/drawing/2014/main" id="{602B1B6C-40FC-AA59-7EA2-5E721DD68F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60" y="2880"/>
              <a:ext cx="192" cy="192"/>
              <a:chOff x="4032" y="1968"/>
              <a:chExt cx="192" cy="192"/>
            </a:xfrm>
          </p:grpSpPr>
          <p:sp>
            <p:nvSpPr>
              <p:cNvPr id="62494" name="Line 31">
                <a:extLst>
                  <a:ext uri="{FF2B5EF4-FFF2-40B4-BE49-F238E27FC236}">
                    <a16:creationId xmlns:a16="http://schemas.microsoft.com/office/drawing/2014/main" id="{B835212D-8ED8-F6A7-D576-E5EC37BD9A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8" y="1968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62495" name="Line 32">
                <a:extLst>
                  <a:ext uri="{FF2B5EF4-FFF2-40B4-BE49-F238E27FC236}">
                    <a16:creationId xmlns:a16="http://schemas.microsoft.com/office/drawing/2014/main" id="{9F3B7F50-A607-4764-BEF3-CDFE7610DC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7" y="2160"/>
                <a:ext cx="2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62496" name="Line 33">
                <a:extLst>
                  <a:ext uri="{FF2B5EF4-FFF2-40B4-BE49-F238E27FC236}">
                    <a16:creationId xmlns:a16="http://schemas.microsoft.com/office/drawing/2014/main" id="{4F88C214-B9D8-73FC-3AD5-E5AE2EF5DF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2112"/>
                <a:ext cx="9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62497" name="Line 34">
                <a:extLst>
                  <a:ext uri="{FF2B5EF4-FFF2-40B4-BE49-F238E27FC236}">
                    <a16:creationId xmlns:a16="http://schemas.microsoft.com/office/drawing/2014/main" id="{4E387E1B-582F-DB96-8FBD-F4A337D52F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2" y="2064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62484" name="Text Box 35">
              <a:extLst>
                <a:ext uri="{FF2B5EF4-FFF2-40B4-BE49-F238E27FC236}">
                  <a16:creationId xmlns:a16="http://schemas.microsoft.com/office/drawing/2014/main" id="{95BC57BE-DC27-C498-47D8-39EF8CD503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9" y="1755"/>
              <a:ext cx="2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 i="1">
                  <a:solidFill>
                    <a:srgbClr val="000000"/>
                  </a:solidFill>
                </a:rPr>
                <a:t>R</a:t>
              </a:r>
              <a:r>
                <a:rPr lang="en-US" altLang="en-US" sz="1800" baseline="-25000">
                  <a:solidFill>
                    <a:srgbClr val="000000"/>
                  </a:solidFill>
                </a:rPr>
                <a:t>z</a:t>
              </a:r>
              <a:endParaRPr lang="en-US" altLang="en-US" sz="1800"/>
            </a:p>
          </p:txBody>
        </p:sp>
        <p:sp>
          <p:nvSpPr>
            <p:cNvPr id="62485" name="Text Box 36">
              <a:extLst>
                <a:ext uri="{FF2B5EF4-FFF2-40B4-BE49-F238E27FC236}">
                  <a16:creationId xmlns:a16="http://schemas.microsoft.com/office/drawing/2014/main" id="{64EB0E22-B8CF-05CC-2956-DBE7D417DC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0" y="2448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 i="1">
                  <a:solidFill>
                    <a:srgbClr val="000000"/>
                  </a:solidFill>
                </a:rPr>
                <a:t>Z</a:t>
              </a:r>
              <a:endParaRPr lang="en-US" altLang="en-US" sz="1800"/>
            </a:p>
          </p:txBody>
        </p:sp>
        <p:sp>
          <p:nvSpPr>
            <p:cNvPr id="62486" name="Text Box 37">
              <a:extLst>
                <a:ext uri="{FF2B5EF4-FFF2-40B4-BE49-F238E27FC236}">
                  <a16:creationId xmlns:a16="http://schemas.microsoft.com/office/drawing/2014/main" id="{F675BDFB-09EC-C7C2-B147-9D5594BBF5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0" y="1440"/>
              <a:ext cx="28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 i="1">
                  <a:solidFill>
                    <a:srgbClr val="000000"/>
                  </a:solidFill>
                </a:rPr>
                <a:t>V</a:t>
              </a:r>
              <a:r>
                <a:rPr lang="en-US" altLang="en-US" sz="1800" baseline="-25000">
                  <a:solidFill>
                    <a:srgbClr val="000000"/>
                  </a:solidFill>
                </a:rPr>
                <a:t>in</a:t>
              </a:r>
              <a:endParaRPr lang="en-US" altLang="en-US" sz="1800"/>
            </a:p>
          </p:txBody>
        </p:sp>
        <p:grpSp>
          <p:nvGrpSpPr>
            <p:cNvPr id="62487" name="Group 46">
              <a:extLst>
                <a:ext uri="{FF2B5EF4-FFF2-40B4-BE49-F238E27FC236}">
                  <a16:creationId xmlns:a16="http://schemas.microsoft.com/office/drawing/2014/main" id="{6162F1B3-5D8D-22B9-307D-2F3528ACB960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3672" y="2424"/>
              <a:ext cx="768" cy="240"/>
              <a:chOff x="2304" y="2592"/>
              <a:chExt cx="768" cy="240"/>
            </a:xfrm>
          </p:grpSpPr>
          <p:sp>
            <p:nvSpPr>
              <p:cNvPr id="62489" name="Line 47">
                <a:extLst>
                  <a:ext uri="{FF2B5EF4-FFF2-40B4-BE49-F238E27FC236}">
                    <a16:creationId xmlns:a16="http://schemas.microsoft.com/office/drawing/2014/main" id="{7CCFD213-E802-53DB-2792-F98D48F95B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2688" y="2328"/>
                <a:ext cx="0" cy="76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62490" name="AutoShape 48">
                <a:extLst>
                  <a:ext uri="{FF2B5EF4-FFF2-40B4-BE49-F238E27FC236}">
                    <a16:creationId xmlns:a16="http://schemas.microsoft.com/office/drawing/2014/main" id="{169F9D8D-4A8F-76EC-2A36-33FA3211B7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V="1">
                <a:off x="2616" y="2664"/>
                <a:ext cx="144" cy="96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 w="317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2491" name="Line 49">
                <a:extLst>
                  <a:ext uri="{FF2B5EF4-FFF2-40B4-BE49-F238E27FC236}">
                    <a16:creationId xmlns:a16="http://schemas.microsoft.com/office/drawing/2014/main" id="{5C50631A-0A00-410C-18EA-3CCDCD2D1D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2663" y="2711"/>
                <a:ext cx="144" cy="0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62492" name="Line 50">
                <a:extLst>
                  <a:ext uri="{FF2B5EF4-FFF2-40B4-BE49-F238E27FC236}">
                    <a16:creationId xmlns:a16="http://schemas.microsoft.com/office/drawing/2014/main" id="{63811BE3-8CCA-1102-2BC4-BC323EAB28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688" y="2592"/>
                <a:ext cx="48" cy="48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62493" name="Line 51">
                <a:extLst>
                  <a:ext uri="{FF2B5EF4-FFF2-40B4-BE49-F238E27FC236}">
                    <a16:creationId xmlns:a16="http://schemas.microsoft.com/office/drawing/2014/main" id="{D714E5A8-578C-8C36-E44A-1AE861405B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736" y="2784"/>
                <a:ext cx="48" cy="48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sp>
          <p:nvSpPr>
            <p:cNvPr id="62488" name="Line 52">
              <a:extLst>
                <a:ext uri="{FF2B5EF4-FFF2-40B4-BE49-F238E27FC236}">
                  <a16:creationId xmlns:a16="http://schemas.microsoft.com/office/drawing/2014/main" id="{F0072299-EEF4-3F1B-B407-0C536A9F51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29" y="1680"/>
              <a:ext cx="0" cy="2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Date Placeholder 3">
            <a:extLst>
              <a:ext uri="{FF2B5EF4-FFF2-40B4-BE49-F238E27FC236}">
                <a16:creationId xmlns:a16="http://schemas.microsoft.com/office/drawing/2014/main" id="{0A4E1FF8-3426-2D72-6963-7689F879BE8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Winter 2012</a:t>
            </a:r>
          </a:p>
        </p:txBody>
      </p:sp>
      <p:sp>
        <p:nvSpPr>
          <p:cNvPr id="64515" name="Footer Placeholder 4">
            <a:extLst>
              <a:ext uri="{FF2B5EF4-FFF2-40B4-BE49-F238E27FC236}">
                <a16:creationId xmlns:a16="http://schemas.microsoft.com/office/drawing/2014/main" id="{5BB91560-4A2D-F9EB-17ED-2B573FBF3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UCSD: Physics 121; 2012</a:t>
            </a:r>
          </a:p>
        </p:txBody>
      </p:sp>
      <p:sp>
        <p:nvSpPr>
          <p:cNvPr id="64516" name="Slide Number Placeholder 5">
            <a:extLst>
              <a:ext uri="{FF2B5EF4-FFF2-40B4-BE49-F238E27FC236}">
                <a16:creationId xmlns:a16="http://schemas.microsoft.com/office/drawing/2014/main" id="{945EC9A3-6761-12C5-2B5E-28EA56201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5E5A060-F858-48B1-BC5A-071E85C4DB59}" type="slidenum">
              <a:rPr lang="en-US" altLang="en-US" sz="1400"/>
              <a:pPr/>
              <a:t>24</a:t>
            </a:fld>
            <a:endParaRPr lang="en-US" altLang="en-US" sz="1400"/>
          </a:p>
        </p:txBody>
      </p:sp>
      <p:sp>
        <p:nvSpPr>
          <p:cNvPr id="183298" name="Rectangle 2">
            <a:extLst>
              <a:ext uri="{FF2B5EF4-FFF2-40B4-BE49-F238E27FC236}">
                <a16:creationId xmlns:a16="http://schemas.microsoft.com/office/drawing/2014/main" id="{DF60D2B5-A736-1C18-0DCB-BC07618849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Switching Power Supplies</a:t>
            </a:r>
          </a:p>
        </p:txBody>
      </p:sp>
      <p:sp>
        <p:nvSpPr>
          <p:cNvPr id="183299" name="Rectangle 3">
            <a:extLst>
              <a:ext uri="{FF2B5EF4-FFF2-40B4-BE49-F238E27FC236}">
                <a16:creationId xmlns:a16="http://schemas.microsoft.com/office/drawing/2014/main" id="{BC7025A5-9C0A-8B39-C313-C2D39AEE7A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5638800" cy="5029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/>
              <a:t>Power supplies without transformers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/>
              <a:t>lightweight; low cost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/>
              <a:t>can be electromagnetically noisy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/>
              <a:t>Use a </a:t>
            </a:r>
            <a:r>
              <a:rPr lang="en-US">
                <a:solidFill>
                  <a:schemeClr val="folHlink"/>
                </a:solidFill>
              </a:rPr>
              <a:t>DC-to-DC conversion</a:t>
            </a:r>
            <a:r>
              <a:rPr lang="en-US"/>
              <a:t> process that relies on flipping a switch on and off, storing energy in an inductor and capacitor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/>
              <a:t>regulators were DC-to-DC converters too, but lossy: lose </a:t>
            </a:r>
            <a:r>
              <a:rPr lang="en-US" i="1">
                <a:sym typeface="Symbol" charset="2"/>
              </a:rPr>
              <a:t>P = IV</a:t>
            </a:r>
            <a:r>
              <a:rPr lang="en-US">
                <a:sym typeface="Symbol" charset="2"/>
              </a:rPr>
              <a:t> of power for voltage drop of </a:t>
            </a:r>
            <a:r>
              <a:rPr lang="en-US" i="1">
                <a:sym typeface="Symbol" charset="2"/>
              </a:rPr>
              <a:t>V</a:t>
            </a:r>
            <a:r>
              <a:rPr lang="en-US">
                <a:sym typeface="Symbol" charset="2"/>
              </a:rPr>
              <a:t> at current </a:t>
            </a:r>
            <a:r>
              <a:rPr lang="en-US" i="1">
                <a:sym typeface="Symbol" charset="2"/>
              </a:rPr>
              <a:t>I</a:t>
            </a:r>
            <a:endParaRPr lang="en-US">
              <a:sym typeface="Symbol" charset="2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>
                <a:sym typeface="Symbol" charset="2"/>
              </a:rPr>
              <a:t>regulators only down-convert, but switchers can also up-convert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>
                <a:sym typeface="Symbol" charset="2"/>
              </a:rPr>
              <a:t>switchers are reasonably efficient at conversion</a:t>
            </a:r>
            <a:r>
              <a:rPr lang="en-US"/>
              <a:t> </a:t>
            </a:r>
          </a:p>
        </p:txBody>
      </p:sp>
      <p:pic>
        <p:nvPicPr>
          <p:cNvPr id="64519" name="Picture 4" descr="switching_PS">
            <a:extLst>
              <a:ext uri="{FF2B5EF4-FFF2-40B4-BE49-F238E27FC236}">
                <a16:creationId xmlns:a16="http://schemas.microsoft.com/office/drawing/2014/main" id="{857999FD-277C-4051-B036-F1E1A7BABF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2813" y="1066800"/>
            <a:ext cx="3227387" cy="322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Date Placeholder 2">
            <a:extLst>
              <a:ext uri="{FF2B5EF4-FFF2-40B4-BE49-F238E27FC236}">
                <a16:creationId xmlns:a16="http://schemas.microsoft.com/office/drawing/2014/main" id="{F1773E46-7F89-BCA1-0C33-D3E188797FC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Winter 2012</a:t>
            </a:r>
          </a:p>
        </p:txBody>
      </p:sp>
      <p:sp>
        <p:nvSpPr>
          <p:cNvPr id="66563" name="Footer Placeholder 3">
            <a:extLst>
              <a:ext uri="{FF2B5EF4-FFF2-40B4-BE49-F238E27FC236}">
                <a16:creationId xmlns:a16="http://schemas.microsoft.com/office/drawing/2014/main" id="{07FFE1AB-A9BC-A27A-7C00-D5C37B483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UCSD: Physics 121; 2012</a:t>
            </a:r>
          </a:p>
        </p:txBody>
      </p:sp>
      <p:sp>
        <p:nvSpPr>
          <p:cNvPr id="66564" name="Slide Number Placeholder 4">
            <a:extLst>
              <a:ext uri="{FF2B5EF4-FFF2-40B4-BE49-F238E27FC236}">
                <a16:creationId xmlns:a16="http://schemas.microsoft.com/office/drawing/2014/main" id="{388B05FC-003E-E547-1C59-624891320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53E98E6-0882-4ACB-B320-D34B6958482E}" type="slidenum">
              <a:rPr lang="en-US" altLang="en-US" sz="1400"/>
              <a:pPr/>
              <a:t>25</a:t>
            </a:fld>
            <a:endParaRPr lang="en-US" altLang="en-US" sz="1400"/>
          </a:p>
        </p:txBody>
      </p:sp>
      <p:sp>
        <p:nvSpPr>
          <p:cNvPr id="185346" name="Rectangle 2">
            <a:extLst>
              <a:ext uri="{FF2B5EF4-FFF2-40B4-BE49-F238E27FC236}">
                <a16:creationId xmlns:a16="http://schemas.microsoft.com/office/drawing/2014/main" id="{D98EDADB-68BB-F136-7B89-2D6B115F2D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Switcher topologies</a:t>
            </a:r>
          </a:p>
        </p:txBody>
      </p:sp>
      <p:sp>
        <p:nvSpPr>
          <p:cNvPr id="66566" name="Text Box 3">
            <a:extLst>
              <a:ext uri="{FF2B5EF4-FFF2-40B4-BE49-F238E27FC236}">
                <a16:creationId xmlns:a16="http://schemas.microsoft.com/office/drawing/2014/main" id="{8AE42B48-0D17-5F14-B82D-E852AF00BC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6215063"/>
            <a:ext cx="71088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solidFill>
                  <a:schemeClr val="accent2"/>
                </a:solidFill>
              </a:rPr>
              <a:t>from: http://www.maxim-ic.com/appnotes.cfm/appnote_number/4087</a:t>
            </a:r>
          </a:p>
        </p:txBody>
      </p:sp>
      <p:pic>
        <p:nvPicPr>
          <p:cNvPr id="66567" name="Picture 4" descr="switch_topologies">
            <a:extLst>
              <a:ext uri="{FF2B5EF4-FFF2-40B4-BE49-F238E27FC236}">
                <a16:creationId xmlns:a16="http://schemas.microsoft.com/office/drawing/2014/main" id="{3A7C3299-4F3E-E19A-0F9C-05B5EB49CE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90600"/>
            <a:ext cx="8235950" cy="447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8" name="Text Box 5">
            <a:extLst>
              <a:ext uri="{FF2B5EF4-FFF2-40B4-BE49-F238E27FC236}">
                <a16:creationId xmlns:a16="http://schemas.microsoft.com/office/drawing/2014/main" id="{3754FD84-45CE-93A3-CB84-34E8C774E1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25" y="5453063"/>
            <a:ext cx="81629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The FET switch is turned off or on in a pulse-width-modulation (PWM) scheme,</a:t>
            </a:r>
          </a:p>
          <a:p>
            <a:pPr algn="ctr"/>
            <a:r>
              <a:rPr lang="en-US" altLang="en-US" sz="1800"/>
              <a:t>the duty cycle of which determines the ratio of </a:t>
            </a:r>
            <a:r>
              <a:rPr lang="en-US" altLang="en-US" sz="1800" i="1"/>
              <a:t>V</a:t>
            </a:r>
            <a:r>
              <a:rPr lang="en-US" altLang="en-US" sz="1800" baseline="-25000"/>
              <a:t>out</a:t>
            </a:r>
            <a:r>
              <a:rPr lang="en-US" altLang="en-US" sz="1800"/>
              <a:t> to </a:t>
            </a:r>
            <a:r>
              <a:rPr lang="en-US" altLang="en-US" sz="1800" i="1"/>
              <a:t>V</a:t>
            </a:r>
            <a:r>
              <a:rPr lang="en-US" altLang="en-US" sz="1800" baseline="-25000"/>
              <a:t>in</a:t>
            </a:r>
            <a:endParaRPr lang="en-US" altLang="en-US" sz="1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Date Placeholder 3">
            <a:extLst>
              <a:ext uri="{FF2B5EF4-FFF2-40B4-BE49-F238E27FC236}">
                <a16:creationId xmlns:a16="http://schemas.microsoft.com/office/drawing/2014/main" id="{ADB3FC8A-CB82-433F-E865-FF0B5CC5FAE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Winter 2012</a:t>
            </a:r>
          </a:p>
        </p:txBody>
      </p:sp>
      <p:sp>
        <p:nvSpPr>
          <p:cNvPr id="68611" name="Footer Placeholder 4">
            <a:extLst>
              <a:ext uri="{FF2B5EF4-FFF2-40B4-BE49-F238E27FC236}">
                <a16:creationId xmlns:a16="http://schemas.microsoft.com/office/drawing/2014/main" id="{AEAA71CB-3D29-B455-D32C-FE961D400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UCSD: Physics 121; 2012</a:t>
            </a:r>
          </a:p>
        </p:txBody>
      </p:sp>
      <p:sp>
        <p:nvSpPr>
          <p:cNvPr id="68612" name="Slide Number Placeholder 5">
            <a:extLst>
              <a:ext uri="{FF2B5EF4-FFF2-40B4-BE49-F238E27FC236}">
                <a16:creationId xmlns:a16="http://schemas.microsoft.com/office/drawing/2014/main" id="{D8C25CDB-EBF7-1AEC-E863-0AD589320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9D5FBE1-8962-443F-9E2D-F28B414F2442}" type="slidenum">
              <a:rPr lang="en-US" altLang="en-US" sz="1400"/>
              <a:pPr/>
              <a:t>26</a:t>
            </a:fld>
            <a:endParaRPr lang="en-US" altLang="en-US" sz="1400"/>
          </a:p>
        </p:txBody>
      </p:sp>
      <p:sp>
        <p:nvSpPr>
          <p:cNvPr id="186370" name="Rectangle 2">
            <a:extLst>
              <a:ext uri="{FF2B5EF4-FFF2-40B4-BE49-F238E27FC236}">
                <a16:creationId xmlns:a16="http://schemas.microsoft.com/office/drawing/2014/main" id="{4F6B4FA3-FAF2-78BD-9B1A-A576C16C4D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Step-Down Calculations</a:t>
            </a:r>
          </a:p>
        </p:txBody>
      </p:sp>
      <p:sp>
        <p:nvSpPr>
          <p:cNvPr id="186371" name="Rectangle 3">
            <a:extLst>
              <a:ext uri="{FF2B5EF4-FFF2-40B4-BE49-F238E27FC236}">
                <a16:creationId xmlns:a16="http://schemas.microsoft.com/office/drawing/2014/main" id="{3F774067-3D0F-9BA2-688D-7D7F3DCC86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If the FET is on for duty cycle, </a:t>
            </a:r>
            <a:r>
              <a:rPr lang="en-US" altLang="en-US" i="1">
                <a:effectLst>
                  <a:outerShdw blurRad="38100" dist="38100" dir="2700000" algn="tl">
                    <a:srgbClr val="C0C0C0"/>
                  </a:outerShdw>
                </a:effectLst>
              </a:rPr>
              <a:t>D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(fraction of time on), and the period is </a:t>
            </a:r>
            <a:r>
              <a:rPr lang="en-US" altLang="en-US" i="1">
                <a:effectLst>
                  <a:outerShdw blurRad="38100" dist="38100" dir="2700000" algn="tl">
                    <a:srgbClr val="C0C0C0"/>
                  </a:outerShdw>
                </a:effectLst>
              </a:rPr>
              <a:t>T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:</a:t>
            </a:r>
          </a:p>
          <a:p>
            <a:pPr lvl="1" eaLnBrk="1" hangingPunct="1"/>
            <a:r>
              <a:rPr lang="en-US" altLang="en-US"/>
              <a:t>the average output voltage is </a:t>
            </a:r>
            <a:r>
              <a:rPr lang="en-US" altLang="en-US" i="1"/>
              <a:t>V</a:t>
            </a:r>
            <a:r>
              <a:rPr lang="en-US" altLang="en-US" baseline="-25000"/>
              <a:t>out</a:t>
            </a:r>
            <a:r>
              <a:rPr lang="en-US" altLang="en-US"/>
              <a:t> = </a:t>
            </a:r>
            <a:r>
              <a:rPr lang="en-US" altLang="en-US" i="1"/>
              <a:t>DV</a:t>
            </a:r>
            <a:r>
              <a:rPr lang="en-US" altLang="en-US" baseline="-25000"/>
              <a:t>in</a:t>
            </a:r>
            <a:endParaRPr lang="en-US" altLang="en-US"/>
          </a:p>
          <a:p>
            <a:pPr lvl="1" eaLnBrk="1" hangingPunct="1"/>
            <a:r>
              <a:rPr lang="en-US" altLang="en-US"/>
              <a:t>the average current through the capacitor is zero, the average current through the load (and inductor) is 1/</a:t>
            </a:r>
            <a:r>
              <a:rPr lang="en-US" altLang="en-US" i="1"/>
              <a:t>D</a:t>
            </a:r>
            <a:r>
              <a:rPr lang="en-US" altLang="en-US"/>
              <a:t> times the input current</a:t>
            </a:r>
          </a:p>
          <a:p>
            <a:pPr lvl="1" eaLnBrk="1" hangingPunct="1"/>
            <a:r>
              <a:rPr lang="en-US" altLang="en-US"/>
              <a:t>under these idealizations, power in = power out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Date Placeholder 4">
            <a:extLst>
              <a:ext uri="{FF2B5EF4-FFF2-40B4-BE49-F238E27FC236}">
                <a16:creationId xmlns:a16="http://schemas.microsoft.com/office/drawing/2014/main" id="{C9A61790-309A-EE32-9129-5130D44398A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Winter 2012</a:t>
            </a:r>
          </a:p>
        </p:txBody>
      </p:sp>
      <p:sp>
        <p:nvSpPr>
          <p:cNvPr id="70659" name="Footer Placeholder 5">
            <a:extLst>
              <a:ext uri="{FF2B5EF4-FFF2-40B4-BE49-F238E27FC236}">
                <a16:creationId xmlns:a16="http://schemas.microsoft.com/office/drawing/2014/main" id="{27FEF65F-CE5F-0923-1DF7-766E89F65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UCSD: Physics 121; 2012</a:t>
            </a:r>
          </a:p>
        </p:txBody>
      </p:sp>
      <p:sp>
        <p:nvSpPr>
          <p:cNvPr id="70660" name="Slide Number Placeholder 6">
            <a:extLst>
              <a:ext uri="{FF2B5EF4-FFF2-40B4-BE49-F238E27FC236}">
                <a16:creationId xmlns:a16="http://schemas.microsoft.com/office/drawing/2014/main" id="{015339D7-A911-541C-BCF2-574AE37EE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A1B5E29-4625-4FAB-8382-FC15AB9D0187}" type="slidenum">
              <a:rPr lang="en-US" altLang="en-US" sz="1400"/>
              <a:pPr/>
              <a:t>27</a:t>
            </a:fld>
            <a:endParaRPr lang="en-US" altLang="en-US" sz="1400"/>
          </a:p>
        </p:txBody>
      </p:sp>
      <p:sp>
        <p:nvSpPr>
          <p:cNvPr id="187394" name="Rectangle 2">
            <a:extLst>
              <a:ext uri="{FF2B5EF4-FFF2-40B4-BE49-F238E27FC236}">
                <a16:creationId xmlns:a16="http://schemas.microsoft.com/office/drawing/2014/main" id="{90A749EF-BB68-37C1-6DB1-91F6F4747A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Step-down waveforms</a:t>
            </a:r>
          </a:p>
        </p:txBody>
      </p:sp>
      <p:sp>
        <p:nvSpPr>
          <p:cNvPr id="187395" name="Rectangle 3">
            <a:extLst>
              <a:ext uri="{FF2B5EF4-FFF2-40B4-BE49-F238E27FC236}">
                <a16:creationId xmlns:a16="http://schemas.microsoft.com/office/drawing/2014/main" id="{65558C0A-E2F0-BBC9-5EC8-D1DDF4F65B6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219200"/>
            <a:ext cx="3962400" cy="5029200"/>
          </a:xfrm>
        </p:spPr>
        <p:txBody>
          <a:bodyPr/>
          <a:lstStyle/>
          <a:p>
            <a:pPr eaLnBrk="1" hangingPunct="1"/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Shown here is an example of the step-down with the FET duty cycle around 75%</a:t>
            </a:r>
          </a:p>
          <a:p>
            <a:pPr eaLnBrk="1" hangingPunct="1"/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The average inductor current (dashed) is the current delivered to the load</a:t>
            </a:r>
          </a:p>
          <a:p>
            <a:pPr lvl="1" eaLnBrk="1" hangingPunct="1"/>
            <a:r>
              <a:rPr lang="en-US" altLang="en-US" sz="1800"/>
              <a:t>the balance goes to the capacitor</a:t>
            </a:r>
          </a:p>
          <a:p>
            <a:pPr eaLnBrk="1" hangingPunct="1"/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The ripple (parabolic sections) has peak-to-peak </a:t>
            </a:r>
            <a:r>
              <a:rPr lang="en-US" altLang="en-US" sz="2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fractional</a:t>
            </a:r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 amplitude of </a:t>
            </a:r>
            <a:r>
              <a:rPr lang="en-US" altLang="en-US" sz="2000" i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</a:t>
            </a:r>
            <a:r>
              <a:rPr lang="en-US" altLang="en-US" sz="2000" baseline="300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altLang="en-US" sz="20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(1</a:t>
            </a:r>
            <a:r>
              <a:rPr lang="en-US" altLang="en-US" sz="20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</a:t>
            </a:r>
            <a:r>
              <a:rPr lang="en-US" altLang="en-US" sz="2000" i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D</a:t>
            </a:r>
            <a:r>
              <a:rPr lang="en-US" altLang="en-US" sz="20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)/(8</a:t>
            </a:r>
            <a:r>
              <a:rPr lang="en-US" altLang="en-US" sz="2000" i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LC</a:t>
            </a:r>
            <a:r>
              <a:rPr lang="en-US" altLang="en-US" sz="20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)</a:t>
            </a:r>
            <a:endParaRPr lang="en-US" altLang="en-US" sz="2000">
              <a:effectLst>
                <a:outerShdw blurRad="38100" dist="38100" dir="2700000" algn="tl">
                  <a:srgbClr val="C0C0C0"/>
                </a:outerShdw>
              </a:effectLst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en-US" sz="1800"/>
              <a:t>so win by small T, large L &amp; C</a:t>
            </a:r>
          </a:p>
          <a:p>
            <a:pPr lvl="1" eaLnBrk="1" hangingPunct="1"/>
            <a:r>
              <a:rPr lang="en-US" altLang="en-US" sz="1800"/>
              <a:t>10 kHz at 1 mH, 1000 </a:t>
            </a:r>
            <a:r>
              <a:rPr lang="en-US" altLang="en-US" sz="1800">
                <a:sym typeface="Symbol" panose="05050102010706020507" pitchFamily="18" charset="2"/>
              </a:rPr>
              <a:t>F yields ~0.1% ripple</a:t>
            </a:r>
          </a:p>
          <a:p>
            <a:pPr lvl="1" eaLnBrk="1" hangingPunct="1"/>
            <a:r>
              <a:rPr lang="en-US" altLang="en-US" sz="1800">
                <a:sym typeface="Symbol" panose="05050102010706020507" pitchFamily="18" charset="2"/>
              </a:rPr>
              <a:t>means 10 mV on 10 V</a:t>
            </a:r>
            <a:endParaRPr lang="en-US" altLang="en-US" sz="1800"/>
          </a:p>
        </p:txBody>
      </p:sp>
      <p:sp>
        <p:nvSpPr>
          <p:cNvPr id="70663" name="Line 5">
            <a:extLst>
              <a:ext uri="{FF2B5EF4-FFF2-40B4-BE49-F238E27FC236}">
                <a16:creationId xmlns:a16="http://schemas.microsoft.com/office/drawing/2014/main" id="{48578D01-8B50-DF19-D72E-440371F7D885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990600"/>
            <a:ext cx="0" cy="990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0664" name="Line 6">
            <a:extLst>
              <a:ext uri="{FF2B5EF4-FFF2-40B4-BE49-F238E27FC236}">
                <a16:creationId xmlns:a16="http://schemas.microsoft.com/office/drawing/2014/main" id="{29A8A7B5-FEE1-C101-8830-FD97B0895847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1981200"/>
            <a:ext cx="3352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0665" name="Line 7">
            <a:extLst>
              <a:ext uri="{FF2B5EF4-FFF2-40B4-BE49-F238E27FC236}">
                <a16:creationId xmlns:a16="http://schemas.microsoft.com/office/drawing/2014/main" id="{B74E7996-DC5F-6669-6F87-F1176505433C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2133600"/>
            <a:ext cx="0" cy="990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0666" name="Line 8">
            <a:extLst>
              <a:ext uri="{FF2B5EF4-FFF2-40B4-BE49-F238E27FC236}">
                <a16:creationId xmlns:a16="http://schemas.microsoft.com/office/drawing/2014/main" id="{3118C5AD-218C-9BBC-B63B-35898F002244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3124200"/>
            <a:ext cx="3352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0667" name="Line 9">
            <a:extLst>
              <a:ext uri="{FF2B5EF4-FFF2-40B4-BE49-F238E27FC236}">
                <a16:creationId xmlns:a16="http://schemas.microsoft.com/office/drawing/2014/main" id="{1414A1ED-A7B1-FB53-FE06-A28BF93B9D24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3276600"/>
            <a:ext cx="0" cy="990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0668" name="Line 10">
            <a:extLst>
              <a:ext uri="{FF2B5EF4-FFF2-40B4-BE49-F238E27FC236}">
                <a16:creationId xmlns:a16="http://schemas.microsoft.com/office/drawing/2014/main" id="{F5BAC279-1D34-411F-8303-5FC926C81679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4267200"/>
            <a:ext cx="3352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0669" name="Line 11">
            <a:extLst>
              <a:ext uri="{FF2B5EF4-FFF2-40B4-BE49-F238E27FC236}">
                <a16:creationId xmlns:a16="http://schemas.microsoft.com/office/drawing/2014/main" id="{409BCBB8-B718-59B4-A255-4F7F5CAA8C98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4419600"/>
            <a:ext cx="0" cy="990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0670" name="Line 12">
            <a:extLst>
              <a:ext uri="{FF2B5EF4-FFF2-40B4-BE49-F238E27FC236}">
                <a16:creationId xmlns:a16="http://schemas.microsoft.com/office/drawing/2014/main" id="{25C80055-935E-E436-755C-A472BA0A55C7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4953000"/>
            <a:ext cx="3352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0671" name="Line 13">
            <a:extLst>
              <a:ext uri="{FF2B5EF4-FFF2-40B4-BE49-F238E27FC236}">
                <a16:creationId xmlns:a16="http://schemas.microsoft.com/office/drawing/2014/main" id="{2358848E-6E16-C6B3-FC5D-CAABAAEE6651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5562600"/>
            <a:ext cx="0" cy="990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0672" name="Line 14">
            <a:extLst>
              <a:ext uri="{FF2B5EF4-FFF2-40B4-BE49-F238E27FC236}">
                <a16:creationId xmlns:a16="http://schemas.microsoft.com/office/drawing/2014/main" id="{317DFBBC-5A0C-DEDA-2F97-C746E6DA9DB7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6553200"/>
            <a:ext cx="3352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0673" name="Line 15">
            <a:extLst>
              <a:ext uri="{FF2B5EF4-FFF2-40B4-BE49-F238E27FC236}">
                <a16:creationId xmlns:a16="http://schemas.microsoft.com/office/drawing/2014/main" id="{E3760F24-CF7B-4DD1-0803-FDC56FF9EF14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990600"/>
            <a:ext cx="0" cy="55626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0674" name="Line 16">
            <a:extLst>
              <a:ext uri="{FF2B5EF4-FFF2-40B4-BE49-F238E27FC236}">
                <a16:creationId xmlns:a16="http://schemas.microsoft.com/office/drawing/2014/main" id="{6C13E1D1-EC56-4EEC-A3FD-6DE2533CD376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990600"/>
            <a:ext cx="0" cy="55626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0675" name="Line 17">
            <a:extLst>
              <a:ext uri="{FF2B5EF4-FFF2-40B4-BE49-F238E27FC236}">
                <a16:creationId xmlns:a16="http://schemas.microsoft.com/office/drawing/2014/main" id="{50D37881-4DFF-8370-7094-9AAE7C336F55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990600"/>
            <a:ext cx="0" cy="55626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0676" name="Line 18">
            <a:extLst>
              <a:ext uri="{FF2B5EF4-FFF2-40B4-BE49-F238E27FC236}">
                <a16:creationId xmlns:a16="http://schemas.microsoft.com/office/drawing/2014/main" id="{FACE7814-AC77-6534-8BFF-FF2542F56E71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600" y="990600"/>
            <a:ext cx="0" cy="55626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0677" name="Line 19">
            <a:extLst>
              <a:ext uri="{FF2B5EF4-FFF2-40B4-BE49-F238E27FC236}">
                <a16:creationId xmlns:a16="http://schemas.microsoft.com/office/drawing/2014/main" id="{3A419CFA-C5F1-8BC8-8222-F5808E39B96A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2590800"/>
            <a:ext cx="33528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0678" name="Freeform 20">
            <a:extLst>
              <a:ext uri="{FF2B5EF4-FFF2-40B4-BE49-F238E27FC236}">
                <a16:creationId xmlns:a16="http://schemas.microsoft.com/office/drawing/2014/main" id="{BA0633E5-68CC-7DB3-BE25-DB51BE7152A5}"/>
              </a:ext>
            </a:extLst>
          </p:cNvPr>
          <p:cNvSpPr>
            <a:spLocks/>
          </p:cNvSpPr>
          <p:nvPr/>
        </p:nvSpPr>
        <p:spPr bwMode="auto">
          <a:xfrm>
            <a:off x="5105400" y="1143000"/>
            <a:ext cx="3352800" cy="838200"/>
          </a:xfrm>
          <a:custGeom>
            <a:avLst/>
            <a:gdLst>
              <a:gd name="T0" fmla="*/ 0 w 2112"/>
              <a:gd name="T1" fmla="*/ 0 h 528"/>
              <a:gd name="T2" fmla="*/ 1572577500 w 2112"/>
              <a:gd name="T3" fmla="*/ 0 h 528"/>
              <a:gd name="T4" fmla="*/ 1572577500 w 2112"/>
              <a:gd name="T5" fmla="*/ 1330642500 h 528"/>
              <a:gd name="T6" fmla="*/ 2147483647 w 2112"/>
              <a:gd name="T7" fmla="*/ 1330642500 h 528"/>
              <a:gd name="T8" fmla="*/ 2147483647 w 2112"/>
              <a:gd name="T9" fmla="*/ 0 h 528"/>
              <a:gd name="T10" fmla="*/ 2147483647 w 2112"/>
              <a:gd name="T11" fmla="*/ 0 h 528"/>
              <a:gd name="T12" fmla="*/ 2147483647 w 2112"/>
              <a:gd name="T13" fmla="*/ 1330642500 h 528"/>
              <a:gd name="T14" fmla="*/ 2147483647 w 2112"/>
              <a:gd name="T15" fmla="*/ 1330642500 h 528"/>
              <a:gd name="T16" fmla="*/ 2147483647 w 2112"/>
              <a:gd name="T17" fmla="*/ 0 h 528"/>
              <a:gd name="T18" fmla="*/ 2147483647 w 2112"/>
              <a:gd name="T19" fmla="*/ 0 h 52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112"/>
              <a:gd name="T31" fmla="*/ 0 h 528"/>
              <a:gd name="T32" fmla="*/ 2112 w 2112"/>
              <a:gd name="T33" fmla="*/ 528 h 52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112" h="528">
                <a:moveTo>
                  <a:pt x="0" y="0"/>
                </a:moveTo>
                <a:lnTo>
                  <a:pt x="624" y="0"/>
                </a:lnTo>
                <a:lnTo>
                  <a:pt x="624" y="528"/>
                </a:lnTo>
                <a:lnTo>
                  <a:pt x="864" y="528"/>
                </a:lnTo>
                <a:lnTo>
                  <a:pt x="864" y="0"/>
                </a:lnTo>
                <a:lnTo>
                  <a:pt x="1488" y="0"/>
                </a:lnTo>
                <a:lnTo>
                  <a:pt x="1488" y="528"/>
                </a:lnTo>
                <a:lnTo>
                  <a:pt x="1728" y="528"/>
                </a:lnTo>
                <a:lnTo>
                  <a:pt x="1728" y="0"/>
                </a:lnTo>
                <a:lnTo>
                  <a:pt x="2112" y="0"/>
                </a:lnTo>
              </a:path>
            </a:pathLst>
          </a:custGeom>
          <a:noFill/>
          <a:ln w="254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70679" name="Freeform 21">
            <a:extLst>
              <a:ext uri="{FF2B5EF4-FFF2-40B4-BE49-F238E27FC236}">
                <a16:creationId xmlns:a16="http://schemas.microsoft.com/office/drawing/2014/main" id="{0CFB84C8-08ED-7CCF-58C4-CF29C0CE9335}"/>
              </a:ext>
            </a:extLst>
          </p:cNvPr>
          <p:cNvSpPr>
            <a:spLocks/>
          </p:cNvSpPr>
          <p:nvPr/>
        </p:nvSpPr>
        <p:spPr bwMode="auto">
          <a:xfrm>
            <a:off x="5105400" y="2328863"/>
            <a:ext cx="3352800" cy="490537"/>
          </a:xfrm>
          <a:custGeom>
            <a:avLst/>
            <a:gdLst>
              <a:gd name="T0" fmla="*/ 0 w 2112"/>
              <a:gd name="T1" fmla="*/ 778726694 h 309"/>
              <a:gd name="T2" fmla="*/ 1572577500 w 2112"/>
              <a:gd name="T3" fmla="*/ 52922434 h 309"/>
              <a:gd name="T4" fmla="*/ 2147483647 w 2112"/>
              <a:gd name="T5" fmla="*/ 778726694 h 309"/>
              <a:gd name="T6" fmla="*/ 2147483647 w 2112"/>
              <a:gd name="T7" fmla="*/ 0 h 309"/>
              <a:gd name="T8" fmla="*/ 2147483647 w 2112"/>
              <a:gd name="T9" fmla="*/ 761086412 h 309"/>
              <a:gd name="T10" fmla="*/ 2147483647 w 2112"/>
              <a:gd name="T11" fmla="*/ 294857187 h 30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12"/>
              <a:gd name="T19" fmla="*/ 0 h 309"/>
              <a:gd name="T20" fmla="*/ 2112 w 2112"/>
              <a:gd name="T21" fmla="*/ 309 h 30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12" h="309">
                <a:moveTo>
                  <a:pt x="0" y="309"/>
                </a:moveTo>
                <a:lnTo>
                  <a:pt x="624" y="21"/>
                </a:lnTo>
                <a:lnTo>
                  <a:pt x="864" y="309"/>
                </a:lnTo>
                <a:lnTo>
                  <a:pt x="1486" y="0"/>
                </a:lnTo>
                <a:lnTo>
                  <a:pt x="1735" y="302"/>
                </a:lnTo>
                <a:lnTo>
                  <a:pt x="2112" y="117"/>
                </a:lnTo>
              </a:path>
            </a:pathLst>
          </a:custGeom>
          <a:noFill/>
          <a:ln w="254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70680" name="Freeform 22">
            <a:extLst>
              <a:ext uri="{FF2B5EF4-FFF2-40B4-BE49-F238E27FC236}">
                <a16:creationId xmlns:a16="http://schemas.microsoft.com/office/drawing/2014/main" id="{A562EEB0-1BB8-4134-0329-781E01C4C068}"/>
              </a:ext>
            </a:extLst>
          </p:cNvPr>
          <p:cNvSpPr>
            <a:spLocks/>
          </p:cNvSpPr>
          <p:nvPr/>
        </p:nvSpPr>
        <p:spPr bwMode="auto">
          <a:xfrm>
            <a:off x="5105400" y="3316288"/>
            <a:ext cx="3352800" cy="950912"/>
          </a:xfrm>
          <a:custGeom>
            <a:avLst/>
            <a:gdLst>
              <a:gd name="T0" fmla="*/ 0 w 2112"/>
              <a:gd name="T1" fmla="*/ 904734824 h 599"/>
              <a:gd name="T2" fmla="*/ 1595259700 w 2112"/>
              <a:gd name="T3" fmla="*/ 45362789 h 599"/>
              <a:gd name="T4" fmla="*/ 1572577500 w 2112"/>
              <a:gd name="T5" fmla="*/ 1509572006 h 599"/>
              <a:gd name="T6" fmla="*/ 2147483647 w 2112"/>
              <a:gd name="T7" fmla="*/ 1509572006 h 599"/>
              <a:gd name="T8" fmla="*/ 2147483647 w 2112"/>
              <a:gd name="T9" fmla="*/ 864412345 h 599"/>
              <a:gd name="T10" fmla="*/ 2147483647 w 2112"/>
              <a:gd name="T11" fmla="*/ 0 h 599"/>
              <a:gd name="T12" fmla="*/ 2147483647 w 2112"/>
              <a:gd name="T13" fmla="*/ 1509572006 h 599"/>
              <a:gd name="T14" fmla="*/ 2147483647 w 2112"/>
              <a:gd name="T15" fmla="*/ 1509572006 h 599"/>
              <a:gd name="T16" fmla="*/ 2147483647 w 2112"/>
              <a:gd name="T17" fmla="*/ 824089867 h 599"/>
              <a:gd name="T18" fmla="*/ 2147483647 w 2112"/>
              <a:gd name="T19" fmla="*/ 299897642 h 59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112"/>
              <a:gd name="T31" fmla="*/ 0 h 599"/>
              <a:gd name="T32" fmla="*/ 2112 w 2112"/>
              <a:gd name="T33" fmla="*/ 599 h 599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112" h="599">
                <a:moveTo>
                  <a:pt x="0" y="359"/>
                </a:moveTo>
                <a:cubicBezTo>
                  <a:pt x="627" y="21"/>
                  <a:pt x="417" y="137"/>
                  <a:pt x="633" y="18"/>
                </a:cubicBezTo>
                <a:lnTo>
                  <a:pt x="624" y="599"/>
                </a:lnTo>
                <a:lnTo>
                  <a:pt x="864" y="599"/>
                </a:lnTo>
                <a:lnTo>
                  <a:pt x="864" y="343"/>
                </a:lnTo>
                <a:lnTo>
                  <a:pt x="1486" y="0"/>
                </a:lnTo>
                <a:lnTo>
                  <a:pt x="1488" y="599"/>
                </a:lnTo>
                <a:lnTo>
                  <a:pt x="1728" y="599"/>
                </a:lnTo>
                <a:lnTo>
                  <a:pt x="1728" y="327"/>
                </a:lnTo>
                <a:lnTo>
                  <a:pt x="2112" y="119"/>
                </a:lnTo>
              </a:path>
            </a:pathLst>
          </a:custGeom>
          <a:noFill/>
          <a:ln w="222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70681" name="Freeform 24">
            <a:extLst>
              <a:ext uri="{FF2B5EF4-FFF2-40B4-BE49-F238E27FC236}">
                <a16:creationId xmlns:a16="http://schemas.microsoft.com/office/drawing/2014/main" id="{A8567515-3096-9F1B-85CC-74CDD93F7BA8}"/>
              </a:ext>
            </a:extLst>
          </p:cNvPr>
          <p:cNvSpPr>
            <a:spLocks/>
          </p:cNvSpPr>
          <p:nvPr/>
        </p:nvSpPr>
        <p:spPr bwMode="auto">
          <a:xfrm>
            <a:off x="5105400" y="4691063"/>
            <a:ext cx="3352800" cy="490537"/>
          </a:xfrm>
          <a:custGeom>
            <a:avLst/>
            <a:gdLst>
              <a:gd name="T0" fmla="*/ 0 w 2112"/>
              <a:gd name="T1" fmla="*/ 778726694 h 309"/>
              <a:gd name="T2" fmla="*/ 1572577500 w 2112"/>
              <a:gd name="T3" fmla="*/ 52922434 h 309"/>
              <a:gd name="T4" fmla="*/ 2147483647 w 2112"/>
              <a:gd name="T5" fmla="*/ 778726694 h 309"/>
              <a:gd name="T6" fmla="*/ 2147483647 w 2112"/>
              <a:gd name="T7" fmla="*/ 0 h 309"/>
              <a:gd name="T8" fmla="*/ 2147483647 w 2112"/>
              <a:gd name="T9" fmla="*/ 761086412 h 309"/>
              <a:gd name="T10" fmla="*/ 2147483647 w 2112"/>
              <a:gd name="T11" fmla="*/ 294857187 h 30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12"/>
              <a:gd name="T19" fmla="*/ 0 h 309"/>
              <a:gd name="T20" fmla="*/ 2112 w 2112"/>
              <a:gd name="T21" fmla="*/ 309 h 30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12" h="309">
                <a:moveTo>
                  <a:pt x="0" y="309"/>
                </a:moveTo>
                <a:lnTo>
                  <a:pt x="624" y="21"/>
                </a:lnTo>
                <a:lnTo>
                  <a:pt x="864" y="309"/>
                </a:lnTo>
                <a:lnTo>
                  <a:pt x="1486" y="0"/>
                </a:lnTo>
                <a:lnTo>
                  <a:pt x="1735" y="302"/>
                </a:lnTo>
                <a:lnTo>
                  <a:pt x="2112" y="117"/>
                </a:lnTo>
              </a:path>
            </a:pathLst>
          </a:custGeom>
          <a:noFill/>
          <a:ln w="254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70682" name="Line 26">
            <a:extLst>
              <a:ext uri="{FF2B5EF4-FFF2-40B4-BE49-F238E27FC236}">
                <a16:creationId xmlns:a16="http://schemas.microsoft.com/office/drawing/2014/main" id="{31125358-DCF7-0C0D-D336-966351473EFA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6019800"/>
            <a:ext cx="33528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70683" name="Group 35">
            <a:extLst>
              <a:ext uri="{FF2B5EF4-FFF2-40B4-BE49-F238E27FC236}">
                <a16:creationId xmlns:a16="http://schemas.microsoft.com/office/drawing/2014/main" id="{F9C122FE-956B-4A1E-61F8-9A50228B4FCE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5672138"/>
            <a:ext cx="3352800" cy="525462"/>
            <a:chOff x="3216" y="3573"/>
            <a:chExt cx="2112" cy="331"/>
          </a:xfrm>
        </p:grpSpPr>
        <p:sp>
          <p:nvSpPr>
            <p:cNvPr id="70689" name="Freeform 29">
              <a:extLst>
                <a:ext uri="{FF2B5EF4-FFF2-40B4-BE49-F238E27FC236}">
                  <a16:creationId xmlns:a16="http://schemas.microsoft.com/office/drawing/2014/main" id="{F4F8EFE4-8A78-171D-5A1A-EC62F28FE9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6" y="3792"/>
              <a:ext cx="624" cy="112"/>
            </a:xfrm>
            <a:custGeom>
              <a:avLst/>
              <a:gdLst>
                <a:gd name="T0" fmla="*/ 0 w 624"/>
                <a:gd name="T1" fmla="*/ 0 h 112"/>
                <a:gd name="T2" fmla="*/ 240 w 624"/>
                <a:gd name="T3" fmla="*/ 96 h 112"/>
                <a:gd name="T4" fmla="*/ 432 w 624"/>
                <a:gd name="T5" fmla="*/ 96 h 112"/>
                <a:gd name="T6" fmla="*/ 624 w 624"/>
                <a:gd name="T7" fmla="*/ 0 h 1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4"/>
                <a:gd name="T13" fmla="*/ 0 h 112"/>
                <a:gd name="T14" fmla="*/ 624 w 624"/>
                <a:gd name="T15" fmla="*/ 112 h 1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4" h="112">
                  <a:moveTo>
                    <a:pt x="0" y="0"/>
                  </a:moveTo>
                  <a:cubicBezTo>
                    <a:pt x="84" y="40"/>
                    <a:pt x="168" y="80"/>
                    <a:pt x="240" y="96"/>
                  </a:cubicBezTo>
                  <a:cubicBezTo>
                    <a:pt x="312" y="112"/>
                    <a:pt x="368" y="112"/>
                    <a:pt x="432" y="96"/>
                  </a:cubicBezTo>
                  <a:cubicBezTo>
                    <a:pt x="496" y="80"/>
                    <a:pt x="560" y="40"/>
                    <a:pt x="624" y="0"/>
                  </a:cubicBezTo>
                </a:path>
              </a:pathLst>
            </a:custGeom>
            <a:noFill/>
            <a:ln w="222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0690" name="Freeform 30">
              <a:extLst>
                <a:ext uri="{FF2B5EF4-FFF2-40B4-BE49-F238E27FC236}">
                  <a16:creationId xmlns:a16="http://schemas.microsoft.com/office/drawing/2014/main" id="{BE8AB5B9-995D-86BD-7C90-8C633FD45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0" y="3792"/>
              <a:ext cx="624" cy="112"/>
            </a:xfrm>
            <a:custGeom>
              <a:avLst/>
              <a:gdLst>
                <a:gd name="T0" fmla="*/ 0 w 624"/>
                <a:gd name="T1" fmla="*/ 0 h 112"/>
                <a:gd name="T2" fmla="*/ 240 w 624"/>
                <a:gd name="T3" fmla="*/ 96 h 112"/>
                <a:gd name="T4" fmla="*/ 432 w 624"/>
                <a:gd name="T5" fmla="*/ 96 h 112"/>
                <a:gd name="T6" fmla="*/ 624 w 624"/>
                <a:gd name="T7" fmla="*/ 0 h 1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4"/>
                <a:gd name="T13" fmla="*/ 0 h 112"/>
                <a:gd name="T14" fmla="*/ 624 w 624"/>
                <a:gd name="T15" fmla="*/ 112 h 1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4" h="112">
                  <a:moveTo>
                    <a:pt x="0" y="0"/>
                  </a:moveTo>
                  <a:cubicBezTo>
                    <a:pt x="84" y="40"/>
                    <a:pt x="168" y="80"/>
                    <a:pt x="240" y="96"/>
                  </a:cubicBezTo>
                  <a:cubicBezTo>
                    <a:pt x="312" y="112"/>
                    <a:pt x="368" y="112"/>
                    <a:pt x="432" y="96"/>
                  </a:cubicBezTo>
                  <a:cubicBezTo>
                    <a:pt x="496" y="80"/>
                    <a:pt x="560" y="40"/>
                    <a:pt x="624" y="0"/>
                  </a:cubicBezTo>
                </a:path>
              </a:pathLst>
            </a:custGeom>
            <a:noFill/>
            <a:ln w="222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0691" name="Freeform 31">
              <a:extLst>
                <a:ext uri="{FF2B5EF4-FFF2-40B4-BE49-F238E27FC236}">
                  <a16:creationId xmlns:a16="http://schemas.microsoft.com/office/drawing/2014/main" id="{4B1B1ACC-634A-B2EA-15D0-AF0D90B80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0" y="3573"/>
              <a:ext cx="240" cy="219"/>
            </a:xfrm>
            <a:custGeom>
              <a:avLst/>
              <a:gdLst>
                <a:gd name="T0" fmla="*/ 0 w 240"/>
                <a:gd name="T1" fmla="*/ 219 h 219"/>
                <a:gd name="T2" fmla="*/ 84 w 240"/>
                <a:gd name="T3" fmla="*/ 31 h 219"/>
                <a:gd name="T4" fmla="*/ 152 w 240"/>
                <a:gd name="T5" fmla="*/ 31 h 219"/>
                <a:gd name="T6" fmla="*/ 240 w 240"/>
                <a:gd name="T7" fmla="*/ 219 h 21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0"/>
                <a:gd name="T13" fmla="*/ 0 h 219"/>
                <a:gd name="T14" fmla="*/ 240 w 240"/>
                <a:gd name="T15" fmla="*/ 219 h 21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0" h="219">
                  <a:moveTo>
                    <a:pt x="0" y="219"/>
                  </a:moveTo>
                  <a:cubicBezTo>
                    <a:pt x="14" y="188"/>
                    <a:pt x="59" y="62"/>
                    <a:pt x="84" y="31"/>
                  </a:cubicBezTo>
                  <a:cubicBezTo>
                    <a:pt x="109" y="0"/>
                    <a:pt x="126" y="0"/>
                    <a:pt x="152" y="31"/>
                  </a:cubicBezTo>
                  <a:cubicBezTo>
                    <a:pt x="178" y="62"/>
                    <a:pt x="222" y="180"/>
                    <a:pt x="240" y="219"/>
                  </a:cubicBezTo>
                </a:path>
              </a:pathLst>
            </a:custGeom>
            <a:noFill/>
            <a:ln w="222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0692" name="Freeform 33">
              <a:extLst>
                <a:ext uri="{FF2B5EF4-FFF2-40B4-BE49-F238E27FC236}">
                  <a16:creationId xmlns:a16="http://schemas.microsoft.com/office/drawing/2014/main" id="{732BAFA9-36C0-BCD5-493F-0E8C9FDA76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4" y="3792"/>
              <a:ext cx="384" cy="112"/>
            </a:xfrm>
            <a:custGeom>
              <a:avLst/>
              <a:gdLst>
                <a:gd name="T0" fmla="*/ 0 w 384"/>
                <a:gd name="T1" fmla="*/ 0 h 112"/>
                <a:gd name="T2" fmla="*/ 240 w 384"/>
                <a:gd name="T3" fmla="*/ 96 h 112"/>
                <a:gd name="T4" fmla="*/ 384 w 384"/>
                <a:gd name="T5" fmla="*/ 96 h 112"/>
                <a:gd name="T6" fmla="*/ 0 60000 65536"/>
                <a:gd name="T7" fmla="*/ 0 60000 65536"/>
                <a:gd name="T8" fmla="*/ 0 60000 65536"/>
                <a:gd name="T9" fmla="*/ 0 w 384"/>
                <a:gd name="T10" fmla="*/ 0 h 112"/>
                <a:gd name="T11" fmla="*/ 384 w 384"/>
                <a:gd name="T12" fmla="*/ 112 h 1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4" h="112">
                  <a:moveTo>
                    <a:pt x="0" y="0"/>
                  </a:moveTo>
                  <a:cubicBezTo>
                    <a:pt x="88" y="40"/>
                    <a:pt x="176" y="80"/>
                    <a:pt x="240" y="96"/>
                  </a:cubicBezTo>
                  <a:cubicBezTo>
                    <a:pt x="304" y="112"/>
                    <a:pt x="344" y="104"/>
                    <a:pt x="384" y="96"/>
                  </a:cubicBezTo>
                </a:path>
              </a:pathLst>
            </a:custGeom>
            <a:noFill/>
            <a:ln w="222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0693" name="Freeform 34">
              <a:extLst>
                <a:ext uri="{FF2B5EF4-FFF2-40B4-BE49-F238E27FC236}">
                  <a16:creationId xmlns:a16="http://schemas.microsoft.com/office/drawing/2014/main" id="{FDADE1EB-1FD8-A161-EE59-2C408FBB32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3573"/>
              <a:ext cx="240" cy="219"/>
            </a:xfrm>
            <a:custGeom>
              <a:avLst/>
              <a:gdLst>
                <a:gd name="T0" fmla="*/ 0 w 240"/>
                <a:gd name="T1" fmla="*/ 219 h 219"/>
                <a:gd name="T2" fmla="*/ 84 w 240"/>
                <a:gd name="T3" fmla="*/ 31 h 219"/>
                <a:gd name="T4" fmla="*/ 152 w 240"/>
                <a:gd name="T5" fmla="*/ 31 h 219"/>
                <a:gd name="T6" fmla="*/ 240 w 240"/>
                <a:gd name="T7" fmla="*/ 219 h 21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0"/>
                <a:gd name="T13" fmla="*/ 0 h 219"/>
                <a:gd name="T14" fmla="*/ 240 w 240"/>
                <a:gd name="T15" fmla="*/ 219 h 21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0" h="219">
                  <a:moveTo>
                    <a:pt x="0" y="219"/>
                  </a:moveTo>
                  <a:cubicBezTo>
                    <a:pt x="14" y="188"/>
                    <a:pt x="59" y="62"/>
                    <a:pt x="84" y="31"/>
                  </a:cubicBezTo>
                  <a:cubicBezTo>
                    <a:pt x="109" y="0"/>
                    <a:pt x="126" y="0"/>
                    <a:pt x="152" y="31"/>
                  </a:cubicBezTo>
                  <a:cubicBezTo>
                    <a:pt x="178" y="62"/>
                    <a:pt x="222" y="180"/>
                    <a:pt x="240" y="219"/>
                  </a:cubicBezTo>
                </a:path>
              </a:pathLst>
            </a:custGeom>
            <a:noFill/>
            <a:ln w="222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70684" name="Text Box 36">
            <a:extLst>
              <a:ext uri="{FF2B5EF4-FFF2-40B4-BE49-F238E27FC236}">
                <a16:creationId xmlns:a16="http://schemas.microsoft.com/office/drawing/2014/main" id="{B8A17F7B-8A04-3CE8-5D2B-A5F0489A9C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4863" y="1385888"/>
            <a:ext cx="5207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r>
              <a:rPr lang="en-US" altLang="en-US" sz="1400">
                <a:solidFill>
                  <a:srgbClr val="000000"/>
                </a:solidFill>
              </a:rPr>
              <a:t>FET</a:t>
            </a:r>
            <a:endParaRPr lang="en-US" altLang="en-US" sz="1400"/>
          </a:p>
        </p:txBody>
      </p:sp>
      <p:sp>
        <p:nvSpPr>
          <p:cNvPr id="70685" name="Text Box 37">
            <a:extLst>
              <a:ext uri="{FF2B5EF4-FFF2-40B4-BE49-F238E27FC236}">
                <a16:creationId xmlns:a16="http://schemas.microsoft.com/office/drawing/2014/main" id="{56363931-5374-B3A9-C0AE-2A96F4E364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2600" y="2438400"/>
            <a:ext cx="827088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r>
              <a:rPr lang="en-US" altLang="en-US" sz="1400">
                <a:solidFill>
                  <a:srgbClr val="000000"/>
                </a:solidFill>
              </a:rPr>
              <a:t>Inductor</a:t>
            </a:r>
          </a:p>
          <a:p>
            <a:pPr algn="r"/>
            <a:r>
              <a:rPr lang="en-US" altLang="en-US" sz="1400">
                <a:solidFill>
                  <a:srgbClr val="000000"/>
                </a:solidFill>
              </a:rPr>
              <a:t>Current</a:t>
            </a:r>
          </a:p>
        </p:txBody>
      </p:sp>
      <p:sp>
        <p:nvSpPr>
          <p:cNvPr id="70686" name="Text Box 38">
            <a:extLst>
              <a:ext uri="{FF2B5EF4-FFF2-40B4-BE49-F238E27FC236}">
                <a16:creationId xmlns:a16="http://schemas.microsoft.com/office/drawing/2014/main" id="{EE1DBB29-6A7B-6C4C-1F03-73918FE45E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9113" y="3581400"/>
            <a:ext cx="776287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r>
              <a:rPr lang="en-US" altLang="en-US" sz="1400">
                <a:solidFill>
                  <a:srgbClr val="000000"/>
                </a:solidFill>
              </a:rPr>
              <a:t>Supply</a:t>
            </a:r>
          </a:p>
          <a:p>
            <a:pPr algn="r"/>
            <a:r>
              <a:rPr lang="en-US" altLang="en-US" sz="1400">
                <a:solidFill>
                  <a:srgbClr val="000000"/>
                </a:solidFill>
              </a:rPr>
              <a:t>Current</a:t>
            </a:r>
            <a:endParaRPr lang="en-US" altLang="en-US" sz="1400"/>
          </a:p>
        </p:txBody>
      </p:sp>
      <p:sp>
        <p:nvSpPr>
          <p:cNvPr id="70687" name="Text Box 40">
            <a:extLst>
              <a:ext uri="{FF2B5EF4-FFF2-40B4-BE49-F238E27FC236}">
                <a16:creationId xmlns:a16="http://schemas.microsoft.com/office/drawing/2014/main" id="{68572DC8-BE8C-CD04-D373-7E6DF856CE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3063" y="4664075"/>
            <a:ext cx="944562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r>
              <a:rPr lang="en-US" altLang="en-US" sz="1400">
                <a:solidFill>
                  <a:srgbClr val="000000"/>
                </a:solidFill>
              </a:rPr>
              <a:t>Capacitor</a:t>
            </a:r>
          </a:p>
          <a:p>
            <a:pPr algn="r"/>
            <a:r>
              <a:rPr lang="en-US" altLang="en-US" sz="1400">
                <a:solidFill>
                  <a:srgbClr val="000000"/>
                </a:solidFill>
              </a:rPr>
              <a:t>Current</a:t>
            </a:r>
            <a:endParaRPr lang="en-US" altLang="en-US" sz="1400"/>
          </a:p>
        </p:txBody>
      </p:sp>
      <p:sp>
        <p:nvSpPr>
          <p:cNvPr id="70688" name="Text Box 41">
            <a:extLst>
              <a:ext uri="{FF2B5EF4-FFF2-40B4-BE49-F238E27FC236}">
                <a16:creationId xmlns:a16="http://schemas.microsoft.com/office/drawing/2014/main" id="{8D92E62F-BD96-6597-12EA-0FAE17DCB2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7638" y="5638800"/>
            <a:ext cx="1222375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r>
              <a:rPr lang="en-US" altLang="en-US" sz="1400">
                <a:solidFill>
                  <a:srgbClr val="000000"/>
                </a:solidFill>
              </a:rPr>
              <a:t>Output</a:t>
            </a:r>
          </a:p>
          <a:p>
            <a:pPr algn="r"/>
            <a:r>
              <a:rPr lang="en-US" altLang="en-US" sz="1400">
                <a:solidFill>
                  <a:srgbClr val="000000"/>
                </a:solidFill>
              </a:rPr>
              <a:t>Voltage</a:t>
            </a:r>
          </a:p>
          <a:p>
            <a:pPr algn="r"/>
            <a:r>
              <a:rPr lang="en-US" altLang="en-US" sz="1400">
                <a:solidFill>
                  <a:srgbClr val="000000"/>
                </a:solidFill>
              </a:rPr>
              <a:t>(ripple exag.)</a:t>
            </a:r>
            <a:endParaRPr lang="en-US" altLang="en-US" sz="1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Date Placeholder 3">
            <a:extLst>
              <a:ext uri="{FF2B5EF4-FFF2-40B4-BE49-F238E27FC236}">
                <a16:creationId xmlns:a16="http://schemas.microsoft.com/office/drawing/2014/main" id="{3F2D4DFF-384D-24EF-170C-B4AB3EA66E2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Winter 2012</a:t>
            </a:r>
          </a:p>
        </p:txBody>
      </p:sp>
      <p:sp>
        <p:nvSpPr>
          <p:cNvPr id="72707" name="Footer Placeholder 4">
            <a:extLst>
              <a:ext uri="{FF2B5EF4-FFF2-40B4-BE49-F238E27FC236}">
                <a16:creationId xmlns:a16="http://schemas.microsoft.com/office/drawing/2014/main" id="{2EF5DC79-5AD5-250C-35A2-4289F261C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UCSD: Physics 121; 2012</a:t>
            </a:r>
          </a:p>
        </p:txBody>
      </p:sp>
      <p:sp>
        <p:nvSpPr>
          <p:cNvPr id="72708" name="Slide Number Placeholder 5">
            <a:extLst>
              <a:ext uri="{FF2B5EF4-FFF2-40B4-BE49-F238E27FC236}">
                <a16:creationId xmlns:a16="http://schemas.microsoft.com/office/drawing/2014/main" id="{4829D392-EA3C-6712-C8C7-2FDEAC5B9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0F3BCAB-C707-4318-9041-BC634985A0CA}" type="slidenum">
              <a:rPr lang="en-US" altLang="en-US" sz="1400"/>
              <a:pPr/>
              <a:t>28</a:t>
            </a:fld>
            <a:endParaRPr lang="en-US" altLang="en-US" sz="1400"/>
          </a:p>
        </p:txBody>
      </p:sp>
      <p:sp>
        <p:nvSpPr>
          <p:cNvPr id="100354" name="Rectangle 2">
            <a:extLst>
              <a:ext uri="{FF2B5EF4-FFF2-40B4-BE49-F238E27FC236}">
                <a16:creationId xmlns:a16="http://schemas.microsoft.com/office/drawing/2014/main" id="{D098F4B5-58C9-70D4-ADC9-605B896B59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Cable Impedances</a:t>
            </a:r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82ED5C81-A7A5-944B-7405-7AF382F681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RG58 cable is characterized as </a:t>
            </a:r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50 </a:t>
            </a:r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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cable</a:t>
            </a:r>
          </a:p>
          <a:p>
            <a:pPr lvl="1" eaLnBrk="1" hangingPunct="1"/>
            <a:r>
              <a:rPr lang="en-US" altLang="en-US"/>
              <a:t>RG59 is 75 </a:t>
            </a:r>
            <a:r>
              <a:rPr lang="en-US" altLang="en-US">
                <a:sym typeface="Symbol" panose="05050102010706020507" pitchFamily="18" charset="2"/>
              </a:rPr>
              <a:t></a:t>
            </a: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some antenna cable is 300 </a:t>
            </a:r>
          </a:p>
          <a:p>
            <a:pPr eaLnBrk="1" hangingPunct="1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Isn’t the cable nearly </a:t>
            </a:r>
            <a:r>
              <a:rPr lang="en-US" altLang="en-US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zero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 resistance?  And shouldn’t the length come into play, somehow?</a:t>
            </a:r>
          </a:p>
          <a:p>
            <a:pPr eaLnBrk="1" hangingPunct="1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There is a distinction between resistance and impedance</a:t>
            </a: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though same units</a:t>
            </a:r>
          </a:p>
          <a:p>
            <a:pPr eaLnBrk="1" hangingPunct="1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Impedances can be real, imaginary, or complex</a:t>
            </a: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resistors are real: </a:t>
            </a:r>
            <a:r>
              <a:rPr lang="en-US" altLang="en-US" i="1">
                <a:sym typeface="Symbol" panose="05050102010706020507" pitchFamily="18" charset="2"/>
              </a:rPr>
              <a:t>Z</a:t>
            </a:r>
            <a:r>
              <a:rPr lang="en-US" altLang="en-US">
                <a:sym typeface="Symbol" panose="05050102010706020507" pitchFamily="18" charset="2"/>
              </a:rPr>
              <a:t> =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endParaRPr lang="en-US" altLang="en-US"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capacitors and inductors are imaginary: </a:t>
            </a:r>
            <a:r>
              <a:rPr lang="en-US" altLang="en-US" i="1">
                <a:sym typeface="Symbol" panose="05050102010706020507" pitchFamily="18" charset="2"/>
              </a:rPr>
              <a:t>Z</a:t>
            </a:r>
            <a:r>
              <a:rPr lang="en-US" altLang="en-US">
                <a:sym typeface="Symbol" panose="05050102010706020507" pitchFamily="18" charset="2"/>
              </a:rPr>
              <a:t> = i/</a:t>
            </a:r>
            <a:r>
              <a:rPr lang="en-US" altLang="en-US" i="1">
                <a:sym typeface="Symbol" panose="05050102010706020507" pitchFamily="18" charset="2"/>
              </a:rPr>
              <a:t>C</a:t>
            </a:r>
            <a:r>
              <a:rPr lang="en-US" altLang="en-US">
                <a:sym typeface="Symbol" panose="05050102010706020507" pitchFamily="18" charset="2"/>
              </a:rPr>
              <a:t>; </a:t>
            </a:r>
            <a:r>
              <a:rPr lang="en-US" altLang="en-US" i="1">
                <a:sym typeface="Symbol" panose="05050102010706020507" pitchFamily="18" charset="2"/>
              </a:rPr>
              <a:t>Z</a:t>
            </a:r>
            <a:r>
              <a:rPr lang="en-US" altLang="en-US">
                <a:sym typeface="Symbol" panose="05050102010706020507" pitchFamily="18" charset="2"/>
              </a:rPr>
              <a:t> = i</a:t>
            </a:r>
            <a:r>
              <a:rPr lang="en-US" altLang="en-US" i="1">
                <a:sym typeface="Symbol" panose="05050102010706020507" pitchFamily="18" charset="2"/>
              </a:rPr>
              <a:t>L</a:t>
            </a:r>
            <a:endParaRPr lang="en-US" altLang="en-US"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mixtures are complex: </a:t>
            </a:r>
            <a:r>
              <a:rPr lang="en-US" altLang="en-US" i="1">
                <a:sym typeface="Symbol" panose="05050102010706020507" pitchFamily="18" charset="2"/>
              </a:rPr>
              <a:t>Z</a:t>
            </a:r>
            <a:r>
              <a:rPr lang="en-US" altLang="en-US">
                <a:sym typeface="Symbol" panose="05050102010706020507" pitchFamily="18" charset="2"/>
              </a:rPr>
              <a:t> =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  i/</a:t>
            </a:r>
            <a:r>
              <a:rPr lang="en-US" altLang="en-US" i="1">
                <a:sym typeface="Symbol" panose="05050102010706020507" pitchFamily="18" charset="2"/>
              </a:rPr>
              <a:t>C</a:t>
            </a:r>
            <a:r>
              <a:rPr lang="en-US" altLang="en-US">
                <a:sym typeface="Symbol" panose="05050102010706020507" pitchFamily="18" charset="2"/>
              </a:rPr>
              <a:t> + i</a:t>
            </a:r>
            <a:r>
              <a:rPr lang="en-US" altLang="en-US" i="1">
                <a:sym typeface="Symbol" panose="05050102010706020507" pitchFamily="18" charset="2"/>
              </a:rPr>
              <a:t>L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Date Placeholder 3">
            <a:extLst>
              <a:ext uri="{FF2B5EF4-FFF2-40B4-BE49-F238E27FC236}">
                <a16:creationId xmlns:a16="http://schemas.microsoft.com/office/drawing/2014/main" id="{7521D4D1-B23B-BD27-1DFE-E12BA90EBB8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Winter 2012</a:t>
            </a:r>
          </a:p>
        </p:txBody>
      </p:sp>
      <p:sp>
        <p:nvSpPr>
          <p:cNvPr id="74755" name="Footer Placeholder 4">
            <a:extLst>
              <a:ext uri="{FF2B5EF4-FFF2-40B4-BE49-F238E27FC236}">
                <a16:creationId xmlns:a16="http://schemas.microsoft.com/office/drawing/2014/main" id="{B3413A65-8143-6EE8-C684-4B9C1A778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UCSD: Physics 121; 2012</a:t>
            </a:r>
          </a:p>
        </p:txBody>
      </p:sp>
      <p:sp>
        <p:nvSpPr>
          <p:cNvPr id="74756" name="Slide Number Placeholder 5">
            <a:extLst>
              <a:ext uri="{FF2B5EF4-FFF2-40B4-BE49-F238E27FC236}">
                <a16:creationId xmlns:a16="http://schemas.microsoft.com/office/drawing/2014/main" id="{70722B81-9EE9-8398-F17A-4263127E7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8D7D9BA-AECA-4341-B481-9C4030DCB338}" type="slidenum">
              <a:rPr lang="en-US" altLang="en-US" sz="1400"/>
              <a:pPr/>
              <a:t>29</a:t>
            </a:fld>
            <a:endParaRPr lang="en-US" altLang="en-US" sz="1400"/>
          </a:p>
        </p:txBody>
      </p:sp>
      <p:sp>
        <p:nvSpPr>
          <p:cNvPr id="101378" name="Rectangle 2">
            <a:extLst>
              <a:ext uri="{FF2B5EF4-FFF2-40B4-BE49-F238E27FC236}">
                <a16:creationId xmlns:a16="http://schemas.microsoft.com/office/drawing/2014/main" id="{2139C560-B459-7DC4-6E01-D77AA7E783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Impedances, cont.</a:t>
            </a:r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7389AABE-B98C-D6B8-8F3D-0DE04A01AC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Note that:</a:t>
            </a:r>
          </a:p>
          <a:p>
            <a:pPr lvl="1" eaLnBrk="1" hangingPunct="1"/>
            <a:r>
              <a:rPr lang="en-US" altLang="en-US"/>
              <a:t>capacitors become less “resistive” at high frequency</a:t>
            </a:r>
          </a:p>
          <a:p>
            <a:pPr lvl="1" eaLnBrk="1" hangingPunct="1"/>
            <a:r>
              <a:rPr lang="en-US" altLang="en-US"/>
              <a:t>inductors become more “resistive” at high frequency</a:t>
            </a:r>
          </a:p>
          <a:p>
            <a:pPr lvl="1" eaLnBrk="1" hangingPunct="1"/>
            <a:r>
              <a:rPr lang="en-US" altLang="en-US"/>
              <a:t>bigger capacitors are more transparent</a:t>
            </a:r>
          </a:p>
          <a:p>
            <a:pPr lvl="1" eaLnBrk="1" hangingPunct="1"/>
            <a:r>
              <a:rPr lang="en-US" altLang="en-US"/>
              <a:t>bigger inductors are less transparent</a:t>
            </a:r>
          </a:p>
          <a:p>
            <a:pPr lvl="1" eaLnBrk="1" hangingPunct="1"/>
            <a:r>
              <a:rPr lang="en-US" altLang="en-US"/>
              <a:t>i (√</a:t>
            </a:r>
            <a:r>
              <a:rPr lang="en-US" altLang="en-US">
                <a:sym typeface="Symbol" panose="05050102010706020507" pitchFamily="18" charset="2"/>
              </a:rPr>
              <a:t>1) indicates 90 phase shift between voltage and current</a:t>
            </a:r>
          </a:p>
          <a:p>
            <a:pPr lvl="2" eaLnBrk="1" hangingPunct="1"/>
            <a:r>
              <a:rPr lang="en-US" altLang="en-US"/>
              <a:t>after all, </a:t>
            </a:r>
            <a:r>
              <a:rPr lang="en-US" altLang="en-US" i="1"/>
              <a:t>V = IZ</a:t>
            </a:r>
            <a:r>
              <a:rPr lang="en-US" altLang="en-US"/>
              <a:t>, so </a:t>
            </a:r>
            <a:r>
              <a:rPr lang="en-US" altLang="en-US" i="1"/>
              <a:t>Z = V/I</a:t>
            </a:r>
            <a:endParaRPr lang="en-US" altLang="en-US"/>
          </a:p>
          <a:p>
            <a:pPr lvl="2" eaLnBrk="1" hangingPunct="1"/>
            <a:r>
              <a:rPr lang="en-US" altLang="en-US"/>
              <a:t>thus if </a:t>
            </a:r>
            <a:r>
              <a:rPr lang="en-US" altLang="en-US" i="1"/>
              <a:t>V</a:t>
            </a:r>
            <a:r>
              <a:rPr lang="en-US" altLang="en-US"/>
              <a:t> is sine wave, </a:t>
            </a:r>
            <a:r>
              <a:rPr lang="en-US" altLang="en-US" i="1"/>
              <a:t>I</a:t>
            </a:r>
            <a:r>
              <a:rPr lang="en-US" altLang="en-US"/>
              <a:t> is </a:t>
            </a:r>
            <a:r>
              <a:rPr lang="en-US" altLang="en-US">
                <a:sym typeface="Symbol" panose="05050102010706020507" pitchFamily="18" charset="2"/>
              </a:rPr>
              <a:t></a:t>
            </a:r>
            <a:r>
              <a:rPr lang="en-US" altLang="en-US"/>
              <a:t>cosine for inductor/capacitor</a:t>
            </a:r>
          </a:p>
          <a:p>
            <a:pPr lvl="2" eaLnBrk="1" hangingPunct="1"/>
            <a:r>
              <a:rPr lang="en-US" altLang="en-US"/>
              <a:t>and given that one is derivative, one is integral, this makes sense (slide # 3)</a:t>
            </a:r>
          </a:p>
          <a:p>
            <a:pPr lvl="1" eaLnBrk="1" hangingPunct="1"/>
            <a:r>
              <a:rPr lang="en-US" altLang="en-US"/>
              <a:t>adding impedances automatically takes care of summation rules: add </a:t>
            </a:r>
            <a:r>
              <a:rPr lang="en-US" altLang="en-US" i="1"/>
              <a:t>Z</a:t>
            </a:r>
            <a:r>
              <a:rPr lang="en-US" altLang="en-US"/>
              <a:t> in series</a:t>
            </a:r>
          </a:p>
          <a:p>
            <a:pPr lvl="2" eaLnBrk="1" hangingPunct="1"/>
            <a:r>
              <a:rPr lang="en-US" altLang="en-US"/>
              <a:t>capacitance adds as inverse, resistors, inductors straight-up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Date Placeholder 4">
            <a:extLst>
              <a:ext uri="{FF2B5EF4-FFF2-40B4-BE49-F238E27FC236}">
                <a16:creationId xmlns:a16="http://schemas.microsoft.com/office/drawing/2014/main" id="{035A911E-017B-F0DF-4B7F-86F14CEF6D4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Winter 2012</a:t>
            </a:r>
          </a:p>
        </p:txBody>
      </p:sp>
      <p:sp>
        <p:nvSpPr>
          <p:cNvPr id="76803" name="Footer Placeholder 5">
            <a:extLst>
              <a:ext uri="{FF2B5EF4-FFF2-40B4-BE49-F238E27FC236}">
                <a16:creationId xmlns:a16="http://schemas.microsoft.com/office/drawing/2014/main" id="{DD2C8458-1970-5A3C-0F76-B2E3E7620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UCSD: Physics 121; 2012</a:t>
            </a:r>
          </a:p>
        </p:txBody>
      </p:sp>
      <p:sp>
        <p:nvSpPr>
          <p:cNvPr id="76804" name="Slide Number Placeholder 6">
            <a:extLst>
              <a:ext uri="{FF2B5EF4-FFF2-40B4-BE49-F238E27FC236}">
                <a16:creationId xmlns:a16="http://schemas.microsoft.com/office/drawing/2014/main" id="{3A3EB476-97A4-461A-CEA8-442D1D0DA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C91DE9F-CF20-4846-88C9-476C3A687FD2}" type="slidenum">
              <a:rPr lang="en-US" altLang="en-US" sz="1400"/>
              <a:pPr/>
              <a:t>30</a:t>
            </a:fld>
            <a:endParaRPr lang="en-US" altLang="en-US" sz="1400"/>
          </a:p>
        </p:txBody>
      </p:sp>
      <p:sp>
        <p:nvSpPr>
          <p:cNvPr id="102402" name="Rectangle 2">
            <a:extLst>
              <a:ext uri="{FF2B5EF4-FFF2-40B4-BE49-F238E27FC236}">
                <a16:creationId xmlns:a16="http://schemas.microsoft.com/office/drawing/2014/main" id="{348E0983-4315-4557-F14D-43DDB4E2A1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Impedance Phasor Diagram</a:t>
            </a:r>
          </a:p>
        </p:txBody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134CA2D9-3C3D-3D42-E07B-A570E9C4D9E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Impedances can be drawn on a complex plane, with pure resistive, inductive, and capacitive impedances represented by the three cardinal arrows</a:t>
            </a:r>
          </a:p>
          <a:p>
            <a:pPr eaLnBrk="1" hangingPunct="1"/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An arbitrary combination of components may have a complex impedance, which can be broken into real and imaginary parts</a:t>
            </a:r>
          </a:p>
          <a:p>
            <a:pPr eaLnBrk="1" hangingPunct="1"/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Note that a system’s impedance is frequency-dependent</a:t>
            </a:r>
          </a:p>
        </p:txBody>
      </p:sp>
      <p:sp>
        <p:nvSpPr>
          <p:cNvPr id="76807" name="Line 5">
            <a:extLst>
              <a:ext uri="{FF2B5EF4-FFF2-40B4-BE49-F238E27FC236}">
                <a16:creationId xmlns:a16="http://schemas.microsoft.com/office/drawing/2014/main" id="{94625EB3-7238-BA3F-CB3D-0D3A7177021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1828800"/>
            <a:ext cx="0" cy="3657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6808" name="Line 6">
            <a:extLst>
              <a:ext uri="{FF2B5EF4-FFF2-40B4-BE49-F238E27FC236}">
                <a16:creationId xmlns:a16="http://schemas.microsoft.com/office/drawing/2014/main" id="{F43C5307-5220-9F44-B789-7B979B2A4C5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3657600"/>
            <a:ext cx="4038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6809" name="Line 7">
            <a:extLst>
              <a:ext uri="{FF2B5EF4-FFF2-40B4-BE49-F238E27FC236}">
                <a16:creationId xmlns:a16="http://schemas.microsoft.com/office/drawing/2014/main" id="{926C710F-5F9B-125A-7930-754F6BC14B94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2800" y="3581400"/>
            <a:ext cx="0" cy="152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6810" name="Line 8">
            <a:extLst>
              <a:ext uri="{FF2B5EF4-FFF2-40B4-BE49-F238E27FC236}">
                <a16:creationId xmlns:a16="http://schemas.microsoft.com/office/drawing/2014/main" id="{1C692FE3-BD2D-5DAA-54DD-7223F7860D0A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3581400"/>
            <a:ext cx="0" cy="152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6811" name="Line 9">
            <a:extLst>
              <a:ext uri="{FF2B5EF4-FFF2-40B4-BE49-F238E27FC236}">
                <a16:creationId xmlns:a16="http://schemas.microsoft.com/office/drawing/2014/main" id="{581CD6AE-9AD8-57E4-4A7A-4EC7C71603DD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3581400"/>
            <a:ext cx="0" cy="152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6812" name="Line 10">
            <a:extLst>
              <a:ext uri="{FF2B5EF4-FFF2-40B4-BE49-F238E27FC236}">
                <a16:creationId xmlns:a16="http://schemas.microsoft.com/office/drawing/2014/main" id="{312EDB70-F04D-19A0-3FE3-0A64F697046A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3581400"/>
            <a:ext cx="0" cy="152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6813" name="Line 11">
            <a:extLst>
              <a:ext uri="{FF2B5EF4-FFF2-40B4-BE49-F238E27FC236}">
                <a16:creationId xmlns:a16="http://schemas.microsoft.com/office/drawing/2014/main" id="{F372E995-DEF1-49AD-0991-3038DDB3D66D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3581400"/>
            <a:ext cx="0" cy="152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6814" name="Line 12">
            <a:extLst>
              <a:ext uri="{FF2B5EF4-FFF2-40B4-BE49-F238E27FC236}">
                <a16:creationId xmlns:a16="http://schemas.microsoft.com/office/drawing/2014/main" id="{EF8F4D71-B404-972A-1180-D15F3F398A3F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0" y="3581400"/>
            <a:ext cx="0" cy="152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6815" name="Line 13">
            <a:extLst>
              <a:ext uri="{FF2B5EF4-FFF2-40B4-BE49-F238E27FC236}">
                <a16:creationId xmlns:a16="http://schemas.microsoft.com/office/drawing/2014/main" id="{38C53461-EC34-7F75-A141-CA7848656426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3581400"/>
            <a:ext cx="0" cy="152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6816" name="Line 14">
            <a:extLst>
              <a:ext uri="{FF2B5EF4-FFF2-40B4-BE49-F238E27FC236}">
                <a16:creationId xmlns:a16="http://schemas.microsoft.com/office/drawing/2014/main" id="{A800A2C3-F39A-E680-18CC-E92C5C40BC1C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3581400"/>
            <a:ext cx="0" cy="152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6817" name="Line 15">
            <a:extLst>
              <a:ext uri="{FF2B5EF4-FFF2-40B4-BE49-F238E27FC236}">
                <a16:creationId xmlns:a16="http://schemas.microsoft.com/office/drawing/2014/main" id="{AF82037C-6756-8F74-EEBF-8DB1D1FDA38F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0" y="3581400"/>
            <a:ext cx="0" cy="152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6818" name="Line 16">
            <a:extLst>
              <a:ext uri="{FF2B5EF4-FFF2-40B4-BE49-F238E27FC236}">
                <a16:creationId xmlns:a16="http://schemas.microsoft.com/office/drawing/2014/main" id="{47EEAF97-1557-1A29-0849-491798BE52A0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3581400"/>
            <a:ext cx="0" cy="152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6819" name="Line 17">
            <a:extLst>
              <a:ext uri="{FF2B5EF4-FFF2-40B4-BE49-F238E27FC236}">
                <a16:creationId xmlns:a16="http://schemas.microsoft.com/office/drawing/2014/main" id="{CFF9B650-4F59-3BD7-8039-2D824B3626F5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3581400"/>
            <a:ext cx="0" cy="152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6820" name="Line 18">
            <a:extLst>
              <a:ext uri="{FF2B5EF4-FFF2-40B4-BE49-F238E27FC236}">
                <a16:creationId xmlns:a16="http://schemas.microsoft.com/office/drawing/2014/main" id="{50D67AF6-7CDD-770E-9056-0DD79C34ABD5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3581400"/>
            <a:ext cx="0" cy="152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6821" name="Line 19">
            <a:extLst>
              <a:ext uri="{FF2B5EF4-FFF2-40B4-BE49-F238E27FC236}">
                <a16:creationId xmlns:a16="http://schemas.microsoft.com/office/drawing/2014/main" id="{A380B9B8-18FD-7132-E63E-9D08D336E7B6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2133600"/>
            <a:ext cx="152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6822" name="Line 23">
            <a:extLst>
              <a:ext uri="{FF2B5EF4-FFF2-40B4-BE49-F238E27FC236}">
                <a16:creationId xmlns:a16="http://schemas.microsoft.com/office/drawing/2014/main" id="{DC4EA1F2-94BA-ADE5-AF6C-033669FF7CDC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2438400"/>
            <a:ext cx="152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6823" name="Line 24">
            <a:extLst>
              <a:ext uri="{FF2B5EF4-FFF2-40B4-BE49-F238E27FC236}">
                <a16:creationId xmlns:a16="http://schemas.microsoft.com/office/drawing/2014/main" id="{A7803BDC-E40D-E6B9-FCA5-FB45EC7F2498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2743200"/>
            <a:ext cx="152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6824" name="Line 25">
            <a:extLst>
              <a:ext uri="{FF2B5EF4-FFF2-40B4-BE49-F238E27FC236}">
                <a16:creationId xmlns:a16="http://schemas.microsoft.com/office/drawing/2014/main" id="{4117455B-2830-C259-409E-0ADA0CFA9704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3048000"/>
            <a:ext cx="152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6825" name="Line 26">
            <a:extLst>
              <a:ext uri="{FF2B5EF4-FFF2-40B4-BE49-F238E27FC236}">
                <a16:creationId xmlns:a16="http://schemas.microsoft.com/office/drawing/2014/main" id="{C285E8D5-E6DA-B116-CEBD-79B924CE47B7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3352800"/>
            <a:ext cx="152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6826" name="Line 27">
            <a:extLst>
              <a:ext uri="{FF2B5EF4-FFF2-40B4-BE49-F238E27FC236}">
                <a16:creationId xmlns:a16="http://schemas.microsoft.com/office/drawing/2014/main" id="{5791F59B-C1F3-615B-1A6A-D1447B0A8184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3962400"/>
            <a:ext cx="152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6827" name="Line 28">
            <a:extLst>
              <a:ext uri="{FF2B5EF4-FFF2-40B4-BE49-F238E27FC236}">
                <a16:creationId xmlns:a16="http://schemas.microsoft.com/office/drawing/2014/main" id="{CEFC34BA-4E7E-9149-369E-E95DD4B5A1C1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4267200"/>
            <a:ext cx="152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6828" name="Line 29">
            <a:extLst>
              <a:ext uri="{FF2B5EF4-FFF2-40B4-BE49-F238E27FC236}">
                <a16:creationId xmlns:a16="http://schemas.microsoft.com/office/drawing/2014/main" id="{8578C952-79DC-0CED-3CB8-5B2B79F791FF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4572000"/>
            <a:ext cx="152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6829" name="Line 30">
            <a:extLst>
              <a:ext uri="{FF2B5EF4-FFF2-40B4-BE49-F238E27FC236}">
                <a16:creationId xmlns:a16="http://schemas.microsoft.com/office/drawing/2014/main" id="{C64E027D-9928-7EAF-1B79-4945FF59FCDA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4876800"/>
            <a:ext cx="152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6830" name="Line 31">
            <a:extLst>
              <a:ext uri="{FF2B5EF4-FFF2-40B4-BE49-F238E27FC236}">
                <a16:creationId xmlns:a16="http://schemas.microsoft.com/office/drawing/2014/main" id="{B70699F2-8D3E-2BD8-C18A-70C184B7BF58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5181600"/>
            <a:ext cx="152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6831" name="Line 32">
            <a:extLst>
              <a:ext uri="{FF2B5EF4-FFF2-40B4-BE49-F238E27FC236}">
                <a16:creationId xmlns:a16="http://schemas.microsoft.com/office/drawing/2014/main" id="{7930FA94-9BA6-F20F-2101-484394873CEC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3657600"/>
            <a:ext cx="0" cy="1371600"/>
          </a:xfrm>
          <a:prstGeom prst="line">
            <a:avLst/>
          </a:prstGeom>
          <a:noFill/>
          <a:ln w="31750">
            <a:solidFill>
              <a:srgbClr val="0DC1F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6832" name="Line 33">
            <a:extLst>
              <a:ext uri="{FF2B5EF4-FFF2-40B4-BE49-F238E27FC236}">
                <a16:creationId xmlns:a16="http://schemas.microsoft.com/office/drawing/2014/main" id="{E8203E72-860A-8ACB-86F6-BA2CBAE7B46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8000" y="2286000"/>
            <a:ext cx="0" cy="1371600"/>
          </a:xfrm>
          <a:prstGeom prst="line">
            <a:avLst/>
          </a:prstGeom>
          <a:noFill/>
          <a:ln w="317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6833" name="Line 34">
            <a:extLst>
              <a:ext uri="{FF2B5EF4-FFF2-40B4-BE49-F238E27FC236}">
                <a16:creationId xmlns:a16="http://schemas.microsoft.com/office/drawing/2014/main" id="{A4C0173C-0461-D758-4B0F-94272A9EB395}"/>
              </a:ext>
            </a:extLst>
          </p:cNvPr>
          <p:cNvSpPr>
            <a:spLocks noChangeShapeType="1"/>
          </p:cNvSpPr>
          <p:nvPr/>
        </p:nvSpPr>
        <p:spPr bwMode="auto">
          <a:xfrm rot="5400000" flipV="1">
            <a:off x="7543800" y="2971800"/>
            <a:ext cx="0" cy="1371600"/>
          </a:xfrm>
          <a:prstGeom prst="line">
            <a:avLst/>
          </a:prstGeom>
          <a:noFill/>
          <a:ln w="3175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6834" name="Line 35">
            <a:extLst>
              <a:ext uri="{FF2B5EF4-FFF2-40B4-BE49-F238E27FC236}">
                <a16:creationId xmlns:a16="http://schemas.microsoft.com/office/drawing/2014/main" id="{084842B1-1240-527F-373A-357DB039C03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8000" y="2057400"/>
            <a:ext cx="990600" cy="1600200"/>
          </a:xfrm>
          <a:prstGeom prst="line">
            <a:avLst/>
          </a:prstGeom>
          <a:noFill/>
          <a:ln w="317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6835" name="Line 36">
            <a:extLst>
              <a:ext uri="{FF2B5EF4-FFF2-40B4-BE49-F238E27FC236}">
                <a16:creationId xmlns:a16="http://schemas.microsoft.com/office/drawing/2014/main" id="{8E3C3AF4-D0E3-3586-803F-AF0E4268D3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8000" y="2057400"/>
            <a:ext cx="9906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6836" name="Line 37">
            <a:extLst>
              <a:ext uri="{FF2B5EF4-FFF2-40B4-BE49-F238E27FC236}">
                <a16:creationId xmlns:a16="http://schemas.microsoft.com/office/drawing/2014/main" id="{5CEE711B-510A-4C3F-1854-2F202C045737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600" y="2057400"/>
            <a:ext cx="0" cy="16002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6837" name="Text Box 38">
            <a:extLst>
              <a:ext uri="{FF2B5EF4-FFF2-40B4-BE49-F238E27FC236}">
                <a16:creationId xmlns:a16="http://schemas.microsoft.com/office/drawing/2014/main" id="{AE6E9ED8-413E-C1E0-C82C-8FFD6C444A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7525" y="3700463"/>
            <a:ext cx="349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solidFill>
                  <a:schemeClr val="hlink"/>
                </a:solidFill>
              </a:rPr>
              <a:t>R</a:t>
            </a:r>
            <a:endParaRPr lang="en-US" altLang="en-US" sz="1800"/>
          </a:p>
        </p:txBody>
      </p:sp>
      <p:sp>
        <p:nvSpPr>
          <p:cNvPr id="76838" name="Text Box 40">
            <a:extLst>
              <a:ext uri="{FF2B5EF4-FFF2-40B4-BE49-F238E27FC236}">
                <a16:creationId xmlns:a16="http://schemas.microsoft.com/office/drawing/2014/main" id="{B32C2412-0905-7367-9F89-C3DB1E166F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2447925"/>
            <a:ext cx="4683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solidFill>
                  <a:schemeClr val="accent2"/>
                </a:solidFill>
                <a:sym typeface="Symbol" panose="05050102010706020507" pitchFamily="18" charset="2"/>
              </a:rPr>
              <a:t>L</a:t>
            </a:r>
            <a:endParaRPr lang="en-US" altLang="en-US" sz="1800"/>
          </a:p>
        </p:txBody>
      </p:sp>
      <p:sp>
        <p:nvSpPr>
          <p:cNvPr id="76839" name="Text Box 41">
            <a:extLst>
              <a:ext uri="{FF2B5EF4-FFF2-40B4-BE49-F238E27FC236}">
                <a16:creationId xmlns:a16="http://schemas.microsoft.com/office/drawing/2014/main" id="{9D84665F-D6DA-806D-4300-C2DCBD8D8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0" y="1752600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solidFill>
                  <a:srgbClr val="000000"/>
                </a:solidFill>
              </a:rPr>
              <a:t>Z</a:t>
            </a:r>
            <a:endParaRPr lang="en-US" altLang="en-US" sz="1800"/>
          </a:p>
        </p:txBody>
      </p:sp>
      <p:sp>
        <p:nvSpPr>
          <p:cNvPr id="76840" name="Text Box 42">
            <a:extLst>
              <a:ext uri="{FF2B5EF4-FFF2-40B4-BE49-F238E27FC236}">
                <a16:creationId xmlns:a16="http://schemas.microsoft.com/office/drawing/2014/main" id="{17FAEECE-9535-18BC-F048-9B1588D2F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2667000"/>
            <a:ext cx="374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/>
              <a:t>Z</a:t>
            </a:r>
            <a:r>
              <a:rPr lang="en-US" altLang="en-US" sz="1800" baseline="-25000"/>
              <a:t>r</a:t>
            </a:r>
            <a:endParaRPr lang="en-US" altLang="en-US" sz="1800"/>
          </a:p>
        </p:txBody>
      </p:sp>
      <p:sp>
        <p:nvSpPr>
          <p:cNvPr id="76841" name="Text Box 43">
            <a:extLst>
              <a:ext uri="{FF2B5EF4-FFF2-40B4-BE49-F238E27FC236}">
                <a16:creationId xmlns:a16="http://schemas.microsoft.com/office/drawing/2014/main" id="{0C832CDD-B5EB-7493-F4EE-E03C73759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1676400"/>
            <a:ext cx="3571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/>
              <a:t>Z</a:t>
            </a:r>
            <a:r>
              <a:rPr lang="en-US" altLang="en-US" sz="1800" baseline="-25000"/>
              <a:t>i</a:t>
            </a:r>
            <a:endParaRPr lang="en-US" altLang="en-US" sz="1800"/>
          </a:p>
        </p:txBody>
      </p:sp>
      <p:sp>
        <p:nvSpPr>
          <p:cNvPr id="76842" name="Text Box 44">
            <a:extLst>
              <a:ext uri="{FF2B5EF4-FFF2-40B4-BE49-F238E27FC236}">
                <a16:creationId xmlns:a16="http://schemas.microsoft.com/office/drawing/2014/main" id="{50D9370F-D5D0-63BF-E32C-8F0713392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3088" y="4586288"/>
            <a:ext cx="6969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solidFill>
                  <a:srgbClr val="0DC1F0"/>
                </a:solidFill>
                <a:sym typeface="Symbol" panose="05050102010706020507" pitchFamily="18" charset="2"/>
              </a:rPr>
              <a:t>1/C</a:t>
            </a:r>
            <a:endParaRPr lang="en-US" altLang="en-US" sz="1800">
              <a:solidFill>
                <a:srgbClr val="0DC1F0"/>
              </a:solidFill>
            </a:endParaRPr>
          </a:p>
        </p:txBody>
      </p:sp>
      <p:sp>
        <p:nvSpPr>
          <p:cNvPr id="76843" name="Text Box 45">
            <a:extLst>
              <a:ext uri="{FF2B5EF4-FFF2-40B4-BE49-F238E27FC236}">
                <a16:creationId xmlns:a16="http://schemas.microsoft.com/office/drawing/2014/main" id="{0D866783-A748-36DC-7F45-E2C51E7719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3276600"/>
            <a:ext cx="8461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000000"/>
                </a:solidFill>
              </a:rPr>
              <a:t>real axis</a:t>
            </a:r>
          </a:p>
        </p:txBody>
      </p:sp>
      <p:sp>
        <p:nvSpPr>
          <p:cNvPr id="76844" name="Text Box 46">
            <a:extLst>
              <a:ext uri="{FF2B5EF4-FFF2-40B4-BE49-F238E27FC236}">
                <a16:creationId xmlns:a16="http://schemas.microsoft.com/office/drawing/2014/main" id="{64397B5B-51B0-EEB3-049D-97629361F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0950" y="1447800"/>
            <a:ext cx="9842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000000"/>
                </a:solidFill>
              </a:rPr>
              <a:t>imag. axis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Date Placeholder 3">
            <a:extLst>
              <a:ext uri="{FF2B5EF4-FFF2-40B4-BE49-F238E27FC236}">
                <a16:creationId xmlns:a16="http://schemas.microsoft.com/office/drawing/2014/main" id="{632CAC9D-525A-9A1B-8B3C-99D7F6D6823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Winter 2012</a:t>
            </a:r>
          </a:p>
        </p:txBody>
      </p:sp>
      <p:sp>
        <p:nvSpPr>
          <p:cNvPr id="78851" name="Footer Placeholder 4">
            <a:extLst>
              <a:ext uri="{FF2B5EF4-FFF2-40B4-BE49-F238E27FC236}">
                <a16:creationId xmlns:a16="http://schemas.microsoft.com/office/drawing/2014/main" id="{70AFA0B9-7964-4F36-35B7-E161D6269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UCSD: Physics 121; 2012</a:t>
            </a:r>
          </a:p>
        </p:txBody>
      </p:sp>
      <p:sp>
        <p:nvSpPr>
          <p:cNvPr id="78852" name="Slide Number Placeholder 5">
            <a:extLst>
              <a:ext uri="{FF2B5EF4-FFF2-40B4-BE49-F238E27FC236}">
                <a16:creationId xmlns:a16="http://schemas.microsoft.com/office/drawing/2014/main" id="{007B9E5C-7D4D-0572-510D-39E5C4C58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6C0DA93-BE65-48C8-925E-8692AD212093}" type="slidenum">
              <a:rPr lang="en-US" altLang="en-US" sz="1400"/>
              <a:pPr/>
              <a:t>31</a:t>
            </a:fld>
            <a:endParaRPr lang="en-US" altLang="en-US" sz="1400"/>
          </a:p>
        </p:txBody>
      </p:sp>
      <p:sp>
        <p:nvSpPr>
          <p:cNvPr id="103426" name="Rectangle 2">
            <a:extLst>
              <a:ext uri="{FF2B5EF4-FFF2-40B4-BE49-F238E27FC236}">
                <a16:creationId xmlns:a16="http://schemas.microsoft.com/office/drawing/2014/main" id="{3863DE86-2BA6-A5C7-A410-407909030F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Transmission Line Model</a:t>
            </a:r>
          </a:p>
        </p:txBody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D2533D4C-A159-BA8B-0484-58D4EC8327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2438400"/>
            <a:ext cx="8229600" cy="3810000"/>
          </a:xfrm>
        </p:spPr>
        <p:txBody>
          <a:bodyPr/>
          <a:lstStyle/>
          <a:p>
            <a:pPr eaLnBrk="1" hangingPunct="1"/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The cable has a finite capacitance per unit length</a:t>
            </a:r>
          </a:p>
          <a:p>
            <a:pPr lvl="1" eaLnBrk="1" hangingPunct="1"/>
            <a:r>
              <a:rPr lang="en-US" altLang="en-US" sz="1800"/>
              <a:t>property of geometry and dielectric separating conductors</a:t>
            </a:r>
          </a:p>
          <a:p>
            <a:pPr lvl="1" eaLnBrk="1" hangingPunct="1"/>
            <a:r>
              <a:rPr lang="en-US" altLang="en-US" sz="1800" i="1"/>
              <a:t>C</a:t>
            </a:r>
            <a:r>
              <a:rPr lang="en-US" altLang="en-US" sz="1800"/>
              <a:t>/</a:t>
            </a:r>
            <a:r>
              <a:rPr lang="en-US" altLang="en-US" sz="1800" i="1">
                <a:latin typeface="Mistral" panose="03090702030407020403" pitchFamily="66" charset="0"/>
              </a:rPr>
              <a:t>l</a:t>
            </a:r>
            <a:r>
              <a:rPr lang="en-US" altLang="en-US" sz="1800"/>
              <a:t> = 2</a:t>
            </a:r>
            <a:r>
              <a:rPr lang="en-US" altLang="en-US" sz="1800" i="1"/>
              <a:t>πε</a:t>
            </a:r>
            <a:r>
              <a:rPr lang="en-US" altLang="en-US" sz="1800"/>
              <a:t>/ln(</a:t>
            </a:r>
            <a:r>
              <a:rPr lang="en-US" altLang="en-US" sz="1800" i="1"/>
              <a:t>b</a:t>
            </a:r>
            <a:r>
              <a:rPr lang="en-US" altLang="en-US" sz="1800"/>
              <a:t>/</a:t>
            </a:r>
            <a:r>
              <a:rPr lang="en-US" altLang="en-US" sz="1800" i="1"/>
              <a:t>a</a:t>
            </a:r>
            <a:r>
              <a:rPr lang="en-US" altLang="en-US" sz="1800"/>
              <a:t>), where </a:t>
            </a:r>
            <a:r>
              <a:rPr lang="en-US" altLang="en-US" sz="1800" i="1"/>
              <a:t>b</a:t>
            </a:r>
            <a:r>
              <a:rPr lang="en-US" altLang="en-US" sz="1800"/>
              <a:t> and </a:t>
            </a:r>
            <a:r>
              <a:rPr lang="en-US" altLang="en-US" sz="1800" i="1"/>
              <a:t>a</a:t>
            </a:r>
            <a:r>
              <a:rPr lang="en-US" altLang="en-US" sz="1800"/>
              <a:t> are radii of cylinders</a:t>
            </a:r>
          </a:p>
          <a:p>
            <a:pPr eaLnBrk="1" hangingPunct="1"/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Also has an inductance per unit length</a:t>
            </a:r>
          </a:p>
          <a:p>
            <a:pPr lvl="1" eaLnBrk="1" hangingPunct="1"/>
            <a:r>
              <a:rPr lang="en-US" altLang="en-US" sz="1800" i="1"/>
              <a:t>L</a:t>
            </a:r>
            <a:r>
              <a:rPr lang="en-US" altLang="en-US" sz="1800"/>
              <a:t>/</a:t>
            </a:r>
            <a:r>
              <a:rPr lang="en-US" altLang="en-US" sz="1800" i="1">
                <a:latin typeface="Mistral" panose="03090702030407020403" pitchFamily="66" charset="0"/>
              </a:rPr>
              <a:t>l</a:t>
            </a:r>
            <a:r>
              <a:rPr lang="en-US" altLang="en-US" sz="1800"/>
              <a:t> = (</a:t>
            </a:r>
            <a:r>
              <a:rPr lang="en-US" altLang="en-US" sz="1800" i="1"/>
              <a:t>μ</a:t>
            </a:r>
            <a:r>
              <a:rPr lang="en-US" altLang="en-US" sz="1800"/>
              <a:t>/2</a:t>
            </a:r>
            <a:r>
              <a:rPr lang="en-US" altLang="en-US" sz="1800" i="1"/>
              <a:t>π</a:t>
            </a:r>
            <a:r>
              <a:rPr lang="en-US" altLang="en-US" sz="1800"/>
              <a:t>)ln(</a:t>
            </a:r>
            <a:r>
              <a:rPr lang="en-US" altLang="en-US" sz="1800" i="1"/>
              <a:t>b</a:t>
            </a:r>
            <a:r>
              <a:rPr lang="en-US" altLang="en-US" sz="1800"/>
              <a:t>/</a:t>
            </a:r>
            <a:r>
              <a:rPr lang="en-US" altLang="en-US" sz="1800" i="1"/>
              <a:t>a</a:t>
            </a:r>
            <a:r>
              <a:rPr lang="en-US" altLang="en-US" sz="1800"/>
              <a:t>)</a:t>
            </a:r>
          </a:p>
          <a:p>
            <a:pPr eaLnBrk="1" hangingPunct="1"/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When a voltage is applied, capacitors charge up</a:t>
            </a:r>
          </a:p>
          <a:p>
            <a:pPr lvl="1" eaLnBrk="1" hangingPunct="1"/>
            <a:r>
              <a:rPr lang="en-US" altLang="en-US" sz="1800"/>
              <a:t>thus draw current; propagates down the line near speed of light</a:t>
            </a:r>
          </a:p>
          <a:p>
            <a:pPr eaLnBrk="1" hangingPunct="1"/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Question: </a:t>
            </a:r>
            <a:r>
              <a:rPr lang="en-US" altLang="en-US" sz="2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what is the ratio of voltage to current?</a:t>
            </a:r>
          </a:p>
          <a:p>
            <a:pPr lvl="1" eaLnBrk="1" hangingPunct="1"/>
            <a:r>
              <a:rPr lang="en-US" altLang="en-US" sz="1800"/>
              <a:t>because this is the </a:t>
            </a:r>
            <a:r>
              <a:rPr lang="en-US" altLang="en-US" sz="1800">
                <a:solidFill>
                  <a:schemeClr val="accent2"/>
                </a:solidFill>
              </a:rPr>
              <a:t>characteristic impedance</a:t>
            </a:r>
            <a:endParaRPr lang="en-US" altLang="en-US" sz="1800"/>
          </a:p>
          <a:p>
            <a:pPr eaLnBrk="1" hangingPunct="1"/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Answer: </a:t>
            </a:r>
            <a:r>
              <a:rPr lang="en-US" altLang="en-US" sz="2000" i="1">
                <a:effectLst>
                  <a:outerShdw blurRad="38100" dist="38100" dir="2700000" algn="tl">
                    <a:srgbClr val="C0C0C0"/>
                  </a:outerShdw>
                </a:effectLst>
              </a:rPr>
              <a:t>Z</a:t>
            </a:r>
            <a:r>
              <a:rPr lang="en-US" altLang="en-US" sz="2000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 = sqrt(</a:t>
            </a:r>
            <a:r>
              <a:rPr lang="en-US" altLang="en-US" sz="2000" i="1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L/C</a:t>
            </a:r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) = sqrt(</a:t>
            </a:r>
            <a:r>
              <a:rPr lang="en-US" altLang="en-US" sz="2000" i="1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L</a:t>
            </a:r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/</a:t>
            </a:r>
            <a:r>
              <a:rPr lang="en-US" altLang="en-US" sz="2000" i="1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C</a:t>
            </a:r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) = (1/2</a:t>
            </a:r>
            <a:r>
              <a:rPr lang="en-US" altLang="en-US" sz="2000" i="1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π</a:t>
            </a:r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)sqrt(</a:t>
            </a:r>
            <a:r>
              <a:rPr lang="en-US" altLang="en-US" sz="2000" i="1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μ</a:t>
            </a:r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/</a:t>
            </a:r>
            <a:r>
              <a:rPr lang="en-US" altLang="en-US" sz="2000" i="1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ε</a:t>
            </a:r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)ln(</a:t>
            </a:r>
            <a:r>
              <a:rPr lang="en-US" altLang="en-US" sz="2000" i="1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b</a:t>
            </a:r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/</a:t>
            </a:r>
            <a:r>
              <a:rPr lang="en-US" altLang="en-US" sz="2000" i="1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a</a:t>
            </a:r>
            <a:r>
              <a:rPr lang="en-US" altLang="en-US" sz="2000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)</a:t>
            </a:r>
          </a:p>
          <a:p>
            <a:pPr lvl="1" eaLnBrk="1" hangingPunct="1"/>
            <a:r>
              <a:rPr lang="en-US" altLang="en-US" sz="1800">
                <a:sym typeface="Symbol" panose="05050102010706020507" pitchFamily="18" charset="2"/>
              </a:rPr>
              <a:t>note that </a:t>
            </a:r>
            <a:r>
              <a:rPr lang="en-US" altLang="en-US" sz="1800" i="1">
                <a:sym typeface="Symbol" panose="05050102010706020507" pitchFamily="18" charset="2"/>
              </a:rPr>
              <a:t>Z</a:t>
            </a:r>
            <a:r>
              <a:rPr lang="en-US" altLang="en-US" sz="1800" baseline="-25000">
                <a:sym typeface="Symbol" panose="05050102010706020507" pitchFamily="18" charset="2"/>
              </a:rPr>
              <a:t>0</a:t>
            </a:r>
            <a:r>
              <a:rPr lang="en-US" altLang="en-US" sz="1800">
                <a:sym typeface="Symbol" panose="05050102010706020507" pitchFamily="18" charset="2"/>
              </a:rPr>
              <a:t> is frequency-independent</a:t>
            </a:r>
          </a:p>
        </p:txBody>
      </p:sp>
      <p:grpSp>
        <p:nvGrpSpPr>
          <p:cNvPr id="78855" name="Group 70">
            <a:extLst>
              <a:ext uri="{FF2B5EF4-FFF2-40B4-BE49-F238E27FC236}">
                <a16:creationId xmlns:a16="http://schemas.microsoft.com/office/drawing/2014/main" id="{172C6F4F-D2D8-6E00-4A33-83C44C5ADB9B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1295400"/>
            <a:ext cx="1447800" cy="838200"/>
            <a:chOff x="2160" y="1104"/>
            <a:chExt cx="912" cy="528"/>
          </a:xfrm>
        </p:grpSpPr>
        <p:grpSp>
          <p:nvGrpSpPr>
            <p:cNvPr id="78949" name="Group 41">
              <a:extLst>
                <a:ext uri="{FF2B5EF4-FFF2-40B4-BE49-F238E27FC236}">
                  <a16:creationId xmlns:a16="http://schemas.microsoft.com/office/drawing/2014/main" id="{5482A177-1A11-E64C-3C06-C3E717F3BB8A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 flipV="1">
              <a:off x="2544" y="1296"/>
              <a:ext cx="96" cy="576"/>
              <a:chOff x="2506" y="999"/>
              <a:chExt cx="96" cy="576"/>
            </a:xfrm>
          </p:grpSpPr>
          <p:grpSp>
            <p:nvGrpSpPr>
              <p:cNvPr id="78968" name="Group 42">
                <a:extLst>
                  <a:ext uri="{FF2B5EF4-FFF2-40B4-BE49-F238E27FC236}">
                    <a16:creationId xmlns:a16="http://schemas.microsoft.com/office/drawing/2014/main" id="{C2FB7AEE-1AAC-59A0-807E-5D40981A000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2506" y="999"/>
                <a:ext cx="96" cy="192"/>
                <a:chOff x="3840" y="2496"/>
                <a:chExt cx="96" cy="192"/>
              </a:xfrm>
            </p:grpSpPr>
            <p:sp>
              <p:nvSpPr>
                <p:cNvPr id="78975" name="Arc 43">
                  <a:extLst>
                    <a:ext uri="{FF2B5EF4-FFF2-40B4-BE49-F238E27FC236}">
                      <a16:creationId xmlns:a16="http://schemas.microsoft.com/office/drawing/2014/main" id="{7AFBE0C6-921D-425A-9121-B3E9B76470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840" y="2496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78976" name="Arc 44">
                  <a:extLst>
                    <a:ext uri="{FF2B5EF4-FFF2-40B4-BE49-F238E27FC236}">
                      <a16:creationId xmlns:a16="http://schemas.microsoft.com/office/drawing/2014/main" id="{1E1C32B7-869F-D2E2-6F4E-935345F105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3840" y="2592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grpSp>
            <p:nvGrpSpPr>
              <p:cNvPr id="78969" name="Group 45">
                <a:extLst>
                  <a:ext uri="{FF2B5EF4-FFF2-40B4-BE49-F238E27FC236}">
                    <a16:creationId xmlns:a16="http://schemas.microsoft.com/office/drawing/2014/main" id="{0194CA64-467B-32C0-1D87-D55011D9013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2506" y="1191"/>
                <a:ext cx="96" cy="192"/>
                <a:chOff x="3840" y="2496"/>
                <a:chExt cx="96" cy="192"/>
              </a:xfrm>
            </p:grpSpPr>
            <p:sp>
              <p:nvSpPr>
                <p:cNvPr id="78973" name="Arc 46">
                  <a:extLst>
                    <a:ext uri="{FF2B5EF4-FFF2-40B4-BE49-F238E27FC236}">
                      <a16:creationId xmlns:a16="http://schemas.microsoft.com/office/drawing/2014/main" id="{F856E231-D275-E2A3-C64C-7A8FE5FFF8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840" y="2496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78974" name="Arc 47">
                  <a:extLst>
                    <a:ext uri="{FF2B5EF4-FFF2-40B4-BE49-F238E27FC236}">
                      <a16:creationId xmlns:a16="http://schemas.microsoft.com/office/drawing/2014/main" id="{605DAAA5-931E-A61E-2BEE-B9BC92DAE2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3840" y="2592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grpSp>
            <p:nvGrpSpPr>
              <p:cNvPr id="78970" name="Group 48">
                <a:extLst>
                  <a:ext uri="{FF2B5EF4-FFF2-40B4-BE49-F238E27FC236}">
                    <a16:creationId xmlns:a16="http://schemas.microsoft.com/office/drawing/2014/main" id="{7453C2F2-A50F-9B92-4241-451F5D8874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2506" y="1383"/>
                <a:ext cx="96" cy="192"/>
                <a:chOff x="3840" y="2496"/>
                <a:chExt cx="96" cy="192"/>
              </a:xfrm>
            </p:grpSpPr>
            <p:sp>
              <p:nvSpPr>
                <p:cNvPr id="78971" name="Arc 49">
                  <a:extLst>
                    <a:ext uri="{FF2B5EF4-FFF2-40B4-BE49-F238E27FC236}">
                      <a16:creationId xmlns:a16="http://schemas.microsoft.com/office/drawing/2014/main" id="{A0EE33E8-18B2-D902-C8FA-C88E0513F8D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840" y="2496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78972" name="Arc 50">
                  <a:extLst>
                    <a:ext uri="{FF2B5EF4-FFF2-40B4-BE49-F238E27FC236}">
                      <a16:creationId xmlns:a16="http://schemas.microsoft.com/office/drawing/2014/main" id="{B8ABA219-07B3-77C4-6F1F-53282CE2C2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3840" y="2592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</p:grpSp>
        <p:grpSp>
          <p:nvGrpSpPr>
            <p:cNvPr id="78950" name="Group 51">
              <a:extLst>
                <a:ext uri="{FF2B5EF4-FFF2-40B4-BE49-F238E27FC236}">
                  <a16:creationId xmlns:a16="http://schemas.microsoft.com/office/drawing/2014/main" id="{B7712A0B-5B07-88B9-8FBF-EBA0AEE200E3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2544" y="864"/>
              <a:ext cx="96" cy="576"/>
              <a:chOff x="2506" y="999"/>
              <a:chExt cx="96" cy="576"/>
            </a:xfrm>
          </p:grpSpPr>
          <p:grpSp>
            <p:nvGrpSpPr>
              <p:cNvPr id="78959" name="Group 52">
                <a:extLst>
                  <a:ext uri="{FF2B5EF4-FFF2-40B4-BE49-F238E27FC236}">
                    <a16:creationId xmlns:a16="http://schemas.microsoft.com/office/drawing/2014/main" id="{76E218A8-7D2A-693A-F363-6FA7D76E152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2506" y="999"/>
                <a:ext cx="96" cy="192"/>
                <a:chOff x="3840" y="2496"/>
                <a:chExt cx="96" cy="192"/>
              </a:xfrm>
            </p:grpSpPr>
            <p:sp>
              <p:nvSpPr>
                <p:cNvPr id="78966" name="Arc 53">
                  <a:extLst>
                    <a:ext uri="{FF2B5EF4-FFF2-40B4-BE49-F238E27FC236}">
                      <a16:creationId xmlns:a16="http://schemas.microsoft.com/office/drawing/2014/main" id="{69F0AFAE-FF15-D29C-B3EC-C84134481A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840" y="2496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78967" name="Arc 54">
                  <a:extLst>
                    <a:ext uri="{FF2B5EF4-FFF2-40B4-BE49-F238E27FC236}">
                      <a16:creationId xmlns:a16="http://schemas.microsoft.com/office/drawing/2014/main" id="{6C155F7A-C925-B66F-7FC8-3543060502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3840" y="2592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grpSp>
            <p:nvGrpSpPr>
              <p:cNvPr id="78960" name="Group 55">
                <a:extLst>
                  <a:ext uri="{FF2B5EF4-FFF2-40B4-BE49-F238E27FC236}">
                    <a16:creationId xmlns:a16="http://schemas.microsoft.com/office/drawing/2014/main" id="{BB616F64-4063-779E-A9E4-0E6324EFF04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2506" y="1191"/>
                <a:ext cx="96" cy="192"/>
                <a:chOff x="3840" y="2496"/>
                <a:chExt cx="96" cy="192"/>
              </a:xfrm>
            </p:grpSpPr>
            <p:sp>
              <p:nvSpPr>
                <p:cNvPr id="78964" name="Arc 56">
                  <a:extLst>
                    <a:ext uri="{FF2B5EF4-FFF2-40B4-BE49-F238E27FC236}">
                      <a16:creationId xmlns:a16="http://schemas.microsoft.com/office/drawing/2014/main" id="{6DFBB5DE-A3A0-AFC0-42B7-4524A54C50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840" y="2496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78965" name="Arc 57">
                  <a:extLst>
                    <a:ext uri="{FF2B5EF4-FFF2-40B4-BE49-F238E27FC236}">
                      <a16:creationId xmlns:a16="http://schemas.microsoft.com/office/drawing/2014/main" id="{5EE6121C-E3DD-8406-0C94-68A70B8886D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3840" y="2592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grpSp>
            <p:nvGrpSpPr>
              <p:cNvPr id="78961" name="Group 58">
                <a:extLst>
                  <a:ext uri="{FF2B5EF4-FFF2-40B4-BE49-F238E27FC236}">
                    <a16:creationId xmlns:a16="http://schemas.microsoft.com/office/drawing/2014/main" id="{C6152B98-712B-86D4-7217-9DDFEDC5011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2506" y="1383"/>
                <a:ext cx="96" cy="192"/>
                <a:chOff x="3840" y="2496"/>
                <a:chExt cx="96" cy="192"/>
              </a:xfrm>
            </p:grpSpPr>
            <p:sp>
              <p:nvSpPr>
                <p:cNvPr id="78962" name="Arc 59">
                  <a:extLst>
                    <a:ext uri="{FF2B5EF4-FFF2-40B4-BE49-F238E27FC236}">
                      <a16:creationId xmlns:a16="http://schemas.microsoft.com/office/drawing/2014/main" id="{583940FE-BD2E-05CD-A2B4-698E51F3F8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840" y="2496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78963" name="Arc 60">
                  <a:extLst>
                    <a:ext uri="{FF2B5EF4-FFF2-40B4-BE49-F238E27FC236}">
                      <a16:creationId xmlns:a16="http://schemas.microsoft.com/office/drawing/2014/main" id="{12EDC2F6-5439-6C1E-E274-DB1A07BD3C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3840" y="2592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</p:grpSp>
        <p:sp>
          <p:nvSpPr>
            <p:cNvPr id="78951" name="Line 62">
              <a:extLst>
                <a:ext uri="{FF2B5EF4-FFF2-40B4-BE49-F238E27FC236}">
                  <a16:creationId xmlns:a16="http://schemas.microsoft.com/office/drawing/2014/main" id="{32537B51-8C22-D732-BD4F-DD19726E22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0" y="1200"/>
              <a:ext cx="1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8952" name="Line 63">
              <a:extLst>
                <a:ext uri="{FF2B5EF4-FFF2-40B4-BE49-F238E27FC236}">
                  <a16:creationId xmlns:a16="http://schemas.microsoft.com/office/drawing/2014/main" id="{1FE8CA81-0BD3-E1FF-4C02-AA0E323A85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0" y="1536"/>
              <a:ext cx="1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8953" name="Line 64">
              <a:extLst>
                <a:ext uri="{FF2B5EF4-FFF2-40B4-BE49-F238E27FC236}">
                  <a16:creationId xmlns:a16="http://schemas.microsoft.com/office/drawing/2014/main" id="{DAB13B4B-F704-178A-9C25-C99E28AF36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0" y="1200"/>
              <a:ext cx="1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8954" name="Line 65">
              <a:extLst>
                <a:ext uri="{FF2B5EF4-FFF2-40B4-BE49-F238E27FC236}">
                  <a16:creationId xmlns:a16="http://schemas.microsoft.com/office/drawing/2014/main" id="{21B9E979-037D-9A00-E89C-5AAC65572F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0" y="1536"/>
              <a:ext cx="1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8955" name="Line 66">
              <a:extLst>
                <a:ext uri="{FF2B5EF4-FFF2-40B4-BE49-F238E27FC236}">
                  <a16:creationId xmlns:a16="http://schemas.microsoft.com/office/drawing/2014/main" id="{4294E640-C9F3-C0E6-7FDA-99E9706DCF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1200"/>
              <a:ext cx="0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8956" name="Line 67">
              <a:extLst>
                <a:ext uri="{FF2B5EF4-FFF2-40B4-BE49-F238E27FC236}">
                  <a16:creationId xmlns:a16="http://schemas.microsoft.com/office/drawing/2014/main" id="{58688506-01B4-FE3F-EB4A-52EB458BF7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76" y="1344"/>
              <a:ext cx="9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8957" name="Line 68">
              <a:extLst>
                <a:ext uri="{FF2B5EF4-FFF2-40B4-BE49-F238E27FC236}">
                  <a16:creationId xmlns:a16="http://schemas.microsoft.com/office/drawing/2014/main" id="{5EDEAF4E-9C5C-BD1E-6187-F9AB0C203E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76" y="1392"/>
              <a:ext cx="9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8958" name="Line 69">
              <a:extLst>
                <a:ext uri="{FF2B5EF4-FFF2-40B4-BE49-F238E27FC236}">
                  <a16:creationId xmlns:a16="http://schemas.microsoft.com/office/drawing/2014/main" id="{E67C73A2-85B2-10CB-0759-3AB650C6EA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1392"/>
              <a:ext cx="0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78856" name="Group 71">
            <a:extLst>
              <a:ext uri="{FF2B5EF4-FFF2-40B4-BE49-F238E27FC236}">
                <a16:creationId xmlns:a16="http://schemas.microsoft.com/office/drawing/2014/main" id="{1819A414-5F7B-ABBD-953E-26B91666CEBE}"/>
              </a:ext>
            </a:extLst>
          </p:cNvPr>
          <p:cNvGrpSpPr>
            <a:grpSpLocks/>
          </p:cNvGrpSpPr>
          <p:nvPr/>
        </p:nvGrpSpPr>
        <p:grpSpPr bwMode="auto">
          <a:xfrm>
            <a:off x="2514600" y="1295400"/>
            <a:ext cx="1447800" cy="838200"/>
            <a:chOff x="2160" y="1104"/>
            <a:chExt cx="912" cy="528"/>
          </a:xfrm>
        </p:grpSpPr>
        <p:grpSp>
          <p:nvGrpSpPr>
            <p:cNvPr id="78921" name="Group 72">
              <a:extLst>
                <a:ext uri="{FF2B5EF4-FFF2-40B4-BE49-F238E27FC236}">
                  <a16:creationId xmlns:a16="http://schemas.microsoft.com/office/drawing/2014/main" id="{B7785870-0F21-0BB2-51BC-AC2643AEFDAE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 flipV="1">
              <a:off x="2544" y="1296"/>
              <a:ext cx="96" cy="576"/>
              <a:chOff x="2506" y="999"/>
              <a:chExt cx="96" cy="576"/>
            </a:xfrm>
          </p:grpSpPr>
          <p:grpSp>
            <p:nvGrpSpPr>
              <p:cNvPr id="78940" name="Group 73">
                <a:extLst>
                  <a:ext uri="{FF2B5EF4-FFF2-40B4-BE49-F238E27FC236}">
                    <a16:creationId xmlns:a16="http://schemas.microsoft.com/office/drawing/2014/main" id="{002901E9-B45B-7CA3-35F9-F1FCEDFCED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2506" y="999"/>
                <a:ext cx="96" cy="192"/>
                <a:chOff x="3840" y="2496"/>
                <a:chExt cx="96" cy="192"/>
              </a:xfrm>
            </p:grpSpPr>
            <p:sp>
              <p:nvSpPr>
                <p:cNvPr id="78947" name="Arc 74">
                  <a:extLst>
                    <a:ext uri="{FF2B5EF4-FFF2-40B4-BE49-F238E27FC236}">
                      <a16:creationId xmlns:a16="http://schemas.microsoft.com/office/drawing/2014/main" id="{83CADBB4-EC17-7E38-8F1A-597839AF65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840" y="2496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78948" name="Arc 75">
                  <a:extLst>
                    <a:ext uri="{FF2B5EF4-FFF2-40B4-BE49-F238E27FC236}">
                      <a16:creationId xmlns:a16="http://schemas.microsoft.com/office/drawing/2014/main" id="{E5496D0E-A2E2-8150-3991-FCAD49918E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3840" y="2592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grpSp>
            <p:nvGrpSpPr>
              <p:cNvPr id="78941" name="Group 76">
                <a:extLst>
                  <a:ext uri="{FF2B5EF4-FFF2-40B4-BE49-F238E27FC236}">
                    <a16:creationId xmlns:a16="http://schemas.microsoft.com/office/drawing/2014/main" id="{F673334B-8A69-6108-767E-83EBBEA9FD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2506" y="1191"/>
                <a:ext cx="96" cy="192"/>
                <a:chOff x="3840" y="2496"/>
                <a:chExt cx="96" cy="192"/>
              </a:xfrm>
            </p:grpSpPr>
            <p:sp>
              <p:nvSpPr>
                <p:cNvPr id="78945" name="Arc 77">
                  <a:extLst>
                    <a:ext uri="{FF2B5EF4-FFF2-40B4-BE49-F238E27FC236}">
                      <a16:creationId xmlns:a16="http://schemas.microsoft.com/office/drawing/2014/main" id="{CDF6980E-EFFE-A462-32D1-80E735D56D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840" y="2496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78946" name="Arc 78">
                  <a:extLst>
                    <a:ext uri="{FF2B5EF4-FFF2-40B4-BE49-F238E27FC236}">
                      <a16:creationId xmlns:a16="http://schemas.microsoft.com/office/drawing/2014/main" id="{A72CB3B1-2C86-B3F1-9DEE-241D68F1F0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3840" y="2592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grpSp>
            <p:nvGrpSpPr>
              <p:cNvPr id="78942" name="Group 79">
                <a:extLst>
                  <a:ext uri="{FF2B5EF4-FFF2-40B4-BE49-F238E27FC236}">
                    <a16:creationId xmlns:a16="http://schemas.microsoft.com/office/drawing/2014/main" id="{D836FF59-C7F2-58E5-DEC1-283F6DA417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2506" y="1383"/>
                <a:ext cx="96" cy="192"/>
                <a:chOff x="3840" y="2496"/>
                <a:chExt cx="96" cy="192"/>
              </a:xfrm>
            </p:grpSpPr>
            <p:sp>
              <p:nvSpPr>
                <p:cNvPr id="78943" name="Arc 80">
                  <a:extLst>
                    <a:ext uri="{FF2B5EF4-FFF2-40B4-BE49-F238E27FC236}">
                      <a16:creationId xmlns:a16="http://schemas.microsoft.com/office/drawing/2014/main" id="{3C2C662B-D367-25CD-8C36-72DEBEC9F4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840" y="2496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78944" name="Arc 81">
                  <a:extLst>
                    <a:ext uri="{FF2B5EF4-FFF2-40B4-BE49-F238E27FC236}">
                      <a16:creationId xmlns:a16="http://schemas.microsoft.com/office/drawing/2014/main" id="{60C4ACD8-D47A-F430-6251-951D0D9A4C1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3840" y="2592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</p:grpSp>
        <p:grpSp>
          <p:nvGrpSpPr>
            <p:cNvPr id="78922" name="Group 82">
              <a:extLst>
                <a:ext uri="{FF2B5EF4-FFF2-40B4-BE49-F238E27FC236}">
                  <a16:creationId xmlns:a16="http://schemas.microsoft.com/office/drawing/2014/main" id="{0CB884FF-92C3-F7D9-B45F-C47BD3427272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2544" y="864"/>
              <a:ext cx="96" cy="576"/>
              <a:chOff x="2506" y="999"/>
              <a:chExt cx="96" cy="576"/>
            </a:xfrm>
          </p:grpSpPr>
          <p:grpSp>
            <p:nvGrpSpPr>
              <p:cNvPr id="78931" name="Group 83">
                <a:extLst>
                  <a:ext uri="{FF2B5EF4-FFF2-40B4-BE49-F238E27FC236}">
                    <a16:creationId xmlns:a16="http://schemas.microsoft.com/office/drawing/2014/main" id="{B26B4117-3F2E-BAFB-B381-2F00637BB8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2506" y="999"/>
                <a:ext cx="96" cy="192"/>
                <a:chOff x="3840" y="2496"/>
                <a:chExt cx="96" cy="192"/>
              </a:xfrm>
            </p:grpSpPr>
            <p:sp>
              <p:nvSpPr>
                <p:cNvPr id="78938" name="Arc 84">
                  <a:extLst>
                    <a:ext uri="{FF2B5EF4-FFF2-40B4-BE49-F238E27FC236}">
                      <a16:creationId xmlns:a16="http://schemas.microsoft.com/office/drawing/2014/main" id="{D2A50BC1-685D-B071-872C-449AF1BA15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840" y="2496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78939" name="Arc 85">
                  <a:extLst>
                    <a:ext uri="{FF2B5EF4-FFF2-40B4-BE49-F238E27FC236}">
                      <a16:creationId xmlns:a16="http://schemas.microsoft.com/office/drawing/2014/main" id="{87C69416-776E-4223-C8A0-686FE857E1D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3840" y="2592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grpSp>
            <p:nvGrpSpPr>
              <p:cNvPr id="78932" name="Group 86">
                <a:extLst>
                  <a:ext uri="{FF2B5EF4-FFF2-40B4-BE49-F238E27FC236}">
                    <a16:creationId xmlns:a16="http://schemas.microsoft.com/office/drawing/2014/main" id="{FFD3922C-6D04-742C-115A-585DD09E9D6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2506" y="1191"/>
                <a:ext cx="96" cy="192"/>
                <a:chOff x="3840" y="2496"/>
                <a:chExt cx="96" cy="192"/>
              </a:xfrm>
            </p:grpSpPr>
            <p:sp>
              <p:nvSpPr>
                <p:cNvPr id="78936" name="Arc 87">
                  <a:extLst>
                    <a:ext uri="{FF2B5EF4-FFF2-40B4-BE49-F238E27FC236}">
                      <a16:creationId xmlns:a16="http://schemas.microsoft.com/office/drawing/2014/main" id="{6BD4A428-F979-0ECE-0EE6-8F208B4629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840" y="2496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78937" name="Arc 88">
                  <a:extLst>
                    <a:ext uri="{FF2B5EF4-FFF2-40B4-BE49-F238E27FC236}">
                      <a16:creationId xmlns:a16="http://schemas.microsoft.com/office/drawing/2014/main" id="{14D52EE9-FB65-38AA-A40F-3168DFEC101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3840" y="2592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grpSp>
            <p:nvGrpSpPr>
              <p:cNvPr id="78933" name="Group 89">
                <a:extLst>
                  <a:ext uri="{FF2B5EF4-FFF2-40B4-BE49-F238E27FC236}">
                    <a16:creationId xmlns:a16="http://schemas.microsoft.com/office/drawing/2014/main" id="{65B5BC97-56B8-C68E-9DB7-4AA884FE60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2506" y="1383"/>
                <a:ext cx="96" cy="192"/>
                <a:chOff x="3840" y="2496"/>
                <a:chExt cx="96" cy="192"/>
              </a:xfrm>
            </p:grpSpPr>
            <p:sp>
              <p:nvSpPr>
                <p:cNvPr id="78934" name="Arc 90">
                  <a:extLst>
                    <a:ext uri="{FF2B5EF4-FFF2-40B4-BE49-F238E27FC236}">
                      <a16:creationId xmlns:a16="http://schemas.microsoft.com/office/drawing/2014/main" id="{2FA248EF-19E9-CD44-B8E3-5C9DC461BD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840" y="2496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78935" name="Arc 91">
                  <a:extLst>
                    <a:ext uri="{FF2B5EF4-FFF2-40B4-BE49-F238E27FC236}">
                      <a16:creationId xmlns:a16="http://schemas.microsoft.com/office/drawing/2014/main" id="{5F9904FB-CBF3-5930-9F72-8E0D8D10F1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3840" y="2592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</p:grpSp>
        <p:sp>
          <p:nvSpPr>
            <p:cNvPr id="78923" name="Line 92">
              <a:extLst>
                <a:ext uri="{FF2B5EF4-FFF2-40B4-BE49-F238E27FC236}">
                  <a16:creationId xmlns:a16="http://schemas.microsoft.com/office/drawing/2014/main" id="{C77837F8-DC7D-BF73-9C1A-F5964D90BA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0" y="1200"/>
              <a:ext cx="1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8924" name="Line 93">
              <a:extLst>
                <a:ext uri="{FF2B5EF4-FFF2-40B4-BE49-F238E27FC236}">
                  <a16:creationId xmlns:a16="http://schemas.microsoft.com/office/drawing/2014/main" id="{0CFCDF89-9E45-2FDF-FAE9-F19D288C70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0" y="1536"/>
              <a:ext cx="1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8925" name="Line 94">
              <a:extLst>
                <a:ext uri="{FF2B5EF4-FFF2-40B4-BE49-F238E27FC236}">
                  <a16:creationId xmlns:a16="http://schemas.microsoft.com/office/drawing/2014/main" id="{84663580-1BB9-8F9B-44AC-A459A6B62C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0" y="1200"/>
              <a:ext cx="1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8926" name="Line 95">
              <a:extLst>
                <a:ext uri="{FF2B5EF4-FFF2-40B4-BE49-F238E27FC236}">
                  <a16:creationId xmlns:a16="http://schemas.microsoft.com/office/drawing/2014/main" id="{D45BA13B-9571-0DAA-C2D2-2996B4C263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0" y="1536"/>
              <a:ext cx="1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8927" name="Line 96">
              <a:extLst>
                <a:ext uri="{FF2B5EF4-FFF2-40B4-BE49-F238E27FC236}">
                  <a16:creationId xmlns:a16="http://schemas.microsoft.com/office/drawing/2014/main" id="{117E60E0-E573-8CE2-E17C-7CAB4CEB70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1200"/>
              <a:ext cx="0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8928" name="Line 97">
              <a:extLst>
                <a:ext uri="{FF2B5EF4-FFF2-40B4-BE49-F238E27FC236}">
                  <a16:creationId xmlns:a16="http://schemas.microsoft.com/office/drawing/2014/main" id="{5951B239-FED0-98A3-D2F0-F072B148A5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76" y="1344"/>
              <a:ext cx="9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8929" name="Line 98">
              <a:extLst>
                <a:ext uri="{FF2B5EF4-FFF2-40B4-BE49-F238E27FC236}">
                  <a16:creationId xmlns:a16="http://schemas.microsoft.com/office/drawing/2014/main" id="{6CC0C7E5-DD65-8E4D-7C7E-8ED1CD1CF1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76" y="1392"/>
              <a:ext cx="9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8930" name="Line 99">
              <a:extLst>
                <a:ext uri="{FF2B5EF4-FFF2-40B4-BE49-F238E27FC236}">
                  <a16:creationId xmlns:a16="http://schemas.microsoft.com/office/drawing/2014/main" id="{DE7AC531-8465-599B-1363-0B1D30BDFF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1392"/>
              <a:ext cx="0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78857" name="Group 100">
            <a:extLst>
              <a:ext uri="{FF2B5EF4-FFF2-40B4-BE49-F238E27FC236}">
                <a16:creationId xmlns:a16="http://schemas.microsoft.com/office/drawing/2014/main" id="{2F792D13-9458-F4D5-4BC6-83A41291C355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1295400"/>
            <a:ext cx="1447800" cy="838200"/>
            <a:chOff x="2160" y="1104"/>
            <a:chExt cx="912" cy="528"/>
          </a:xfrm>
        </p:grpSpPr>
        <p:grpSp>
          <p:nvGrpSpPr>
            <p:cNvPr id="78893" name="Group 101">
              <a:extLst>
                <a:ext uri="{FF2B5EF4-FFF2-40B4-BE49-F238E27FC236}">
                  <a16:creationId xmlns:a16="http://schemas.microsoft.com/office/drawing/2014/main" id="{2CEC1D54-F13F-8EC8-A38E-A67B9E2D18E2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 flipV="1">
              <a:off x="2544" y="1296"/>
              <a:ext cx="96" cy="576"/>
              <a:chOff x="2506" y="999"/>
              <a:chExt cx="96" cy="576"/>
            </a:xfrm>
          </p:grpSpPr>
          <p:grpSp>
            <p:nvGrpSpPr>
              <p:cNvPr id="78912" name="Group 102">
                <a:extLst>
                  <a:ext uri="{FF2B5EF4-FFF2-40B4-BE49-F238E27FC236}">
                    <a16:creationId xmlns:a16="http://schemas.microsoft.com/office/drawing/2014/main" id="{6F526D6C-57EB-EF52-58B9-CCD850C18E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2506" y="999"/>
                <a:ext cx="96" cy="192"/>
                <a:chOff x="3840" y="2496"/>
                <a:chExt cx="96" cy="192"/>
              </a:xfrm>
            </p:grpSpPr>
            <p:sp>
              <p:nvSpPr>
                <p:cNvPr id="78919" name="Arc 103">
                  <a:extLst>
                    <a:ext uri="{FF2B5EF4-FFF2-40B4-BE49-F238E27FC236}">
                      <a16:creationId xmlns:a16="http://schemas.microsoft.com/office/drawing/2014/main" id="{C2FB1D93-797D-DDDA-AA05-BD0DC017F98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840" y="2496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78920" name="Arc 104">
                  <a:extLst>
                    <a:ext uri="{FF2B5EF4-FFF2-40B4-BE49-F238E27FC236}">
                      <a16:creationId xmlns:a16="http://schemas.microsoft.com/office/drawing/2014/main" id="{368D0889-5A93-0706-CE5D-CB062DD9C9B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3840" y="2592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grpSp>
            <p:nvGrpSpPr>
              <p:cNvPr id="78913" name="Group 105">
                <a:extLst>
                  <a:ext uri="{FF2B5EF4-FFF2-40B4-BE49-F238E27FC236}">
                    <a16:creationId xmlns:a16="http://schemas.microsoft.com/office/drawing/2014/main" id="{B8C0CB6A-713C-1DDF-E8DA-E813ADE86DB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2506" y="1191"/>
                <a:ext cx="96" cy="192"/>
                <a:chOff x="3840" y="2496"/>
                <a:chExt cx="96" cy="192"/>
              </a:xfrm>
            </p:grpSpPr>
            <p:sp>
              <p:nvSpPr>
                <p:cNvPr id="78917" name="Arc 106">
                  <a:extLst>
                    <a:ext uri="{FF2B5EF4-FFF2-40B4-BE49-F238E27FC236}">
                      <a16:creationId xmlns:a16="http://schemas.microsoft.com/office/drawing/2014/main" id="{571DA828-CFBA-04A0-7E36-4FE111A3B3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840" y="2496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78918" name="Arc 107">
                  <a:extLst>
                    <a:ext uri="{FF2B5EF4-FFF2-40B4-BE49-F238E27FC236}">
                      <a16:creationId xmlns:a16="http://schemas.microsoft.com/office/drawing/2014/main" id="{C8E62A7C-D04A-E3A3-F6A4-E07D54A333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3840" y="2592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grpSp>
            <p:nvGrpSpPr>
              <p:cNvPr id="78914" name="Group 108">
                <a:extLst>
                  <a:ext uri="{FF2B5EF4-FFF2-40B4-BE49-F238E27FC236}">
                    <a16:creationId xmlns:a16="http://schemas.microsoft.com/office/drawing/2014/main" id="{02CC1732-ECB3-7858-6C6D-CDF6B2F7ED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2506" y="1383"/>
                <a:ext cx="96" cy="192"/>
                <a:chOff x="3840" y="2496"/>
                <a:chExt cx="96" cy="192"/>
              </a:xfrm>
            </p:grpSpPr>
            <p:sp>
              <p:nvSpPr>
                <p:cNvPr id="78915" name="Arc 109">
                  <a:extLst>
                    <a:ext uri="{FF2B5EF4-FFF2-40B4-BE49-F238E27FC236}">
                      <a16:creationId xmlns:a16="http://schemas.microsoft.com/office/drawing/2014/main" id="{574DC06C-94DD-5EA8-02FE-AC799A90D8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840" y="2496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78916" name="Arc 110">
                  <a:extLst>
                    <a:ext uri="{FF2B5EF4-FFF2-40B4-BE49-F238E27FC236}">
                      <a16:creationId xmlns:a16="http://schemas.microsoft.com/office/drawing/2014/main" id="{69AD255E-FF63-6372-36EC-B57D8C3A51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3840" y="2592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</p:grpSp>
        <p:grpSp>
          <p:nvGrpSpPr>
            <p:cNvPr id="78894" name="Group 111">
              <a:extLst>
                <a:ext uri="{FF2B5EF4-FFF2-40B4-BE49-F238E27FC236}">
                  <a16:creationId xmlns:a16="http://schemas.microsoft.com/office/drawing/2014/main" id="{28B31015-7376-5495-4858-7F3BD8409BD9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2544" y="864"/>
              <a:ext cx="96" cy="576"/>
              <a:chOff x="2506" y="999"/>
              <a:chExt cx="96" cy="576"/>
            </a:xfrm>
          </p:grpSpPr>
          <p:grpSp>
            <p:nvGrpSpPr>
              <p:cNvPr id="78903" name="Group 112">
                <a:extLst>
                  <a:ext uri="{FF2B5EF4-FFF2-40B4-BE49-F238E27FC236}">
                    <a16:creationId xmlns:a16="http://schemas.microsoft.com/office/drawing/2014/main" id="{2EE46B0C-11A0-0B86-9AB4-8D591F36D0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2506" y="999"/>
                <a:ext cx="96" cy="192"/>
                <a:chOff x="3840" y="2496"/>
                <a:chExt cx="96" cy="192"/>
              </a:xfrm>
            </p:grpSpPr>
            <p:sp>
              <p:nvSpPr>
                <p:cNvPr id="78910" name="Arc 113">
                  <a:extLst>
                    <a:ext uri="{FF2B5EF4-FFF2-40B4-BE49-F238E27FC236}">
                      <a16:creationId xmlns:a16="http://schemas.microsoft.com/office/drawing/2014/main" id="{0DEF94D8-36DA-41CF-9BDA-3D2F5115947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840" y="2496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78911" name="Arc 114">
                  <a:extLst>
                    <a:ext uri="{FF2B5EF4-FFF2-40B4-BE49-F238E27FC236}">
                      <a16:creationId xmlns:a16="http://schemas.microsoft.com/office/drawing/2014/main" id="{B3001078-4A74-A611-BBB2-B45D1C30D3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3840" y="2592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grpSp>
            <p:nvGrpSpPr>
              <p:cNvPr id="78904" name="Group 115">
                <a:extLst>
                  <a:ext uri="{FF2B5EF4-FFF2-40B4-BE49-F238E27FC236}">
                    <a16:creationId xmlns:a16="http://schemas.microsoft.com/office/drawing/2014/main" id="{1177D18B-77F3-6A1A-7BCB-636D7705F0D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2506" y="1191"/>
                <a:ext cx="96" cy="192"/>
                <a:chOff x="3840" y="2496"/>
                <a:chExt cx="96" cy="192"/>
              </a:xfrm>
            </p:grpSpPr>
            <p:sp>
              <p:nvSpPr>
                <p:cNvPr id="78908" name="Arc 116">
                  <a:extLst>
                    <a:ext uri="{FF2B5EF4-FFF2-40B4-BE49-F238E27FC236}">
                      <a16:creationId xmlns:a16="http://schemas.microsoft.com/office/drawing/2014/main" id="{DE9A6557-F261-C955-64BC-7745FF04AF2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840" y="2496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78909" name="Arc 117">
                  <a:extLst>
                    <a:ext uri="{FF2B5EF4-FFF2-40B4-BE49-F238E27FC236}">
                      <a16:creationId xmlns:a16="http://schemas.microsoft.com/office/drawing/2014/main" id="{30FCFA27-417C-6AAF-6FD9-09D670112D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3840" y="2592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grpSp>
            <p:nvGrpSpPr>
              <p:cNvPr id="78905" name="Group 118">
                <a:extLst>
                  <a:ext uri="{FF2B5EF4-FFF2-40B4-BE49-F238E27FC236}">
                    <a16:creationId xmlns:a16="http://schemas.microsoft.com/office/drawing/2014/main" id="{9D667D81-6743-C708-5844-F85F1D872FD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2506" y="1383"/>
                <a:ext cx="96" cy="192"/>
                <a:chOff x="3840" y="2496"/>
                <a:chExt cx="96" cy="192"/>
              </a:xfrm>
            </p:grpSpPr>
            <p:sp>
              <p:nvSpPr>
                <p:cNvPr id="78906" name="Arc 119">
                  <a:extLst>
                    <a:ext uri="{FF2B5EF4-FFF2-40B4-BE49-F238E27FC236}">
                      <a16:creationId xmlns:a16="http://schemas.microsoft.com/office/drawing/2014/main" id="{30D838F2-2B3D-9089-867F-E3A6278CF0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840" y="2496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78907" name="Arc 120">
                  <a:extLst>
                    <a:ext uri="{FF2B5EF4-FFF2-40B4-BE49-F238E27FC236}">
                      <a16:creationId xmlns:a16="http://schemas.microsoft.com/office/drawing/2014/main" id="{FEED97F5-CFA7-E34B-03EB-C23548BFA6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3840" y="2592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</p:grpSp>
        <p:sp>
          <p:nvSpPr>
            <p:cNvPr id="78895" name="Line 121">
              <a:extLst>
                <a:ext uri="{FF2B5EF4-FFF2-40B4-BE49-F238E27FC236}">
                  <a16:creationId xmlns:a16="http://schemas.microsoft.com/office/drawing/2014/main" id="{B8B58C59-4E2C-3CB3-BACE-4DB7CC3F0D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0" y="1200"/>
              <a:ext cx="1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8896" name="Line 122">
              <a:extLst>
                <a:ext uri="{FF2B5EF4-FFF2-40B4-BE49-F238E27FC236}">
                  <a16:creationId xmlns:a16="http://schemas.microsoft.com/office/drawing/2014/main" id="{B27E648F-BCF9-86FE-1FDA-581E9E7FB5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0" y="1536"/>
              <a:ext cx="1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8897" name="Line 123">
              <a:extLst>
                <a:ext uri="{FF2B5EF4-FFF2-40B4-BE49-F238E27FC236}">
                  <a16:creationId xmlns:a16="http://schemas.microsoft.com/office/drawing/2014/main" id="{D77B3E4F-2D2A-5932-8D49-053712206A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0" y="1200"/>
              <a:ext cx="1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8898" name="Line 124">
              <a:extLst>
                <a:ext uri="{FF2B5EF4-FFF2-40B4-BE49-F238E27FC236}">
                  <a16:creationId xmlns:a16="http://schemas.microsoft.com/office/drawing/2014/main" id="{B7A539FD-C04A-FB1A-F41C-691A015DA0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0" y="1536"/>
              <a:ext cx="1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8899" name="Line 125">
              <a:extLst>
                <a:ext uri="{FF2B5EF4-FFF2-40B4-BE49-F238E27FC236}">
                  <a16:creationId xmlns:a16="http://schemas.microsoft.com/office/drawing/2014/main" id="{A1BAFDC6-978A-4002-F82F-3C4CDDEA9C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1200"/>
              <a:ext cx="0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8900" name="Line 126">
              <a:extLst>
                <a:ext uri="{FF2B5EF4-FFF2-40B4-BE49-F238E27FC236}">
                  <a16:creationId xmlns:a16="http://schemas.microsoft.com/office/drawing/2014/main" id="{E171862E-189C-9F44-1335-7050EEA165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76" y="1344"/>
              <a:ext cx="9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8901" name="Line 127">
              <a:extLst>
                <a:ext uri="{FF2B5EF4-FFF2-40B4-BE49-F238E27FC236}">
                  <a16:creationId xmlns:a16="http://schemas.microsoft.com/office/drawing/2014/main" id="{4EFD890B-F19E-B53E-E3F7-C600D82B27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76" y="1392"/>
              <a:ext cx="9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8902" name="Line 128">
              <a:extLst>
                <a:ext uri="{FF2B5EF4-FFF2-40B4-BE49-F238E27FC236}">
                  <a16:creationId xmlns:a16="http://schemas.microsoft.com/office/drawing/2014/main" id="{EBE05DBA-6D1F-E995-2881-369EDAB554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1392"/>
              <a:ext cx="0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78858" name="Group 129">
            <a:extLst>
              <a:ext uri="{FF2B5EF4-FFF2-40B4-BE49-F238E27FC236}">
                <a16:creationId xmlns:a16="http://schemas.microsoft.com/office/drawing/2014/main" id="{0237CA58-8F09-A461-18AC-8885000A8BF9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1295400"/>
            <a:ext cx="1447800" cy="838200"/>
            <a:chOff x="2160" y="1104"/>
            <a:chExt cx="912" cy="528"/>
          </a:xfrm>
        </p:grpSpPr>
        <p:grpSp>
          <p:nvGrpSpPr>
            <p:cNvPr id="78865" name="Group 130">
              <a:extLst>
                <a:ext uri="{FF2B5EF4-FFF2-40B4-BE49-F238E27FC236}">
                  <a16:creationId xmlns:a16="http://schemas.microsoft.com/office/drawing/2014/main" id="{0C954611-D4CD-02C5-85E7-F5AA5E1EA8F4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 flipV="1">
              <a:off x="2544" y="1296"/>
              <a:ext cx="96" cy="576"/>
              <a:chOff x="2506" y="999"/>
              <a:chExt cx="96" cy="576"/>
            </a:xfrm>
          </p:grpSpPr>
          <p:grpSp>
            <p:nvGrpSpPr>
              <p:cNvPr id="78884" name="Group 131">
                <a:extLst>
                  <a:ext uri="{FF2B5EF4-FFF2-40B4-BE49-F238E27FC236}">
                    <a16:creationId xmlns:a16="http://schemas.microsoft.com/office/drawing/2014/main" id="{BAF14643-A45A-F68D-2AB3-DB8C40B685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2506" y="999"/>
                <a:ext cx="96" cy="192"/>
                <a:chOff x="3840" y="2496"/>
                <a:chExt cx="96" cy="192"/>
              </a:xfrm>
            </p:grpSpPr>
            <p:sp>
              <p:nvSpPr>
                <p:cNvPr id="78891" name="Arc 132">
                  <a:extLst>
                    <a:ext uri="{FF2B5EF4-FFF2-40B4-BE49-F238E27FC236}">
                      <a16:creationId xmlns:a16="http://schemas.microsoft.com/office/drawing/2014/main" id="{BB3600EC-1017-FE11-F490-16A3530986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840" y="2496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78892" name="Arc 133">
                  <a:extLst>
                    <a:ext uri="{FF2B5EF4-FFF2-40B4-BE49-F238E27FC236}">
                      <a16:creationId xmlns:a16="http://schemas.microsoft.com/office/drawing/2014/main" id="{289901CF-6C82-3137-EC1A-08CB73F846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3840" y="2592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grpSp>
            <p:nvGrpSpPr>
              <p:cNvPr id="78885" name="Group 134">
                <a:extLst>
                  <a:ext uri="{FF2B5EF4-FFF2-40B4-BE49-F238E27FC236}">
                    <a16:creationId xmlns:a16="http://schemas.microsoft.com/office/drawing/2014/main" id="{68BC2800-0F22-8920-9C32-6C736BB6AE7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2506" y="1191"/>
                <a:ext cx="96" cy="192"/>
                <a:chOff x="3840" y="2496"/>
                <a:chExt cx="96" cy="192"/>
              </a:xfrm>
            </p:grpSpPr>
            <p:sp>
              <p:nvSpPr>
                <p:cNvPr id="78889" name="Arc 135">
                  <a:extLst>
                    <a:ext uri="{FF2B5EF4-FFF2-40B4-BE49-F238E27FC236}">
                      <a16:creationId xmlns:a16="http://schemas.microsoft.com/office/drawing/2014/main" id="{F59163E1-875B-DC44-1938-D6817C9C65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840" y="2496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78890" name="Arc 136">
                  <a:extLst>
                    <a:ext uri="{FF2B5EF4-FFF2-40B4-BE49-F238E27FC236}">
                      <a16:creationId xmlns:a16="http://schemas.microsoft.com/office/drawing/2014/main" id="{D3805026-0511-E814-6CFA-BCFE822108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3840" y="2592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grpSp>
            <p:nvGrpSpPr>
              <p:cNvPr id="78886" name="Group 137">
                <a:extLst>
                  <a:ext uri="{FF2B5EF4-FFF2-40B4-BE49-F238E27FC236}">
                    <a16:creationId xmlns:a16="http://schemas.microsoft.com/office/drawing/2014/main" id="{F37E927E-A92B-6EC1-92AE-A1738F77F84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2506" y="1383"/>
                <a:ext cx="96" cy="192"/>
                <a:chOff x="3840" y="2496"/>
                <a:chExt cx="96" cy="192"/>
              </a:xfrm>
            </p:grpSpPr>
            <p:sp>
              <p:nvSpPr>
                <p:cNvPr id="78887" name="Arc 138">
                  <a:extLst>
                    <a:ext uri="{FF2B5EF4-FFF2-40B4-BE49-F238E27FC236}">
                      <a16:creationId xmlns:a16="http://schemas.microsoft.com/office/drawing/2014/main" id="{21790DE9-63A9-27C3-5B33-AEDFBE9BE3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840" y="2496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78888" name="Arc 139">
                  <a:extLst>
                    <a:ext uri="{FF2B5EF4-FFF2-40B4-BE49-F238E27FC236}">
                      <a16:creationId xmlns:a16="http://schemas.microsoft.com/office/drawing/2014/main" id="{247F711B-D173-7079-3911-EB980DB10A0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3840" y="2592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</p:grpSp>
        <p:grpSp>
          <p:nvGrpSpPr>
            <p:cNvPr id="78866" name="Group 140">
              <a:extLst>
                <a:ext uri="{FF2B5EF4-FFF2-40B4-BE49-F238E27FC236}">
                  <a16:creationId xmlns:a16="http://schemas.microsoft.com/office/drawing/2014/main" id="{2D6C63FD-A6B6-ACB0-7A8F-037735592F59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2544" y="864"/>
              <a:ext cx="96" cy="576"/>
              <a:chOff x="2506" y="999"/>
              <a:chExt cx="96" cy="576"/>
            </a:xfrm>
          </p:grpSpPr>
          <p:grpSp>
            <p:nvGrpSpPr>
              <p:cNvPr id="78875" name="Group 141">
                <a:extLst>
                  <a:ext uri="{FF2B5EF4-FFF2-40B4-BE49-F238E27FC236}">
                    <a16:creationId xmlns:a16="http://schemas.microsoft.com/office/drawing/2014/main" id="{8F556DEA-A5BA-151B-CE7C-CCAD135871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2506" y="999"/>
                <a:ext cx="96" cy="192"/>
                <a:chOff x="3840" y="2496"/>
                <a:chExt cx="96" cy="192"/>
              </a:xfrm>
            </p:grpSpPr>
            <p:sp>
              <p:nvSpPr>
                <p:cNvPr id="78882" name="Arc 142">
                  <a:extLst>
                    <a:ext uri="{FF2B5EF4-FFF2-40B4-BE49-F238E27FC236}">
                      <a16:creationId xmlns:a16="http://schemas.microsoft.com/office/drawing/2014/main" id="{9939C574-14CF-1247-09F4-2DF1D2B293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840" y="2496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78883" name="Arc 143">
                  <a:extLst>
                    <a:ext uri="{FF2B5EF4-FFF2-40B4-BE49-F238E27FC236}">
                      <a16:creationId xmlns:a16="http://schemas.microsoft.com/office/drawing/2014/main" id="{E7AAE628-D80F-14A3-E7F8-A6157EEDA2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3840" y="2592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grpSp>
            <p:nvGrpSpPr>
              <p:cNvPr id="78876" name="Group 144">
                <a:extLst>
                  <a:ext uri="{FF2B5EF4-FFF2-40B4-BE49-F238E27FC236}">
                    <a16:creationId xmlns:a16="http://schemas.microsoft.com/office/drawing/2014/main" id="{3C65C341-5CA1-2196-186B-4BE759F24E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2506" y="1191"/>
                <a:ext cx="96" cy="192"/>
                <a:chOff x="3840" y="2496"/>
                <a:chExt cx="96" cy="192"/>
              </a:xfrm>
            </p:grpSpPr>
            <p:sp>
              <p:nvSpPr>
                <p:cNvPr id="78880" name="Arc 145">
                  <a:extLst>
                    <a:ext uri="{FF2B5EF4-FFF2-40B4-BE49-F238E27FC236}">
                      <a16:creationId xmlns:a16="http://schemas.microsoft.com/office/drawing/2014/main" id="{17C428DE-9BC4-C22B-E0A7-32587D8950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840" y="2496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78881" name="Arc 146">
                  <a:extLst>
                    <a:ext uri="{FF2B5EF4-FFF2-40B4-BE49-F238E27FC236}">
                      <a16:creationId xmlns:a16="http://schemas.microsoft.com/office/drawing/2014/main" id="{6BDFACC4-3C64-0C75-ED2B-DE4166A998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3840" y="2592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grpSp>
            <p:nvGrpSpPr>
              <p:cNvPr id="78877" name="Group 147">
                <a:extLst>
                  <a:ext uri="{FF2B5EF4-FFF2-40B4-BE49-F238E27FC236}">
                    <a16:creationId xmlns:a16="http://schemas.microsoft.com/office/drawing/2014/main" id="{5FE904BB-988D-EC75-418D-4AAFB20DCD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2506" y="1383"/>
                <a:ext cx="96" cy="192"/>
                <a:chOff x="3840" y="2496"/>
                <a:chExt cx="96" cy="192"/>
              </a:xfrm>
            </p:grpSpPr>
            <p:sp>
              <p:nvSpPr>
                <p:cNvPr id="78878" name="Arc 148">
                  <a:extLst>
                    <a:ext uri="{FF2B5EF4-FFF2-40B4-BE49-F238E27FC236}">
                      <a16:creationId xmlns:a16="http://schemas.microsoft.com/office/drawing/2014/main" id="{86B3071E-6ED1-C225-5336-7507A4AC15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840" y="2496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78879" name="Arc 149">
                  <a:extLst>
                    <a:ext uri="{FF2B5EF4-FFF2-40B4-BE49-F238E27FC236}">
                      <a16:creationId xmlns:a16="http://schemas.microsoft.com/office/drawing/2014/main" id="{B0FAC106-BB9F-4EED-8A43-FD040D3F38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3840" y="2592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-1"/>
                      </a:moveTo>
                      <a:cubicBezTo>
                        <a:pt x="11929" y="-1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</p:grpSp>
        <p:sp>
          <p:nvSpPr>
            <p:cNvPr id="78867" name="Line 150">
              <a:extLst>
                <a:ext uri="{FF2B5EF4-FFF2-40B4-BE49-F238E27FC236}">
                  <a16:creationId xmlns:a16="http://schemas.microsoft.com/office/drawing/2014/main" id="{13445CAC-D99D-56A1-9B1C-3887CEC75F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0" y="1200"/>
              <a:ext cx="1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8868" name="Line 151">
              <a:extLst>
                <a:ext uri="{FF2B5EF4-FFF2-40B4-BE49-F238E27FC236}">
                  <a16:creationId xmlns:a16="http://schemas.microsoft.com/office/drawing/2014/main" id="{B01F57A7-C3DD-C2C9-488B-BCF5799E98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0" y="1536"/>
              <a:ext cx="1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8869" name="Line 152">
              <a:extLst>
                <a:ext uri="{FF2B5EF4-FFF2-40B4-BE49-F238E27FC236}">
                  <a16:creationId xmlns:a16="http://schemas.microsoft.com/office/drawing/2014/main" id="{956FB0AA-A053-272F-25E5-44C158782F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0" y="1200"/>
              <a:ext cx="1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8870" name="Line 153">
              <a:extLst>
                <a:ext uri="{FF2B5EF4-FFF2-40B4-BE49-F238E27FC236}">
                  <a16:creationId xmlns:a16="http://schemas.microsoft.com/office/drawing/2014/main" id="{9B11A2FE-9221-4A9E-F999-4D345B9B69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0" y="1536"/>
              <a:ext cx="1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8871" name="Line 154">
              <a:extLst>
                <a:ext uri="{FF2B5EF4-FFF2-40B4-BE49-F238E27FC236}">
                  <a16:creationId xmlns:a16="http://schemas.microsoft.com/office/drawing/2014/main" id="{86B1C7C3-6D2A-3878-3C98-6419D20A2D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1200"/>
              <a:ext cx="0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8872" name="Line 155">
              <a:extLst>
                <a:ext uri="{FF2B5EF4-FFF2-40B4-BE49-F238E27FC236}">
                  <a16:creationId xmlns:a16="http://schemas.microsoft.com/office/drawing/2014/main" id="{551DFCE3-CF80-A693-3C53-8AA4F224F6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76" y="1344"/>
              <a:ext cx="9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8873" name="Line 156">
              <a:extLst>
                <a:ext uri="{FF2B5EF4-FFF2-40B4-BE49-F238E27FC236}">
                  <a16:creationId xmlns:a16="http://schemas.microsoft.com/office/drawing/2014/main" id="{9C29F8B1-6D24-E806-CF4A-2963615725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76" y="1392"/>
              <a:ext cx="9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8874" name="Line 157">
              <a:extLst>
                <a:ext uri="{FF2B5EF4-FFF2-40B4-BE49-F238E27FC236}">
                  <a16:creationId xmlns:a16="http://schemas.microsoft.com/office/drawing/2014/main" id="{668CACD9-F299-C638-BD8A-D8166E6F3F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1392"/>
              <a:ext cx="0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78859" name="Line 158">
            <a:extLst>
              <a:ext uri="{FF2B5EF4-FFF2-40B4-BE49-F238E27FC236}">
                <a16:creationId xmlns:a16="http://schemas.microsoft.com/office/drawing/2014/main" id="{EDE03DE1-14F7-39A9-A83A-261B1A5264D2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1447800"/>
            <a:ext cx="533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8860" name="Line 159">
            <a:extLst>
              <a:ext uri="{FF2B5EF4-FFF2-40B4-BE49-F238E27FC236}">
                <a16:creationId xmlns:a16="http://schemas.microsoft.com/office/drawing/2014/main" id="{F6A02180-783E-6D29-1872-E91F8519CDD5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1981200"/>
            <a:ext cx="533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78861" name="Text Box 160">
            <a:extLst>
              <a:ext uri="{FF2B5EF4-FFF2-40B4-BE49-F238E27FC236}">
                <a16:creationId xmlns:a16="http://schemas.microsoft.com/office/drawing/2014/main" id="{4BE1D6AE-6C3E-19DE-3230-8DC6E782E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5" y="1566863"/>
            <a:ext cx="349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solidFill>
                  <a:srgbClr val="000000"/>
                </a:solidFill>
              </a:rPr>
              <a:t>C</a:t>
            </a:r>
            <a:endParaRPr lang="en-US" altLang="en-US" sz="1800"/>
          </a:p>
        </p:txBody>
      </p:sp>
      <p:sp>
        <p:nvSpPr>
          <p:cNvPr id="78862" name="Text Box 161">
            <a:extLst>
              <a:ext uri="{FF2B5EF4-FFF2-40B4-BE49-F238E27FC236}">
                <a16:creationId xmlns:a16="http://schemas.microsoft.com/office/drawing/2014/main" id="{D3B6E5D5-5373-4DC2-40F8-B7037E4ADE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1524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solidFill>
                  <a:srgbClr val="000000"/>
                </a:solidFill>
              </a:rPr>
              <a:t>L</a:t>
            </a:r>
            <a:endParaRPr lang="en-US" altLang="en-US" sz="1800"/>
          </a:p>
        </p:txBody>
      </p:sp>
      <p:sp>
        <p:nvSpPr>
          <p:cNvPr id="78863" name="Text Box 162">
            <a:extLst>
              <a:ext uri="{FF2B5EF4-FFF2-40B4-BE49-F238E27FC236}">
                <a16:creationId xmlns:a16="http://schemas.microsoft.com/office/drawing/2014/main" id="{2008E77F-C9BF-AEDD-0150-720AD2227C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447800"/>
            <a:ext cx="679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solidFill>
                  <a:srgbClr val="000000"/>
                </a:solidFill>
              </a:rPr>
              <a:t>input</a:t>
            </a:r>
            <a:endParaRPr lang="en-US" altLang="en-US" sz="1800"/>
          </a:p>
        </p:txBody>
      </p:sp>
      <p:sp>
        <p:nvSpPr>
          <p:cNvPr id="78864" name="Text Box 163">
            <a:extLst>
              <a:ext uri="{FF2B5EF4-FFF2-40B4-BE49-F238E27FC236}">
                <a16:creationId xmlns:a16="http://schemas.microsoft.com/office/drawing/2014/main" id="{AF4C7428-13FC-D2E3-5547-8E0E241A25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1524000"/>
            <a:ext cx="819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>
                <a:solidFill>
                  <a:srgbClr val="000000"/>
                </a:solidFill>
              </a:rPr>
              <a:t>output</a:t>
            </a:r>
            <a:endParaRPr lang="en-US" altLang="en-US" sz="18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Date Placeholder 3">
            <a:extLst>
              <a:ext uri="{FF2B5EF4-FFF2-40B4-BE49-F238E27FC236}">
                <a16:creationId xmlns:a16="http://schemas.microsoft.com/office/drawing/2014/main" id="{160A261E-B56B-44AC-F3A4-7F2112B0038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Winter 2012</a:t>
            </a:r>
          </a:p>
        </p:txBody>
      </p:sp>
      <p:sp>
        <p:nvSpPr>
          <p:cNvPr id="80899" name="Footer Placeholder 4">
            <a:extLst>
              <a:ext uri="{FF2B5EF4-FFF2-40B4-BE49-F238E27FC236}">
                <a16:creationId xmlns:a16="http://schemas.microsoft.com/office/drawing/2014/main" id="{2EBE4D78-FD77-E47A-D47E-01001DF91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UCSD: Physics 121; 2012</a:t>
            </a:r>
          </a:p>
        </p:txBody>
      </p:sp>
      <p:sp>
        <p:nvSpPr>
          <p:cNvPr id="80900" name="Slide Number Placeholder 5">
            <a:extLst>
              <a:ext uri="{FF2B5EF4-FFF2-40B4-BE49-F238E27FC236}">
                <a16:creationId xmlns:a16="http://schemas.microsoft.com/office/drawing/2014/main" id="{66B97B1E-0C03-BBFB-2B5D-F3C9FA297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D3558E6-E95F-43F2-8397-CF346324FEEB}" type="slidenum">
              <a:rPr lang="en-US" altLang="en-US" sz="1400"/>
              <a:pPr/>
              <a:t>32</a:t>
            </a:fld>
            <a:endParaRPr lang="en-US" altLang="en-US" sz="1400"/>
          </a:p>
        </p:txBody>
      </p:sp>
      <p:sp>
        <p:nvSpPr>
          <p:cNvPr id="104450" name="Rectangle 2">
            <a:extLst>
              <a:ext uri="{FF2B5EF4-FFF2-40B4-BE49-F238E27FC236}">
                <a16:creationId xmlns:a16="http://schemas.microsoft.com/office/drawing/2014/main" id="{18543579-A5F5-F7A6-CCC4-BB239495DC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Typical Transmission Lines</a:t>
            </a:r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A940CBE0-9893-343A-9821-F038811D0B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RG58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coax is abundant</a:t>
            </a:r>
          </a:p>
          <a:p>
            <a:pPr lvl="1" eaLnBrk="1" hangingPunct="1"/>
            <a:r>
              <a:rPr lang="en-US" altLang="en-US"/>
              <a:t>30 pF per foot; 75 nH per foot; 50 </a:t>
            </a:r>
            <a:r>
              <a:rPr lang="en-US" altLang="en-US">
                <a:sym typeface="Symbol" panose="05050102010706020507" pitchFamily="18" charset="2"/>
              </a:rPr>
              <a:t>; </a:t>
            </a:r>
            <a:r>
              <a:rPr lang="en-US" altLang="en-US" i="1">
                <a:sym typeface="Symbol" panose="05050102010706020507" pitchFamily="18" charset="2"/>
              </a:rPr>
              <a:t>v</a:t>
            </a:r>
            <a:r>
              <a:rPr lang="en-US" altLang="en-US">
                <a:sym typeface="Symbol" panose="05050102010706020507" pitchFamily="18" charset="2"/>
              </a:rPr>
              <a:t> = 0.695</a:t>
            </a:r>
            <a:r>
              <a:rPr lang="en-US" altLang="en-US" i="1">
                <a:sym typeface="Symbol" panose="05050102010706020507" pitchFamily="18" charset="2"/>
              </a:rPr>
              <a:t>c</a:t>
            </a:r>
            <a:r>
              <a:rPr lang="en-US" altLang="en-US">
                <a:sym typeface="Symbol" panose="05050102010706020507" pitchFamily="18" charset="2"/>
              </a:rPr>
              <a:t>; ~5 ns/m</a:t>
            </a:r>
          </a:p>
          <a:p>
            <a:pPr eaLnBrk="1" hangingPunct="1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RG174 is the thin version</a:t>
            </a:r>
          </a:p>
          <a:p>
            <a:pPr lvl="1" eaLnBrk="1" hangingPunct="1"/>
            <a:r>
              <a:rPr lang="en-US" altLang="en-US"/>
              <a:t>same parameters as above, but scaled-down geometry</a:t>
            </a:r>
          </a:p>
          <a:p>
            <a:pPr eaLnBrk="1" hangingPunct="1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RG59</a:t>
            </a:r>
          </a:p>
          <a:p>
            <a:pPr lvl="1" eaLnBrk="1" hangingPunct="1"/>
            <a:r>
              <a:rPr lang="en-US" altLang="en-US"/>
              <a:t>used for video, cable TV</a:t>
            </a:r>
          </a:p>
          <a:p>
            <a:pPr lvl="1" eaLnBrk="1" hangingPunct="1"/>
            <a:r>
              <a:rPr lang="en-US" altLang="en-US"/>
              <a:t>21 pF/ft; 118 nH per foot; 75 </a:t>
            </a:r>
            <a:r>
              <a:rPr lang="en-US" altLang="en-US">
                <a:sym typeface="Symbol" panose="05050102010706020507" pitchFamily="18" charset="2"/>
              </a:rPr>
              <a:t>; </a:t>
            </a:r>
            <a:r>
              <a:rPr lang="en-US" altLang="en-US" i="1">
                <a:sym typeface="Symbol" panose="05050102010706020507" pitchFamily="18" charset="2"/>
              </a:rPr>
              <a:t>v</a:t>
            </a:r>
            <a:r>
              <a:rPr lang="en-US" altLang="en-US">
                <a:sym typeface="Symbol" panose="05050102010706020507" pitchFamily="18" charset="2"/>
              </a:rPr>
              <a:t> = 0.695</a:t>
            </a:r>
            <a:r>
              <a:rPr lang="en-US" altLang="en-US" i="1">
                <a:sym typeface="Symbol" panose="05050102010706020507" pitchFamily="18" charset="2"/>
              </a:rPr>
              <a:t>c</a:t>
            </a:r>
            <a:r>
              <a:rPr lang="en-US" altLang="en-US">
                <a:sym typeface="Symbol" panose="05050102010706020507" pitchFamily="18" charset="2"/>
              </a:rPr>
              <a:t>; ~5 ns/m</a:t>
            </a:r>
          </a:p>
          <a:p>
            <a:pPr eaLnBrk="1" hangingPunct="1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twisted pair</a:t>
            </a:r>
          </a:p>
          <a:p>
            <a:pPr lvl="1" eaLnBrk="1" hangingPunct="1"/>
            <a:r>
              <a:rPr lang="en-US" altLang="en-US"/>
              <a:t>110 </a:t>
            </a:r>
            <a:r>
              <a:rPr lang="en-US" altLang="en-US">
                <a:sym typeface="Symbol" panose="05050102010706020507" pitchFamily="18" charset="2"/>
              </a:rPr>
              <a:t> at 30 turns/ft, AWG 24–28</a:t>
            </a:r>
          </a:p>
          <a:p>
            <a:pPr eaLnBrk="1" hangingPunct="1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PCB (PC-board) trace</a:t>
            </a: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get 50  if the trace width is 1.84 times the separation from the ground plane (assuming fiberglass PCB with  = 4.5)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Date Placeholder 3">
            <a:extLst>
              <a:ext uri="{FF2B5EF4-FFF2-40B4-BE49-F238E27FC236}">
                <a16:creationId xmlns:a16="http://schemas.microsoft.com/office/drawing/2014/main" id="{87AD1A31-7B09-E10A-C2B9-6528D66F83A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Winter 2012</a:t>
            </a:r>
          </a:p>
        </p:txBody>
      </p:sp>
      <p:sp>
        <p:nvSpPr>
          <p:cNvPr id="82947" name="Footer Placeholder 4">
            <a:extLst>
              <a:ext uri="{FF2B5EF4-FFF2-40B4-BE49-F238E27FC236}">
                <a16:creationId xmlns:a16="http://schemas.microsoft.com/office/drawing/2014/main" id="{32B1A58A-11ED-5901-A6B5-86ACC56D0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UCSD: Physics 121; 2012</a:t>
            </a:r>
          </a:p>
        </p:txBody>
      </p:sp>
      <p:sp>
        <p:nvSpPr>
          <p:cNvPr id="82948" name="Slide Number Placeholder 5">
            <a:extLst>
              <a:ext uri="{FF2B5EF4-FFF2-40B4-BE49-F238E27FC236}">
                <a16:creationId xmlns:a16="http://schemas.microsoft.com/office/drawing/2014/main" id="{D8A5ED4F-C975-9711-147C-643B15862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682119A-888D-46B5-B832-9BC255D077C4}" type="slidenum">
              <a:rPr lang="en-US" altLang="en-US" sz="1400"/>
              <a:pPr/>
              <a:t>33</a:t>
            </a:fld>
            <a:endParaRPr lang="en-US" altLang="en-US" sz="1400"/>
          </a:p>
        </p:txBody>
      </p:sp>
      <p:sp>
        <p:nvSpPr>
          <p:cNvPr id="105474" name="Rectangle 2">
            <a:extLst>
              <a:ext uri="{FF2B5EF4-FFF2-40B4-BE49-F238E27FC236}">
                <a16:creationId xmlns:a16="http://schemas.microsoft.com/office/drawing/2014/main" id="{5C195C48-7ED3-8E65-DB0A-3964842EDB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Why impedance matters</a:t>
            </a:r>
          </a:p>
        </p:txBody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AA5A6AC7-AF75-B500-B334-937BD7C096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For fast signals, get bounces (reflections) at every impedance mismatch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reflection amplitude is </a:t>
            </a:r>
            <a:r>
              <a:rPr lang="en-US" altLang="en-US">
                <a:solidFill>
                  <a:schemeClr val="accent2"/>
                </a:solidFill>
              </a:rPr>
              <a:t>(</a:t>
            </a:r>
            <a:r>
              <a:rPr lang="en-US" altLang="en-US" i="1">
                <a:solidFill>
                  <a:schemeClr val="accent2"/>
                </a:solidFill>
              </a:rPr>
              <a:t>Z</a:t>
            </a:r>
            <a:r>
              <a:rPr lang="en-US" altLang="en-US" baseline="-25000">
                <a:solidFill>
                  <a:schemeClr val="accent2"/>
                </a:solidFill>
              </a:rPr>
              <a:t>t</a:t>
            </a:r>
            <a:r>
              <a:rPr lang="en-US" altLang="en-US">
                <a:solidFill>
                  <a:schemeClr val="accent2"/>
                </a:solidFill>
              </a:rPr>
              <a:t> </a:t>
            </a: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 </a:t>
            </a:r>
            <a:r>
              <a:rPr lang="en-US" altLang="en-US" i="1">
                <a:solidFill>
                  <a:schemeClr val="accent2"/>
                </a:solidFill>
                <a:sym typeface="Symbol" panose="05050102010706020507" pitchFamily="18" charset="2"/>
              </a:rPr>
              <a:t>Z</a:t>
            </a:r>
            <a:r>
              <a:rPr lang="en-US" altLang="en-US" baseline="-25000">
                <a:solidFill>
                  <a:schemeClr val="accent2"/>
                </a:solidFill>
                <a:sym typeface="Symbol" panose="05050102010706020507" pitchFamily="18" charset="2"/>
              </a:rPr>
              <a:t>s</a:t>
            </a: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)/(</a:t>
            </a:r>
            <a:r>
              <a:rPr lang="en-US" altLang="en-US" i="1">
                <a:solidFill>
                  <a:schemeClr val="accent2"/>
                </a:solidFill>
                <a:sym typeface="Symbol" panose="05050102010706020507" pitchFamily="18" charset="2"/>
              </a:rPr>
              <a:t>Z</a:t>
            </a:r>
            <a:r>
              <a:rPr lang="en-US" altLang="en-US" baseline="-25000">
                <a:solidFill>
                  <a:schemeClr val="accent2"/>
                </a:solidFill>
                <a:sym typeface="Symbol" panose="05050102010706020507" pitchFamily="18" charset="2"/>
              </a:rPr>
              <a:t>t</a:t>
            </a: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 + </a:t>
            </a:r>
            <a:r>
              <a:rPr lang="en-US" altLang="en-US" i="1">
                <a:solidFill>
                  <a:schemeClr val="accent2"/>
                </a:solidFill>
                <a:sym typeface="Symbol" panose="05050102010706020507" pitchFamily="18" charset="2"/>
              </a:rPr>
              <a:t>Z</a:t>
            </a:r>
            <a:r>
              <a:rPr lang="en-US" altLang="en-US" baseline="-25000">
                <a:solidFill>
                  <a:schemeClr val="accent2"/>
                </a:solidFill>
                <a:sym typeface="Symbol" panose="05050102010706020507" pitchFamily="18" charset="2"/>
              </a:rPr>
              <a:t>s</a:t>
            </a: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s and t subscripts represent source and termination impedances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sources intending to drive a </a:t>
            </a:r>
            <a:r>
              <a:rPr lang="en-US" altLang="en-US" i="1"/>
              <a:t>Z</a:t>
            </a:r>
            <a:r>
              <a:rPr lang="en-US" altLang="en-US" baseline="-25000"/>
              <a:t>0</a:t>
            </a:r>
            <a:r>
              <a:rPr lang="en-US" altLang="en-US"/>
              <a:t> cable have </a:t>
            </a:r>
            <a:r>
              <a:rPr lang="en-US" altLang="en-US" i="1"/>
              <a:t>Z</a:t>
            </a:r>
            <a:r>
              <a:rPr lang="en-US" altLang="en-US" baseline="-25000"/>
              <a:t>s</a:t>
            </a:r>
            <a:r>
              <a:rPr lang="en-US" altLang="en-US"/>
              <a:t> = </a:t>
            </a:r>
            <a:r>
              <a:rPr lang="en-US" altLang="en-US" i="1"/>
              <a:t>Z</a:t>
            </a:r>
            <a:r>
              <a:rPr lang="en-US" altLang="en-US" baseline="-25000"/>
              <a:t>0</a:t>
            </a: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Consider a long cable </a:t>
            </a:r>
            <a:r>
              <a:rPr lang="en-US" altLang="en-US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shorted 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at end: insert pulse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driving electronics can’t know about the termination immediately: must charge up cable as the pulse propagates forward, looking like </a:t>
            </a:r>
            <a:r>
              <a:rPr lang="en-US" altLang="en-US" i="1"/>
              <a:t>Z</a:t>
            </a:r>
            <a:r>
              <a:rPr lang="en-US" altLang="en-US" baseline="-25000"/>
              <a:t>0</a:t>
            </a:r>
            <a:r>
              <a:rPr lang="en-US" altLang="en-US"/>
              <a:t> of the cable at first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surprise at far end: it’s a short!  retreat!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in effect, negative pulse propagates back, nulling out capacitors (</a:t>
            </a:r>
            <a:r>
              <a:rPr lang="en-US" altLang="en-US">
                <a:solidFill>
                  <a:schemeClr val="accent2"/>
                </a:solidFill>
              </a:rPr>
              <a:t>reflection is </a:t>
            </a: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1</a:t>
            </a:r>
            <a:r>
              <a:rPr lang="en-US" altLang="en-US">
                <a:sym typeface="Symbol" panose="05050102010706020507" pitchFamily="18" charset="2"/>
              </a:rPr>
              <a:t>)</a:t>
            </a:r>
            <a:endParaRPr lang="en-US" altLang="en-US"/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one round-trip later (10 ns per meter, typically), the driving electronics feels the pain of the short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Date Placeholder 3">
            <a:extLst>
              <a:ext uri="{FF2B5EF4-FFF2-40B4-BE49-F238E27FC236}">
                <a16:creationId xmlns:a16="http://schemas.microsoft.com/office/drawing/2014/main" id="{69F10E0D-EF5A-E338-B027-4A7E14F25F0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Winter 2012</a:t>
            </a:r>
          </a:p>
        </p:txBody>
      </p:sp>
      <p:sp>
        <p:nvSpPr>
          <p:cNvPr id="84995" name="Footer Placeholder 4">
            <a:extLst>
              <a:ext uri="{FF2B5EF4-FFF2-40B4-BE49-F238E27FC236}">
                <a16:creationId xmlns:a16="http://schemas.microsoft.com/office/drawing/2014/main" id="{B92CDA3A-5A13-FF77-41F6-BFC704F61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UCSD: Physics 121; 2012</a:t>
            </a:r>
          </a:p>
        </p:txBody>
      </p:sp>
      <p:sp>
        <p:nvSpPr>
          <p:cNvPr id="84996" name="Slide Number Placeholder 5">
            <a:extLst>
              <a:ext uri="{FF2B5EF4-FFF2-40B4-BE49-F238E27FC236}">
                <a16:creationId xmlns:a16="http://schemas.microsoft.com/office/drawing/2014/main" id="{BB214E73-51B1-ADC7-D960-BD13EFD7B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AEF302E-DAE4-4968-BB4A-D8D2718C4FF6}" type="slidenum">
              <a:rPr lang="en-US" altLang="en-US" sz="1400"/>
              <a:pPr/>
              <a:t>34</a:t>
            </a:fld>
            <a:endParaRPr lang="en-US" altLang="en-US" sz="1400"/>
          </a:p>
        </p:txBody>
      </p:sp>
      <p:sp>
        <p:nvSpPr>
          <p:cNvPr id="106498" name="Rectangle 2">
            <a:extLst>
              <a:ext uri="{FF2B5EF4-FFF2-40B4-BE49-F238E27FC236}">
                <a16:creationId xmlns:a16="http://schemas.microsoft.com/office/drawing/2014/main" id="{E2F640D6-845C-1DCB-184A-1CC5E6BBE2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Impedance matters, continued</a:t>
            </a:r>
          </a:p>
        </p:txBody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80BCE048-9086-DFCC-4622-25041D4B48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Now other extreme: </a:t>
            </a:r>
            <a:r>
              <a:rPr lang="en-US" altLang="en-US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cable un-terminated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: open</a:t>
            </a:r>
          </a:p>
          <a:p>
            <a:pPr lvl="1" eaLnBrk="1" hangingPunct="1"/>
            <a:r>
              <a:rPr lang="en-US" altLang="en-US"/>
              <a:t>pulse travels merrily along at first, the driving electronics seeing a </a:t>
            </a:r>
            <a:r>
              <a:rPr lang="en-US" altLang="en-US" i="1"/>
              <a:t>Z</a:t>
            </a:r>
            <a:r>
              <a:rPr lang="en-US" altLang="en-US" baseline="-25000"/>
              <a:t>0</a:t>
            </a:r>
            <a:r>
              <a:rPr lang="en-US" altLang="en-US"/>
              <a:t> cable load</a:t>
            </a:r>
          </a:p>
          <a:p>
            <a:pPr lvl="1" eaLnBrk="1" hangingPunct="1"/>
            <a:r>
              <a:rPr lang="en-US" altLang="en-US"/>
              <a:t>at the end, the current has nowhere to go, but driver can’t know this yet, so keeps loading cable as if it’s still </a:t>
            </a:r>
            <a:r>
              <a:rPr lang="en-US" altLang="en-US" i="1"/>
              <a:t>Z</a:t>
            </a:r>
            <a:r>
              <a:rPr lang="en-US" altLang="en-US" baseline="-25000"/>
              <a:t>0</a:t>
            </a:r>
            <a:r>
              <a:rPr lang="en-US" altLang="en-US"/>
              <a:t> </a:t>
            </a:r>
          </a:p>
          <a:p>
            <a:pPr lvl="1" eaLnBrk="1" hangingPunct="1"/>
            <a:r>
              <a:rPr lang="en-US" altLang="en-US"/>
              <a:t>effectively, a positive pulse reflects back, double-charging capacitors (</a:t>
            </a:r>
            <a:r>
              <a:rPr lang="en-US" altLang="en-US">
                <a:solidFill>
                  <a:schemeClr val="accent2"/>
                </a:solidFill>
              </a:rPr>
              <a:t>reflection is +1</a:t>
            </a:r>
            <a:r>
              <a:rPr lang="en-US" altLang="en-US"/>
              <a:t>)</a:t>
            </a:r>
          </a:p>
          <a:p>
            <a:pPr lvl="1" eaLnBrk="1" hangingPunct="1"/>
            <a:r>
              <a:rPr lang="en-US" altLang="en-US"/>
              <a:t>driver gets word of this one round-trip later (10 ns/m, typically), then must cease to deliver current (cable fully charged)</a:t>
            </a:r>
          </a:p>
          <a:p>
            <a:pPr eaLnBrk="1" hangingPunct="1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The </a:t>
            </a:r>
            <a:r>
              <a:rPr lang="en-US" alt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goldilocks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case (</a:t>
            </a:r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reflection = 0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</a:p>
          <a:p>
            <a:pPr lvl="1" eaLnBrk="1" hangingPunct="1"/>
            <a:r>
              <a:rPr lang="en-US" altLang="en-US"/>
              <a:t>if the end of the cable is terminated with resistor with </a:t>
            </a:r>
            <a:r>
              <a:rPr lang="en-US" altLang="en-US" i="1"/>
              <a:t>R = Z</a:t>
            </a:r>
            <a:r>
              <a:rPr lang="en-US" altLang="en-US" baseline="-25000"/>
              <a:t>0</a:t>
            </a:r>
            <a:r>
              <a:rPr lang="en-US" altLang="en-US"/>
              <a:t>, then current is slurped up perfectly with no reflections</a:t>
            </a:r>
          </a:p>
          <a:p>
            <a:pPr lvl="1" eaLnBrk="1" hangingPunct="1"/>
            <a:r>
              <a:rPr lang="en-US" altLang="en-US"/>
              <a:t>the driver is not being lied to, and hears no complaints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Date Placeholder 3">
            <a:extLst>
              <a:ext uri="{FF2B5EF4-FFF2-40B4-BE49-F238E27FC236}">
                <a16:creationId xmlns:a16="http://schemas.microsoft.com/office/drawing/2014/main" id="{54E4408C-2988-16A0-C881-A516945C9A4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Winter 2012</a:t>
            </a:r>
          </a:p>
        </p:txBody>
      </p:sp>
      <p:sp>
        <p:nvSpPr>
          <p:cNvPr id="87043" name="Footer Placeholder 4">
            <a:extLst>
              <a:ext uri="{FF2B5EF4-FFF2-40B4-BE49-F238E27FC236}">
                <a16:creationId xmlns:a16="http://schemas.microsoft.com/office/drawing/2014/main" id="{D565D6CC-607A-933B-5DE7-25B6C3CB3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UCSD: Physics 121; 2012</a:t>
            </a:r>
          </a:p>
        </p:txBody>
      </p:sp>
      <p:sp>
        <p:nvSpPr>
          <p:cNvPr id="87044" name="Slide Number Placeholder 5">
            <a:extLst>
              <a:ext uri="{FF2B5EF4-FFF2-40B4-BE49-F238E27FC236}">
                <a16:creationId xmlns:a16="http://schemas.microsoft.com/office/drawing/2014/main" id="{C1CD2935-E8B0-B4F8-9523-EE3B65F2F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94E1FAD-B1F3-4B7F-A137-B039481AC019}" type="slidenum">
              <a:rPr lang="en-US" altLang="en-US" sz="1400"/>
              <a:pPr/>
              <a:t>35</a:t>
            </a:fld>
            <a:endParaRPr lang="en-US" altLang="en-US" sz="1400"/>
          </a:p>
        </p:txBody>
      </p:sp>
      <p:sp>
        <p:nvSpPr>
          <p:cNvPr id="107522" name="Rectangle 2">
            <a:extLst>
              <a:ext uri="{FF2B5EF4-FFF2-40B4-BE49-F238E27FC236}">
                <a16:creationId xmlns:a16="http://schemas.microsoft.com/office/drawing/2014/main" id="{E7CCEA89-39B4-5FFF-FC6F-803334E2F9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So Beware!</a:t>
            </a:r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B52AD494-18E2-8E3E-53C3-F1BC6209CE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If looking at </a:t>
            </a:r>
            <a:r>
              <a:rPr lang="en-US" altLang="en-US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fast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(tens of ns domain) signals on scope, be sure to route signal to scope via </a:t>
            </a:r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50 </a:t>
            </a:r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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 coax and </a:t>
            </a:r>
            <a:r>
              <a:rPr lang="en-US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terminate the scope in 50 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if the signal can’t drive 50 , then use active probes</a:t>
            </a:r>
          </a:p>
          <a:p>
            <a:pPr eaLnBrk="1" hangingPunct="1"/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sym typeface="Symbol" panose="05050102010706020507" pitchFamily="18" charset="2"/>
              </a:rPr>
              <a:t>Note that scope probes terminate to 1 M, even though the cables are NOT 1 M cables (no such thing)</a:t>
            </a: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so scope probes can be very misleading about shapes of fast signals</a:t>
            </a:r>
          </a:p>
        </p:txBody>
      </p:sp>
      <p:pic>
        <p:nvPicPr>
          <p:cNvPr id="87047" name="Picture 4" descr="refl">
            <a:extLst>
              <a:ext uri="{FF2B5EF4-FFF2-40B4-BE49-F238E27FC236}">
                <a16:creationId xmlns:a16="http://schemas.microsoft.com/office/drawing/2014/main" id="{8518C2F6-95BE-E344-43B6-7E415B009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4235450"/>
            <a:ext cx="2573338" cy="216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Date Placeholder 3">
            <a:extLst>
              <a:ext uri="{FF2B5EF4-FFF2-40B4-BE49-F238E27FC236}">
                <a16:creationId xmlns:a16="http://schemas.microsoft.com/office/drawing/2014/main" id="{093278E7-02C3-432C-D852-FA3EFD00F4E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Winter 2012</a:t>
            </a:r>
          </a:p>
        </p:txBody>
      </p:sp>
      <p:sp>
        <p:nvSpPr>
          <p:cNvPr id="89091" name="Footer Placeholder 4">
            <a:extLst>
              <a:ext uri="{FF2B5EF4-FFF2-40B4-BE49-F238E27FC236}">
                <a16:creationId xmlns:a16="http://schemas.microsoft.com/office/drawing/2014/main" id="{00B7C093-CF05-C319-F22B-041DDC008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UCSD: Physics 121; 2012</a:t>
            </a:r>
          </a:p>
        </p:txBody>
      </p:sp>
      <p:sp>
        <p:nvSpPr>
          <p:cNvPr id="89092" name="Slide Number Placeholder 5">
            <a:extLst>
              <a:ext uri="{FF2B5EF4-FFF2-40B4-BE49-F238E27FC236}">
                <a16:creationId xmlns:a16="http://schemas.microsoft.com/office/drawing/2014/main" id="{1C40A94A-9CC5-FAC0-10DA-81D64EA84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158DE1E-B93D-4DFA-9E44-42472FD98AF0}" type="slidenum">
              <a:rPr lang="en-US" altLang="en-US" sz="1400"/>
              <a:pPr/>
              <a:t>36</a:t>
            </a:fld>
            <a:endParaRPr lang="en-US" altLang="en-US" sz="1400"/>
          </a:p>
        </p:txBody>
      </p:sp>
      <p:sp>
        <p:nvSpPr>
          <p:cNvPr id="99330" name="Rectangle 2">
            <a:extLst>
              <a:ext uri="{FF2B5EF4-FFF2-40B4-BE49-F238E27FC236}">
                <a16:creationId xmlns:a16="http://schemas.microsoft.com/office/drawing/2014/main" id="{EED7E51A-39D2-3A22-FE89-DC375E6CBD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References and Assignment</a:t>
            </a:r>
          </a:p>
        </p:txBody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5DC0C3EC-416D-32B8-1026-067C48E185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References:</a:t>
            </a:r>
          </a:p>
          <a:p>
            <a:pPr lvl="1" eaLnBrk="1" hangingPunct="1">
              <a:defRPr/>
            </a:pPr>
            <a:r>
              <a:rPr lang="en-US"/>
              <a:t>The canonical electronics reference is Horowitz and Hill: </a:t>
            </a:r>
            <a:r>
              <a:rPr lang="en-US" i="1"/>
              <a:t>The Art of Electronics</a:t>
            </a:r>
            <a:endParaRPr lang="en-US"/>
          </a:p>
          <a:p>
            <a:pPr lvl="1" eaLnBrk="1" hangingPunct="1">
              <a:defRPr/>
            </a:pPr>
            <a:r>
              <a:rPr lang="en-US"/>
              <a:t>Also the accompanying lab manual by Hayes and Horowitz is highly valuable (far more practically-oriented)</a:t>
            </a:r>
          </a:p>
          <a:p>
            <a:pPr lvl="1" eaLnBrk="1" hangingPunct="1">
              <a:defRPr/>
            </a:pPr>
            <a:r>
              <a:rPr lang="en-US"/>
              <a:t>And of course: Electronics for Dogs (just ask Gromit)</a:t>
            </a:r>
          </a:p>
          <a:p>
            <a:pPr eaLnBrk="1" hangingPunct="1">
              <a:defRPr/>
            </a:pPr>
            <a:r>
              <a:rPr lang="en-US"/>
              <a:t>Reading</a:t>
            </a:r>
          </a:p>
          <a:p>
            <a:pPr lvl="1" eaLnBrk="1" hangingPunct="1">
              <a:defRPr/>
            </a:pPr>
            <a:r>
              <a:rPr lang="en-US"/>
              <a:t>Sections 6.1.1, 6.1.2</a:t>
            </a:r>
          </a:p>
          <a:p>
            <a:pPr lvl="1" eaLnBrk="1" hangingPunct="1">
              <a:defRPr/>
            </a:pPr>
            <a:r>
              <a:rPr lang="en-US"/>
              <a:t>Skim 6.2.2, 6.2.3, 6.2.4</a:t>
            </a:r>
          </a:p>
          <a:p>
            <a:pPr lvl="1" eaLnBrk="1" hangingPunct="1">
              <a:defRPr/>
            </a:pPr>
            <a:r>
              <a:rPr lang="en-US"/>
              <a:t>Sections 6.3.1, 6.5.1, 6.5.2</a:t>
            </a:r>
          </a:p>
          <a:p>
            <a:pPr lvl="1" eaLnBrk="1" hangingPunct="1">
              <a:defRPr/>
            </a:pPr>
            <a:r>
              <a:rPr lang="en-US"/>
              <a:t>Skim 6.3.2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">
      <a:dk1>
        <a:srgbClr val="1B28F6"/>
      </a:dk1>
      <a:lt1>
        <a:srgbClr val="FFFFD9"/>
      </a:lt1>
      <a:dk2>
        <a:srgbClr val="8C20F2"/>
      </a:dk2>
      <a:lt2>
        <a:srgbClr val="535BAB"/>
      </a:lt2>
      <a:accent1>
        <a:srgbClr val="FFFFF7"/>
      </a:accent1>
      <a:accent2>
        <a:srgbClr val="0B871F"/>
      </a:accent2>
      <a:accent3>
        <a:srgbClr val="FFFFE9"/>
      </a:accent3>
      <a:accent4>
        <a:srgbClr val="1521D2"/>
      </a:accent4>
      <a:accent5>
        <a:srgbClr val="FFFFFA"/>
      </a:accent5>
      <a:accent6>
        <a:srgbClr val="097A1B"/>
      </a:accent6>
      <a:hlink>
        <a:srgbClr val="FF2C2C"/>
      </a:hlink>
      <a:folHlink>
        <a:srgbClr val="FF9900"/>
      </a:folHlink>
    </a:clrScheme>
    <a:fontScheme name="Blank Presentation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  <a:cs typeface="ＭＳ Ｐゴシック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3">
        <a:dk1>
          <a:srgbClr val="2763F6"/>
        </a:dk1>
        <a:lt1>
          <a:srgbClr val="FFFFD9"/>
        </a:lt1>
        <a:dk2>
          <a:srgbClr val="8C20F2"/>
        </a:dk2>
        <a:lt2>
          <a:srgbClr val="535BAB"/>
        </a:lt2>
        <a:accent1>
          <a:srgbClr val="FFFFF7"/>
        </a:accent1>
        <a:accent2>
          <a:srgbClr val="17CC71"/>
        </a:accent2>
        <a:accent3>
          <a:srgbClr val="FFFFE9"/>
        </a:accent3>
        <a:accent4>
          <a:srgbClr val="2053D2"/>
        </a:accent4>
        <a:accent5>
          <a:srgbClr val="FFFFFA"/>
        </a:accent5>
        <a:accent6>
          <a:srgbClr val="14B966"/>
        </a:accent6>
        <a:hlink>
          <a:srgbClr val="FF2C2C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28423</TotalTime>
  <Words>3863</Words>
  <Application>Microsoft Office PowerPoint</Application>
  <PresentationFormat>On-screen Show (4:3)</PresentationFormat>
  <Paragraphs>663</Paragraphs>
  <Slides>36</Slides>
  <Notes>36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ＭＳ Ｐゴシック</vt:lpstr>
      <vt:lpstr>Symbol</vt:lpstr>
      <vt:lpstr>Mistral</vt:lpstr>
      <vt:lpstr>Blank Presentation</vt:lpstr>
      <vt:lpstr>Microsoft Equation</vt:lpstr>
      <vt:lpstr>Electronics Overview</vt:lpstr>
      <vt:lpstr>Basic Circuit Analysis</vt:lpstr>
      <vt:lpstr>The Basic Relations</vt:lpstr>
      <vt:lpstr>Example: Voltage divider</vt:lpstr>
      <vt:lpstr>Real Batteries: Output Impedance</vt:lpstr>
      <vt:lpstr>Power Supplies and Regulation</vt:lpstr>
      <vt:lpstr>Diodes</vt:lpstr>
      <vt:lpstr>Diode Makeup</vt:lpstr>
      <vt:lpstr>LEDs: Light-Emitting Diodes</vt:lpstr>
      <vt:lpstr>Getting DC back out of AC</vt:lpstr>
      <vt:lpstr>Doing Better: Full-wave Diode Bridge</vt:lpstr>
      <vt:lpstr>Full-Wave Dual-Supply</vt:lpstr>
      <vt:lpstr>Smoothing out the Bumps</vt:lpstr>
      <vt:lpstr>How smooth is smooth?</vt:lpstr>
      <vt:lpstr>Regulating the Voltage</vt:lpstr>
      <vt:lpstr>The Zener Regulator</vt:lpstr>
      <vt:lpstr>Voltage Regulator IC</vt:lpstr>
      <vt:lpstr>Voltage Regulators</vt:lpstr>
      <vt:lpstr>Transistors</vt:lpstr>
      <vt:lpstr>BJT Amplifier Mode</vt:lpstr>
      <vt:lpstr>Switching: Driving to Saturation</vt:lpstr>
      <vt:lpstr>Transistor Buffer</vt:lpstr>
      <vt:lpstr>Improved Zener Regulator</vt:lpstr>
      <vt:lpstr>Switching Power Supplies</vt:lpstr>
      <vt:lpstr>Switcher topologies</vt:lpstr>
      <vt:lpstr>Step-Down Calculations</vt:lpstr>
      <vt:lpstr>Step-down waveforms</vt:lpstr>
      <vt:lpstr>Cable Impedances</vt:lpstr>
      <vt:lpstr>Impedances, cont.</vt:lpstr>
      <vt:lpstr>Impedance Phasor Diagram</vt:lpstr>
      <vt:lpstr>Transmission Line Model</vt:lpstr>
      <vt:lpstr>Typical Transmission Lines</vt:lpstr>
      <vt:lpstr>Why impedance matters</vt:lpstr>
      <vt:lpstr>Impedance matters, continued</vt:lpstr>
      <vt:lpstr>_x000c_So Beware!</vt:lpstr>
      <vt:lpstr>References and Assignment</vt:lpstr>
    </vt:vector>
  </TitlesOfParts>
  <Company>Physics UCSD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Physics UCSD</dc:creator>
  <cp:lastModifiedBy>Eugene Kristo</cp:lastModifiedBy>
  <cp:revision>151</cp:revision>
  <cp:lastPrinted>2011-02-08T19:27:59Z</cp:lastPrinted>
  <dcterms:created xsi:type="dcterms:W3CDTF">2011-02-08T19:08:16Z</dcterms:created>
  <dcterms:modified xsi:type="dcterms:W3CDTF">2026-05-10T20:28:18Z</dcterms:modified>
</cp:coreProperties>
</file>